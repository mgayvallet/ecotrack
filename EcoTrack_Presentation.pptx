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Postes</c:v>
                </c:pt>
              </c:strCache>
            </c:strRef>
          </c:tx>
          <c:spPr>
            <a:solidFill>
              <a:schemeClr val="accent1"/>
            </a:solidFill>
            <a:ln w="9525" cap="flat">
              <a:solidFill>
                <a:srgbClr val="F9F9F9"/>
              </a:solidFill>
              <a:prstDash val="solid"/>
              <a:round/>
            </a:ln>
            <a:effectLst/>
          </c:spPr>
          <c:dPt>
            <c:idx val="0"/>
            <c:bubble3D val="0"/>
            <c:spPr>
              <a:solidFill>
                <a:srgbClr val="007040"/>
              </a:solidFill>
              <a:effectLst/>
            </c:spPr>
          </c:dPt>
          <c:dPt>
            <c:idx val="1"/>
            <c:bubble3D val="0"/>
            <c:spPr>
              <a:solidFill>
                <a:srgbClr val="1FAF6A"/>
              </a:solidFill>
              <a:effectLst/>
            </c:spPr>
          </c:dPt>
          <c:dPt>
            <c:idx val="2"/>
            <c:bubble3D val="0"/>
            <c:spPr>
              <a:solidFill>
                <a:srgbClr val="5BC48E"/>
              </a:solidFill>
              <a:effectLst/>
            </c:spPr>
          </c:dPt>
          <c:dPt>
            <c:idx val="3"/>
            <c:bubble3D val="0"/>
            <c:spPr>
              <a:solidFill>
                <a:srgbClr val="9CD9B8"/>
              </a:solidFill>
              <a:effectLst/>
            </c:spPr>
          </c:dPt>
          <c:dLbls>
            <c:dLbl>
              <c:idx val="0"/>
              <c:numFmt formatCode="General" sourceLinked="0"/>
              <c:spPr/>
              <c:txPr>
                <a:bodyPr/>
                <a:lstStyle/>
                <a:p>
                  <a:pPr>
                    <a:defRPr sz="1200" b="0" i="0" u="none" strike="noStrike">
                      <a:solidFill>
                        <a:srgbClr val="FFFFFF"/>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FFFFFF"/>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FFFFFF"/>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FFFFFF"/>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Transport ~24%</c:v>
                </c:pt>
                <c:pt idx="1">
                  <c:v>Alimentation ~23%</c:v>
                </c:pt>
                <c:pt idx="2">
                  <c:v>Logement ~21%</c:v>
                </c:pt>
                <c:pt idx="3">
                  <c:v>Biens &amp; numérique ~32%</c:v>
                </c:pt>
              </c:strCache>
            </c:strRef>
          </c:cat>
          <c:val>
            <c:numRef>
              <c:f>Sheet1!$B$2:$B$5</c:f>
              <c:numCache>
                <c:ptCount val="4"/>
                <c:pt idx="0">
                  <c:v>24</c:v>
                </c:pt>
                <c:pt idx="1">
                  <c:v>23</c:v>
                </c:pt>
                <c:pt idx="2">
                  <c:v>21</c:v>
                </c:pt>
                <c:pt idx="3">
                  <c:v>32</c:v>
                </c:pt>
              </c:numCache>
            </c:numRef>
          </c:val>
        </c:ser>
        <c:firstSliceAng val="0"/>
        <c:holeSize val="58"/>
      </c:doughnutChart>
      <c:spPr>
        <a:noFill/>
        <a:ln>
          <a:noFill/>
        </a:ln>
        <a:effectLst/>
      </c:spPr>
    </c:plotArea>
    <c:legend>
      <c:legendPos val="r"/>
      <c:overlay val="0"/>
      <c:txPr>
        <a:bodyPr/>
        <a:lstStyle/>
        <a:p>
          <a:pPr>
            <a:defRPr sz="1100">
              <a:solidFill>
                <a:srgbClr val="1A1A1A"/>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Marché</c:v>
                </c:pt>
              </c:strCache>
            </c:strRef>
          </c:tx>
          <c:spPr>
            <a:solidFill>
              <a:srgbClr val="008A48"/>
            </a:solidFill>
            <a:effectLst/>
          </c:spPr>
          <c:invertIfNegative val="0"/>
          <c:dLbls>
            <c:numFmt formatCode="0.0" sourceLinked="0"/>
            <c:txPr>
              <a:bodyPr/>
              <a:lstStyle/>
              <a:p>
                <a:pPr>
                  <a:defRPr b="1" i="0" strike="noStrike" sz="1200" u="none">
                    <a:solidFill>
                      <a:srgbClr val="1A1A1A"/>
                    </a:solidFill>
                    <a:latin typeface="Calibri"/>
                  </a:defRPr>
                </a:pPr>
              </a:p>
            </c:txPr>
            <c:showLegendKey val="0"/>
            <c:showVal val="1"/>
            <c:showCatName val="0"/>
            <c:showSerName val="0"/>
            <c:showPercent val="0"/>
            <c:showBubbleSize val="0"/>
            <c:showLeaderLines val="0"/>
          </c:dLbls>
          <c:cat>
            <c:multiLvlStrRef>
              <c:f>Sheet1!$A$2:$A$4</c:f>
              <c:multiLvlStrCache>
                <c:ptCount val="3"/>
                <c:lvl>
                  <c:pt idx="0">
                    <c:v>2025</c:v>
                  </c:pt>
                  <c:pt idx="1">
                    <c:v>2030 (est.)</c:v>
                  </c:pt>
                  <c:pt idx="2">
                    <c:v>2035</c:v>
                  </c:pt>
                </c:lvl>
              </c:multiLvlStrCache>
            </c:multiLvlStrRef>
          </c:cat>
          <c:val>
            <c:numRef>
              <c:f>Sheet1!$B$2:$B$4</c:f>
              <c:numCache>
                <c:formatCode>General</c:formatCode>
                <c:ptCount val="3"/>
                <c:pt idx="0">
                  <c:v>1.4</c:v>
                </c:pt>
                <c:pt idx="1">
                  <c:v>3.4</c:v>
                </c:pt>
                <c:pt idx="2">
                  <c:v>6.8</c:v>
                </c:pt>
              </c:numCache>
            </c:numRef>
          </c:val>
        </c:ser>
        <c:dLbls>
          <c:numFmt formatCode="0.0" sourceLinked="0"/>
          <c:txPr>
            <a:bodyPr/>
            <a:lstStyle/>
            <a:p>
              <a:pPr>
                <a:defRPr b="1" i="0" strike="noStrike" sz="1200" u="none">
                  <a:solidFill>
                    <a:srgbClr val="1A1A1A"/>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6F6A"/>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[0:00-0:45] Accroche. Bonjour, nous vous presentons EcoTrack, notre projet fil rouge : une application web qui aide les particuliers a mesurer puis reduire leur empreinte carbone grace a des defis quotidiens. Nous sommes 4 : Mathieu, Noah, Luca et Nael. Notre promesse tient en trois mots : Mesurer, Comprendre, Reduire. Voici le deroule.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[0:45-1:15] Plan. Huit parties : le probleme et le contexte chiffre, nos utilisateurs, puis TOUT ce que nous avons construit (fonctionnalites, design, technique), et enfin l'organisation et le modele economique. &gt;&gt; Minutage cible : ~18 min de contenu + 3 a 5 min de demo en direct = 15 a 20 min selon le rythme. &lt;&lt;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[1:15-2:30] Le projet. Constat : beaucoup veulent agir mais n'ont pas d'outil concret pour mesurer leurs emissions ni suivre leurs progres ; sans retour visible ni motivation, l'intention ne devient pas une habitude, et les discours anxiogenes decouragent. Notre reponse : rendre l'impact carbone lisible, personnalise et actionnable - une mesure claire par poste, des defis quotidiens adaptes au profil, et une mecanique de jeu avec des points. Cible : 18-35 ans a l'aise avec le numerique ; cible secondaire : entreprises (RSE).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[2:30-3:45] Contexte chiffre. Un Francais emet environ 8,2 tonnes de CO2 par an, alors que l'Accord de Paris vise ~2 tonnes en 2050 : il faut diviser par 4. L'essentiel se joue sur quelques postes du quotidien : transport ~24%, alimentation ~23%, logement ~21%, biens &amp; numerique ~32% - exactement les 4 categories que mesure EcoTrack. Sources : Insee et SDES, 2024-2025.</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[3:45-5:00] Marche &amp; levier. Marche porteur : les apps de suivi carbone passent d'environ 1,4 Md$ (2025) a ~6,8 Md$ (2035), soit +15%/an ; le segment logiciel croit de ~20%/an. La demande est la : plus de 80% des consommateurs attendent un engagement environnemental. Notre pari : associer mesure et jeu, car la gamification augmente nettement l'adoption de bons comportements (Nature, 2023). Positionnement grand public, pas le reporting reglementaire.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[5:00-6:15] Personas. On a concu l'appli pour des profils reels. Lea, 24 ans, dominante numerique : veut des reperes simples, etre encouragee sans culpabiliser. Maxime, 30 ans, navetteur, dominante transport : c'est le jeu et le suivi des points qui l'accrochent. Camille, 36 ans, responsable RSE : notre cible entreprise secondaire, avec defis collectifs et indicateurs d'engagement.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[6:15-7:45] Fonctionnalites. Voici ce que nous avons reellement construit : 6 fonctionnalites, toutes operationnelles dans le MVP. Le calculateur multi-categories. Le coeur du produit : 3 defis personnalises/jour selon le poste le plus emetteur, avec difficulte, points et CO2 economise. Le suivi avec validation unique/jour (doublons bloques en base). Un tableau de bord points &amp; defis. L'authentification complete avec reset du mot de passe par email. Et le mode clair/sombre.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[7:45-9:00] Mecanique + DEMO. Le calcul en 3 etapes : questionnaire sur 4 categories ; conversion en CO2 (total annuel + detail par poste) ; le poste le plus emetteur determine les defis des jours suivants. &gt;&gt;&gt; DEMONSTRATION EN DIRECT ICI (3 a 5 min) : montrer le questionnaire, le resultat chiffre par poste, puis la validation d'un defi du jour et la mise a jour des points. C'est le meilleur moment pour faire vivre le produit et tenir les 20 minutes. &lt;&lt;&lt;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[9:00-10:00] Perimetre MVP. Choix clairs : le MVP couvre authentification, calculateur, defis personnalises + validation, tableau de bord et mode clair/sombre. On a volontairement reporte le social (badges, classements), l'historique detaille, l'espace entreprise/RSE et l'app mobile native, pour livrer vite sans se disperser.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[10:00-11:00] Conception. Avant de coder : une charte graphique (vert signature, menthe, fond clair, mode clair/sombre complet) et des ecrans maquettes sur Figma - wireframes puis haute-fidelite - sous la responsabilite du Product owner/designer. Cela a permis de developper sans hesiter sur l'UI.</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[11:00-12:30] Architecture. Stack maitrisee, sans framework externe : PHP 8.3 en MVC maison, MySQL 8.4 via PDO, front HTML/CSS/JS vanilla, emails PHPMailer (SMTP), tests PHPUnit, Composer en PSR-4. Organisation du code : point d'entree unique public/index.php, routeur dedie, logique repartie entre Controllers, Models et Views, plus un dossier de tests. Cela montre la maitrise des fondamentaux.</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[12:30-13:45] Modele de donnees. 9 tables : comptes, empreintes calculees, questionnaire, catalogue de defis (difficultes, types) et surtout les defis completes. Point cle : une contrainte d'unicite utilisateur/defi/jour empeche de valider deux fois le meme defi le meme jour. Catalogue pre-charge de 24 defis (4 categories x 3 niveaux x 2).</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[13:45-15:00] Logique metier. Deux briques. Le calcul : reponses ponderees converties en CO2, avec un total et 4 sous-totaux par poste qui alimentent le tableau de bord. L'attribution : le systeme repere le poste le plus emetteur, propose les defis du bon type, garantit l'unicite en base, et chaque validation rapporte des points et un CO2 economise estime. C'est la que se joue la personnalisation.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[15:00-16:15] Organisation &amp; methode. Roles clairs : Mathieu (dev / BDD), Noah (Scrum master / dev), Luca (Product owner / designer / dev), Nael (dev). Travail en agile : cycles courts, suivi des taches sur Jira, points d'avancement reguliers, documentation continue, perimetre tenu au MVP. Succes suivi via 4 indicateurs : inscrits &amp; actifs, defis completes, CO2 cumule, retention quotidienne.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[16:15-17:15] Modele economique. Au lancement : gratuit, finance par Google AdSense, simple a integrer pour un service grand public. A mesure que l'audience grandit, 3 pistes : offre premium sans pub avec stats avancees, espace entreprise/RSE pour animer des defis collectifs, et partenariats avec des acteurs de la transition ecologique.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[17:15-18:15] Conclusion. Bilan : un MVP fonctionnel sur des bases techniques solides. Prochaines etapes : social, historique, espace RSE, app mobile. EcoTrack, c'est transformer de bonnes intentions en habitudes durables, un defi a la fois : Mesurer, Comprendre, Reduire. Merci de votre attention - nous sommes prets a repondre a vos questions. (Si la demo n'a pas ete faite avant, possibilite de la montrer ici.)</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4.png"/><Relationship Id="rId6" Type="http://schemas.openxmlformats.org/officeDocument/2006/relationships/image" Target="../media/image-3-4.png"/><Relationship Id="rId7" Type="http://schemas.openxmlformats.org/officeDocument/2006/relationships/image" Target="../media/image-3-4.png"/><Relationship Id="rId8" Type="http://schemas.openxmlformats.org/officeDocument/2006/relationships/image" Target="../media/image-3-8.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image" Target="../media/image-4-1.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2.png"/><Relationship Id="rId5" Type="http://schemas.openxmlformats.org/officeDocument/2006/relationships/image" Target="../media/image-6-5.png"/><Relationship Id="rId6" Type="http://schemas.openxmlformats.org/officeDocument/2006/relationships/image" Target="../media/image-6-2.png"/><Relationship Id="rId7" Type="http://schemas.openxmlformats.org/officeDocument/2006/relationships/image" Target="../media/image-6-7.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2.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slideLayout" Target="../slideLayouts/slideLayout1.xml"/><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2.png"/><Relationship Id="rId4" Type="http://schemas.openxmlformats.org/officeDocument/2006/relationships/image" Target="../media/image-9-2.png"/><Relationship Id="rId5" Type="http://schemas.openxmlformats.org/officeDocument/2006/relationships/image" Target="../media/image-9-2.png"/><Relationship Id="rId6" Type="http://schemas.openxmlformats.org/officeDocument/2006/relationships/image" Target="../media/image-9-2.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8.png"/><Relationship Id="rId10" Type="http://schemas.openxmlformats.org/officeDocument/2006/relationships/image" Target="../media/image-9-8.png"/><Relationship Id="rId11" Type="http://schemas.openxmlformats.org/officeDocument/2006/relationships/image" Target="../media/image-9-8.png"/><Relationship Id="rId12" Type="http://schemas.openxmlformats.org/officeDocument/2006/relationships/image" Target="../media/image-9-8.png"/><Relationship Id="rId13" Type="http://schemas.openxmlformats.org/officeDocument/2006/relationships/image" Target="../media/image-9-13.png"/><Relationship Id="rId14" Type="http://schemas.openxmlformats.org/officeDocument/2006/relationships/slideLayout" Target="../slideLayouts/slideLayout1.xml"/><Relationship Id="rId1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1.png"/><Relationship Id="rId3" Type="http://schemas.openxmlformats.org/officeDocument/2006/relationships/image" Target="../media/image-12-1.png"/><Relationship Id="rId4" Type="http://schemas.openxmlformats.org/officeDocument/2006/relationships/image" Target="../media/image-12-1.png"/><Relationship Id="rId5" Type="http://schemas.openxmlformats.org/officeDocument/2006/relationships/image" Target="../media/image-12-1.png"/><Relationship Id="rId6" Type="http://schemas.openxmlformats.org/officeDocument/2006/relationships/image" Target="../media/image-12-1.png"/><Relationship Id="rId7" Type="http://schemas.openxmlformats.org/officeDocument/2006/relationships/image" Target="../media/image-12-1.png"/><Relationship Id="rId8" Type="http://schemas.openxmlformats.org/officeDocument/2006/relationships/image" Target="../media/image-12-1.png"/><Relationship Id="rId9" Type="http://schemas.openxmlformats.org/officeDocument/2006/relationships/image" Target="../media/image-12-1.png"/><Relationship Id="rId10" Type="http://schemas.openxmlformats.org/officeDocument/2006/relationships/image" Target="../media/image-12-10.png"/><Relationship Id="rId11" Type="http://schemas.openxmlformats.org/officeDocument/2006/relationships/image" Target="../media/image-12-10.png"/><Relationship Id="rId12" Type="http://schemas.openxmlformats.org/officeDocument/2006/relationships/slideLayout" Target="../slideLayouts/slideLayout1.xml"/><Relationship Id="rId1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1.png"/><Relationship Id="rId3" Type="http://schemas.openxmlformats.org/officeDocument/2006/relationships/image" Target="../media/image-14-1.png"/><Relationship Id="rId4" Type="http://schemas.openxmlformats.org/officeDocument/2006/relationships/image" Target="../media/image-14-1.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1.png"/><Relationship Id="rId3" Type="http://schemas.openxmlformats.org/officeDocument/2006/relationships/image" Target="../media/image-16-1.png"/><Relationship Id="rId4" Type="http://schemas.openxmlformats.org/officeDocument/2006/relationships/image" Target="../media/image-16-1.png"/><Relationship Id="rId5" Type="http://schemas.openxmlformats.org/officeDocument/2006/relationships/image" Target="../media/image-16-5.png"/><Relationship Id="rId6" Type="http://schemas.openxmlformats.org/officeDocument/2006/relationships/slideLayout" Target="../slideLayouts/slideLayout1.xml"/><Relationship Id="rId7"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402A"/>
        </a:solidFill>
      </p:bgPr>
    </p:bg>
    <p:spTree>
      <p:nvGrpSpPr>
        <p:cNvPr id="1" name=""/>
        <p:cNvGrpSpPr/>
        <p:nvPr/>
      </p:nvGrpSpPr>
      <p:grpSpPr>
        <a:xfrm>
          <a:off x="0" y="0"/>
          <a:ext cx="0" cy="0"/>
          <a:chOff x="0" y="0"/>
          <a:chExt cx="0" cy="0"/>
        </a:xfrm>
      </p:grpSpPr>
      <p:sp>
        <p:nvSpPr>
          <p:cNvPr id="2" name="Shape 0"/>
          <p:cNvSpPr/>
          <p:nvPr/>
        </p:nvSpPr>
        <p:spPr>
          <a:xfrm>
            <a:off x="9418320" y="-2011680"/>
            <a:ext cx="5120640" cy="5120640"/>
          </a:xfrm>
          <a:prstGeom prst="ellipse">
            <a:avLst/>
          </a:prstGeom>
          <a:solidFill>
            <a:srgbClr val="0A4F34">
              <a:alpha val="65000"/>
            </a:srgbClr>
          </a:solidFill>
          <a:ln/>
        </p:spPr>
      </p:sp>
      <p:sp>
        <p:nvSpPr>
          <p:cNvPr id="3" name="Shape 1"/>
          <p:cNvSpPr/>
          <p:nvPr/>
        </p:nvSpPr>
        <p:spPr>
          <a:xfrm>
            <a:off x="-1463040" y="4206240"/>
            <a:ext cx="4206240" cy="4206240"/>
          </a:xfrm>
          <a:prstGeom prst="ellipse">
            <a:avLst/>
          </a:prstGeom>
          <a:solidFill>
            <a:srgbClr val="0A4F34">
              <a:alpha val="55000"/>
            </a:srgbClr>
          </a:solidFill>
          <a:ln/>
        </p:spPr>
      </p:sp>
      <p:sp>
        <p:nvSpPr>
          <p:cNvPr id="4" name="Shape 2"/>
          <p:cNvSpPr/>
          <p:nvPr/>
        </p:nvSpPr>
        <p:spPr>
          <a:xfrm>
            <a:off x="10698480" y="4754880"/>
            <a:ext cx="2194560" cy="2194560"/>
          </a:xfrm>
          <a:prstGeom prst="ellipse">
            <a:avLst/>
          </a:prstGeom>
          <a:solidFill>
            <a:srgbClr val="008A48">
              <a:alpha val="45000"/>
            </a:srgbClr>
          </a:solidFill>
          <a:ln/>
        </p:spPr>
      </p:sp>
      <p:pic>
        <p:nvPicPr>
          <p:cNvPr id="5" name="Image 0" descr="img/logo_white.png">    </p:cNvPr>
          <p:cNvPicPr>
            <a:picLocks noChangeAspect="1"/>
          </p:cNvPicPr>
          <p:nvPr/>
        </p:nvPicPr>
        <p:blipFill>
          <a:blip r:embed="rId1">
            <a:alphaModFix amt="14000"/>
          </a:blip>
          <a:stretch>
            <a:fillRect/>
          </a:stretch>
        </p:blipFill>
        <p:spPr>
          <a:xfrm>
            <a:off x="8869680" y="640080"/>
            <a:ext cx="2743200" cy="2743200"/>
          </a:xfrm>
          <a:prstGeom prst="rect">
            <a:avLst/>
          </a:prstGeom>
        </p:spPr>
      </p:pic>
      <p:pic>
        <p:nvPicPr>
          <p:cNvPr id="6" name="Image 1" descr="img/logo_white.png">    </p:cNvPr>
          <p:cNvPicPr>
            <a:picLocks noChangeAspect="1"/>
          </p:cNvPicPr>
          <p:nvPr/>
        </p:nvPicPr>
        <p:blipFill>
          <a:blip r:embed="rId2"/>
          <a:stretch>
            <a:fillRect/>
          </a:stretch>
        </p:blipFill>
        <p:spPr>
          <a:xfrm>
            <a:off x="777240" y="1417320"/>
            <a:ext cx="868680" cy="868680"/>
          </a:xfrm>
          <a:prstGeom prst="rect">
            <a:avLst/>
          </a:prstGeom>
        </p:spPr>
      </p:pic>
      <p:sp>
        <p:nvSpPr>
          <p:cNvPr id="7" name="Text 3"/>
          <p:cNvSpPr/>
          <p:nvPr/>
        </p:nvSpPr>
        <p:spPr>
          <a:xfrm>
            <a:off x="1691640" y="1371600"/>
            <a:ext cx="6400800" cy="96012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EcoTrack</a:t>
            </a:r>
            <a:endParaRPr lang="en-US" sz="5400" dirty="0"/>
          </a:p>
        </p:txBody>
      </p:sp>
      <p:sp>
        <p:nvSpPr>
          <p:cNvPr id="8" name="Text 4"/>
          <p:cNvSpPr/>
          <p:nvPr/>
        </p:nvSpPr>
        <p:spPr>
          <a:xfrm>
            <a:off x="822960" y="2514600"/>
            <a:ext cx="8778240" cy="548640"/>
          </a:xfrm>
          <a:prstGeom prst="rect">
            <a:avLst/>
          </a:prstGeom>
          <a:noFill/>
          <a:ln/>
        </p:spPr>
        <p:txBody>
          <a:bodyPr wrap="square" lIns="0" tIns="0" rIns="0" bIns="0" rtlCol="0" anchor="ctr"/>
          <a:lstStyle/>
          <a:p>
            <a:pPr indent="0" marL="0">
              <a:buNone/>
            </a:pPr>
            <a:r>
              <a:rPr lang="en-US" sz="1800" dirty="0">
                <a:solidFill>
                  <a:srgbClr val="CFE8DA"/>
                </a:solidFill>
                <a:latin typeface="Calibri" pitchFamily="34" charset="0"/>
                <a:ea typeface="Calibri" pitchFamily="34" charset="-122"/>
                <a:cs typeface="Calibri" pitchFamily="34" charset="-120"/>
              </a:rPr>
              <a:t>Application web de calcul d'empreinte carbone &amp; défis écologiques quotidiens</a:t>
            </a:r>
            <a:endParaRPr lang="en-US" sz="1800" dirty="0"/>
          </a:p>
        </p:txBody>
      </p:sp>
      <p:sp>
        <p:nvSpPr>
          <p:cNvPr id="9" name="Text 5"/>
          <p:cNvSpPr/>
          <p:nvPr/>
        </p:nvSpPr>
        <p:spPr>
          <a:xfrm>
            <a:off x="822960" y="3200400"/>
            <a:ext cx="9144000" cy="502920"/>
          </a:xfrm>
          <a:prstGeom prst="rect">
            <a:avLst/>
          </a:prstGeom>
          <a:noFill/>
          <a:ln/>
        </p:spPr>
        <p:txBody>
          <a:bodyPr wrap="square" lIns="0" tIns="0" rIns="0" bIns="0" rtlCol="0" anchor="ctr"/>
          <a:lstStyle/>
          <a:p>
            <a:pPr indent="0" marL="0">
              <a:buNone/>
            </a:pPr>
            <a:r>
              <a:rPr lang="en-US" sz="1900" b="1" i="1" dirty="0">
                <a:solidFill>
                  <a:srgbClr val="7FD3A6"/>
                </a:solidFill>
                <a:latin typeface="Calibri" pitchFamily="34" charset="0"/>
                <a:ea typeface="Calibri" pitchFamily="34" charset="-122"/>
                <a:cs typeface="Calibri" pitchFamily="34" charset="-120"/>
              </a:rPr>
              <a:t>Mesurez.  Comprenez.  Réduisez votre empreinte carbone.</a:t>
            </a:r>
            <a:endParaRPr lang="en-US" sz="1900" dirty="0"/>
          </a:p>
        </p:txBody>
      </p:sp>
      <p:sp>
        <p:nvSpPr>
          <p:cNvPr id="10" name="Shape 6"/>
          <p:cNvSpPr/>
          <p:nvPr/>
        </p:nvSpPr>
        <p:spPr>
          <a:xfrm>
            <a:off x="841248" y="4572000"/>
            <a:ext cx="5760720" cy="0"/>
          </a:xfrm>
          <a:prstGeom prst="line">
            <a:avLst/>
          </a:prstGeom>
          <a:noFill/>
          <a:ln w="19050">
            <a:solidFill>
              <a:srgbClr val="2E6B4C"/>
            </a:solidFill>
            <a:prstDash val="solid"/>
          </a:ln>
        </p:spPr>
      </p:sp>
      <p:sp>
        <p:nvSpPr>
          <p:cNvPr id="11" name="Text 7"/>
          <p:cNvSpPr/>
          <p:nvPr/>
        </p:nvSpPr>
        <p:spPr>
          <a:xfrm>
            <a:off x="822960" y="4754880"/>
            <a:ext cx="10607040" cy="365760"/>
          </a:xfrm>
          <a:prstGeom prst="rect">
            <a:avLst/>
          </a:prstGeom>
          <a:noFill/>
          <a:ln/>
        </p:spPr>
        <p:txBody>
          <a:bodyPr wrap="square" lIns="0" tIns="0" rIns="0" bIns="0" rtlCol="0" anchor="ctr"/>
          <a:lstStyle/>
          <a:p>
            <a:pPr indent="0" marL="0">
              <a:buNone/>
            </a:pPr>
            <a:r>
              <a:rPr lang="en-US" sz="1500" b="1" dirty="0">
                <a:solidFill>
                  <a:srgbClr val="7FD3A6"/>
                </a:solidFill>
                <a:latin typeface="Calibri" pitchFamily="34" charset="0"/>
                <a:ea typeface="Calibri" pitchFamily="34" charset="-122"/>
                <a:cs typeface="Calibri" pitchFamily="34" charset="-120"/>
              </a:rPr>
              <a:t>ÉQUIPE   </a:t>
            </a:r>
            <a:pPr indent="0" marL="0">
              <a:buNone/>
            </a:pPr>
            <a:r>
              <a:rPr lang="en-US" sz="1500" dirty="0">
                <a:solidFill>
                  <a:srgbClr val="E6F3EC"/>
                </a:solidFill>
                <a:latin typeface="Calibri" pitchFamily="34" charset="0"/>
                <a:ea typeface="Calibri" pitchFamily="34" charset="-122"/>
                <a:cs typeface="Calibri" pitchFamily="34" charset="-120"/>
              </a:rPr>
              <a:t>Mathieu Gayvallet  ·  Noah Benhabrou  ·  Luca Descombes  ·  Nael Baras-Raso</a:t>
            </a:r>
            <a:endParaRPr lang="en-US" sz="1500" dirty="0"/>
          </a:p>
        </p:txBody>
      </p:sp>
      <p:sp>
        <p:nvSpPr>
          <p:cNvPr id="12" name="Text 8"/>
          <p:cNvSpPr/>
          <p:nvPr/>
        </p:nvSpPr>
        <p:spPr>
          <a:xfrm>
            <a:off x="822960" y="5166360"/>
            <a:ext cx="1060704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Projet fil rouge</a:t>
            </a:r>
            <a:pPr indent="0" marL="0">
              <a:buNone/>
            </a:pPr>
            <a:r>
              <a:rPr lang="en-US" sz="1400" dirty="0">
                <a:solidFill>
                  <a:srgbClr val="BFE0CF"/>
                </a:solidFill>
                <a:latin typeface="Calibri" pitchFamily="34" charset="0"/>
                <a:ea typeface="Calibri" pitchFamily="34" charset="-122"/>
                <a:cs typeface="Calibri" pitchFamily="34" charset="-120"/>
              </a:rPr>
              <a:t>   ·   Application web responsive   ·   Année scolaire 2025-2026   ·   </a:t>
            </a:r>
            <a:pPr indent="0" marL="0">
              <a:buNone/>
            </a:pPr>
            <a:r>
              <a:rPr lang="en-US" sz="1400" b="1" dirty="0">
                <a:solidFill>
                  <a:srgbClr val="7FD3A6"/>
                </a:solidFill>
                <a:latin typeface="Calibri" pitchFamily="34" charset="0"/>
                <a:ea typeface="Calibri" pitchFamily="34" charset="-122"/>
                <a:cs typeface="Calibri" pitchFamily="34" charset="-120"/>
              </a:rPr>
              <a:t>MVP en cours</a:t>
            </a:r>
            <a:endParaRPr lang="en-US" sz="1400" dirty="0"/>
          </a:p>
        </p:txBody>
      </p:sp>
      <p:sp>
        <p:nvSpPr>
          <p:cNvPr id="13" name="Text 9"/>
          <p:cNvSpPr/>
          <p:nvPr/>
        </p:nvSpPr>
        <p:spPr>
          <a:xfrm>
            <a:off x="822960" y="5989320"/>
            <a:ext cx="7315200" cy="320040"/>
          </a:xfrm>
          <a:prstGeom prst="rect">
            <a:avLst/>
          </a:prstGeom>
          <a:noFill/>
          <a:ln/>
        </p:spPr>
        <p:txBody>
          <a:bodyPr wrap="square" lIns="0" tIns="0" rIns="0" bIns="0" rtlCol="0" anchor="ctr"/>
          <a:lstStyle/>
          <a:p>
            <a:pPr indent="0" marL="0">
              <a:buNone/>
            </a:pPr>
            <a:r>
              <a:rPr lang="en-US" sz="1200" dirty="0">
                <a:solidFill>
                  <a:srgbClr val="6FA98C"/>
                </a:solidFill>
                <a:latin typeface="Calibri" pitchFamily="34" charset="0"/>
                <a:ea typeface="Calibri" pitchFamily="34" charset="-122"/>
                <a:cs typeface="Calibri" pitchFamily="34" charset="-120"/>
              </a:rPr>
              <a:t>Dossier de projet — Juin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CF9"/>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indent="0" marL="0">
              <a:buNone/>
            </a:pPr>
            <a:r>
              <a:rPr lang="en-US" sz="1300" b="1" spc="200" kern="0" dirty="0">
                <a:solidFill>
                  <a:srgbClr val="008A48"/>
                </a:solidFill>
                <a:latin typeface="Calibri" pitchFamily="34" charset="0"/>
                <a:ea typeface="Calibri" pitchFamily="34" charset="-122"/>
                <a:cs typeface="Calibri" pitchFamily="34" charset="-120"/>
              </a:rPr>
              <a:t>PLAN DE LA PRÉSENTATION</a:t>
            </a:r>
            <a:endParaRPr lang="en-US" sz="1300" dirty="0"/>
          </a:p>
        </p:txBody>
      </p:sp>
      <p:sp>
        <p:nvSpPr>
          <p:cNvPr id="3" name="Text 1"/>
          <p:cNvSpPr/>
          <p:nvPr/>
        </p:nvSpPr>
        <p:spPr>
          <a:xfrm>
            <a:off x="530352" y="658368"/>
            <a:ext cx="11064240" cy="685800"/>
          </a:xfrm>
          <a:prstGeom prst="rect">
            <a:avLst/>
          </a:prstGeom>
          <a:noFill/>
          <a:ln/>
        </p:spPr>
        <p:txBody>
          <a:bodyPr wrap="square" lIns="0" tIns="0" rIns="0" bIns="0" rtlCol="0" anchor="ctr"/>
          <a:lstStyle/>
          <a:p>
            <a:pPr indent="0" marL="0">
              <a:buNone/>
            </a:pPr>
            <a:r>
              <a:rPr lang="en-US" sz="3000" b="1" dirty="0">
                <a:solidFill>
                  <a:srgbClr val="1A1A1A"/>
                </a:solidFill>
                <a:latin typeface="Calibri" pitchFamily="34" charset="0"/>
                <a:ea typeface="Calibri" pitchFamily="34" charset="-122"/>
                <a:cs typeface="Calibri" pitchFamily="34" charset="-120"/>
              </a:rPr>
              <a:t>Sommaire</a:t>
            </a:r>
            <a:endParaRPr lang="en-US" sz="3000" dirty="0"/>
          </a:p>
        </p:txBody>
      </p:sp>
      <p:sp>
        <p:nvSpPr>
          <p:cNvPr id="4" name="Shape 2"/>
          <p:cNvSpPr/>
          <p:nvPr/>
        </p:nvSpPr>
        <p:spPr>
          <a:xfrm>
            <a:off x="548640" y="1572768"/>
            <a:ext cx="5349240" cy="950976"/>
          </a:xfrm>
          <a:prstGeom prst="roundRect">
            <a:avLst>
              <a:gd name="adj" fmla="val 11538"/>
            </a:avLst>
          </a:prstGeom>
          <a:solidFill>
            <a:srgbClr val="FFFFFF"/>
          </a:solidFill>
          <a:ln w="12700">
            <a:solidFill>
              <a:srgbClr val="E4E7E2"/>
            </a:solidFill>
            <a:prstDash val="solid"/>
          </a:ln>
          <a:effectLst>
            <a:outerShdw sx="100000" sy="100000" kx="0" ky="0" algn="bl" rotWithShape="0" blurRad="127000" dist="38100" dir="5400000">
              <a:srgbClr val="1A1A1A">
                <a:alpha val="10000"/>
              </a:srgbClr>
            </a:outerShdw>
          </a:effectLst>
        </p:spPr>
      </p:sp>
      <p:sp>
        <p:nvSpPr>
          <p:cNvPr id="5" name="Shape 3"/>
          <p:cNvSpPr/>
          <p:nvPr/>
        </p:nvSpPr>
        <p:spPr>
          <a:xfrm>
            <a:off x="786384" y="1764792"/>
            <a:ext cx="566928" cy="566928"/>
          </a:xfrm>
          <a:prstGeom prst="ellipse">
            <a:avLst/>
          </a:prstGeom>
          <a:solidFill>
            <a:srgbClr val="008A48"/>
          </a:solidFill>
          <a:ln/>
          <a:effectLst>
            <a:outerShdw sx="100000" sy="100000" kx="0" ky="0" algn="bl" rotWithShape="0" blurRad="88900" dist="25400" dir="5400000">
              <a:srgbClr val="06402A">
                <a:alpha val="16000"/>
              </a:srgbClr>
            </a:outerShdw>
          </a:effectLst>
        </p:spPr>
      </p:sp>
      <p:sp>
        <p:nvSpPr>
          <p:cNvPr id="6" name="Text 4"/>
          <p:cNvSpPr/>
          <p:nvPr/>
        </p:nvSpPr>
        <p:spPr>
          <a:xfrm>
            <a:off x="786384" y="1764792"/>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01</a:t>
            </a:r>
            <a:endParaRPr lang="en-US" sz="1700" dirty="0"/>
          </a:p>
        </p:txBody>
      </p:sp>
      <p:sp>
        <p:nvSpPr>
          <p:cNvPr id="7" name="Text 5"/>
          <p:cNvSpPr/>
          <p:nvPr/>
        </p:nvSpPr>
        <p:spPr>
          <a:xfrm>
            <a:off x="1536192" y="1755648"/>
            <a:ext cx="4160520" cy="384048"/>
          </a:xfrm>
          <a:prstGeom prst="rect">
            <a:avLst/>
          </a:prstGeom>
          <a:noFill/>
          <a:ln/>
        </p:spPr>
        <p:txBody>
          <a:bodyPr wrap="square" lIns="0" tIns="0" rIns="0" bIns="0"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Le projet &amp; la problématique</a:t>
            </a:r>
            <a:endParaRPr lang="en-US" sz="1600" dirty="0"/>
          </a:p>
        </p:txBody>
      </p:sp>
      <p:sp>
        <p:nvSpPr>
          <p:cNvPr id="8" name="Text 6"/>
          <p:cNvSpPr/>
          <p:nvPr/>
        </p:nvSpPr>
        <p:spPr>
          <a:xfrm>
            <a:off x="1536192" y="2103120"/>
            <a:ext cx="4160520" cy="329184"/>
          </a:xfrm>
          <a:prstGeom prst="rect">
            <a:avLst/>
          </a:prstGeom>
          <a:noFill/>
          <a:ln/>
        </p:spPr>
        <p:txBody>
          <a:bodyPr wrap="square" lIns="0" tIns="0" rIns="0" bIns="0" rtlCol="0" anchor="ctr"/>
          <a:lstStyle/>
          <a:p>
            <a:pPr indent="0" marL="0">
              <a:buNone/>
            </a:pPr>
            <a:r>
              <a:rPr lang="en-US" sz="1250" dirty="0">
                <a:solidFill>
                  <a:srgbClr val="6B6F6A"/>
                </a:solidFill>
                <a:latin typeface="Calibri" pitchFamily="34" charset="0"/>
                <a:ea typeface="Calibri" pitchFamily="34" charset="-122"/>
                <a:cs typeface="Calibri" pitchFamily="34" charset="-120"/>
              </a:rPr>
              <a:t>Ce que résout EcoTrack</a:t>
            </a:r>
            <a:endParaRPr lang="en-US" sz="1250" dirty="0"/>
          </a:p>
        </p:txBody>
      </p:sp>
      <p:sp>
        <p:nvSpPr>
          <p:cNvPr id="9" name="Shape 7"/>
          <p:cNvSpPr/>
          <p:nvPr/>
        </p:nvSpPr>
        <p:spPr>
          <a:xfrm>
            <a:off x="6446520" y="1572768"/>
            <a:ext cx="5349240" cy="950976"/>
          </a:xfrm>
          <a:prstGeom prst="roundRect">
            <a:avLst>
              <a:gd name="adj" fmla="val 11538"/>
            </a:avLst>
          </a:prstGeom>
          <a:solidFill>
            <a:srgbClr val="FFFFFF"/>
          </a:solidFill>
          <a:ln w="12700">
            <a:solidFill>
              <a:srgbClr val="E4E7E2"/>
            </a:solidFill>
            <a:prstDash val="solid"/>
          </a:ln>
          <a:effectLst>
            <a:outerShdw sx="100000" sy="100000" kx="0" ky="0" algn="bl" rotWithShape="0" blurRad="127000" dist="38100" dir="5400000">
              <a:srgbClr val="1A1A1A">
                <a:alpha val="10000"/>
              </a:srgbClr>
            </a:outerShdw>
          </a:effectLst>
        </p:spPr>
      </p:sp>
      <p:sp>
        <p:nvSpPr>
          <p:cNvPr id="10" name="Shape 8"/>
          <p:cNvSpPr/>
          <p:nvPr/>
        </p:nvSpPr>
        <p:spPr>
          <a:xfrm>
            <a:off x="6684264" y="1764792"/>
            <a:ext cx="566928" cy="566928"/>
          </a:xfrm>
          <a:prstGeom prst="ellipse">
            <a:avLst/>
          </a:prstGeom>
          <a:solidFill>
            <a:srgbClr val="008A48"/>
          </a:solidFill>
          <a:ln/>
          <a:effectLst>
            <a:outerShdw sx="100000" sy="100000" kx="0" ky="0" algn="bl" rotWithShape="0" blurRad="88900" dist="25400" dir="5400000">
              <a:srgbClr val="06402A">
                <a:alpha val="16000"/>
              </a:srgbClr>
            </a:outerShdw>
          </a:effectLst>
        </p:spPr>
      </p:sp>
      <p:sp>
        <p:nvSpPr>
          <p:cNvPr id="11" name="Text 9"/>
          <p:cNvSpPr/>
          <p:nvPr/>
        </p:nvSpPr>
        <p:spPr>
          <a:xfrm>
            <a:off x="6684264" y="1764792"/>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02</a:t>
            </a:r>
            <a:endParaRPr lang="en-US" sz="1700" dirty="0"/>
          </a:p>
        </p:txBody>
      </p:sp>
      <p:sp>
        <p:nvSpPr>
          <p:cNvPr id="12" name="Text 10"/>
          <p:cNvSpPr/>
          <p:nvPr/>
        </p:nvSpPr>
        <p:spPr>
          <a:xfrm>
            <a:off x="7434072" y="1755648"/>
            <a:ext cx="4160520" cy="384048"/>
          </a:xfrm>
          <a:prstGeom prst="rect">
            <a:avLst/>
          </a:prstGeom>
          <a:noFill/>
          <a:ln/>
        </p:spPr>
        <p:txBody>
          <a:bodyPr wrap="square" lIns="0" tIns="0" rIns="0" bIns="0"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Contexte, marché &amp; enjeux</a:t>
            </a:r>
            <a:endParaRPr lang="en-US" sz="1600" dirty="0"/>
          </a:p>
        </p:txBody>
      </p:sp>
      <p:sp>
        <p:nvSpPr>
          <p:cNvPr id="13" name="Text 11"/>
          <p:cNvSpPr/>
          <p:nvPr/>
        </p:nvSpPr>
        <p:spPr>
          <a:xfrm>
            <a:off x="7434072" y="2103120"/>
            <a:ext cx="4160520" cy="329184"/>
          </a:xfrm>
          <a:prstGeom prst="rect">
            <a:avLst/>
          </a:prstGeom>
          <a:noFill/>
          <a:ln/>
        </p:spPr>
        <p:txBody>
          <a:bodyPr wrap="square" lIns="0" tIns="0" rIns="0" bIns="0" rtlCol="0" anchor="ctr"/>
          <a:lstStyle/>
          <a:p>
            <a:pPr indent="0" marL="0">
              <a:buNone/>
            </a:pPr>
            <a:r>
              <a:rPr lang="en-US" sz="1250" dirty="0">
                <a:solidFill>
                  <a:srgbClr val="6B6F6A"/>
                </a:solidFill>
                <a:latin typeface="Calibri" pitchFamily="34" charset="0"/>
                <a:ea typeface="Calibri" pitchFamily="34" charset="-122"/>
                <a:cs typeface="Calibri" pitchFamily="34" charset="-120"/>
              </a:rPr>
              <a:t>Chiffres clés et opportunité</a:t>
            </a:r>
            <a:endParaRPr lang="en-US" sz="1250" dirty="0"/>
          </a:p>
        </p:txBody>
      </p:sp>
      <p:sp>
        <p:nvSpPr>
          <p:cNvPr id="14" name="Shape 12"/>
          <p:cNvSpPr/>
          <p:nvPr/>
        </p:nvSpPr>
        <p:spPr>
          <a:xfrm>
            <a:off x="548640" y="2706624"/>
            <a:ext cx="5349240" cy="950976"/>
          </a:xfrm>
          <a:prstGeom prst="roundRect">
            <a:avLst>
              <a:gd name="adj" fmla="val 11538"/>
            </a:avLst>
          </a:prstGeom>
          <a:solidFill>
            <a:srgbClr val="FFFFFF"/>
          </a:solidFill>
          <a:ln w="12700">
            <a:solidFill>
              <a:srgbClr val="E4E7E2"/>
            </a:solidFill>
            <a:prstDash val="solid"/>
          </a:ln>
          <a:effectLst>
            <a:outerShdw sx="100000" sy="100000" kx="0" ky="0" algn="bl" rotWithShape="0" blurRad="127000" dist="38100" dir="5400000">
              <a:srgbClr val="1A1A1A">
                <a:alpha val="10000"/>
              </a:srgbClr>
            </a:outerShdw>
          </a:effectLst>
        </p:spPr>
      </p:sp>
      <p:sp>
        <p:nvSpPr>
          <p:cNvPr id="15" name="Shape 13"/>
          <p:cNvSpPr/>
          <p:nvPr/>
        </p:nvSpPr>
        <p:spPr>
          <a:xfrm>
            <a:off x="786384" y="2898648"/>
            <a:ext cx="566928" cy="566928"/>
          </a:xfrm>
          <a:prstGeom prst="ellipse">
            <a:avLst/>
          </a:prstGeom>
          <a:solidFill>
            <a:srgbClr val="008A48"/>
          </a:solidFill>
          <a:ln/>
          <a:effectLst>
            <a:outerShdw sx="100000" sy="100000" kx="0" ky="0" algn="bl" rotWithShape="0" blurRad="88900" dist="25400" dir="5400000">
              <a:srgbClr val="06402A">
                <a:alpha val="16000"/>
              </a:srgbClr>
            </a:outerShdw>
          </a:effectLst>
        </p:spPr>
      </p:sp>
      <p:sp>
        <p:nvSpPr>
          <p:cNvPr id="16" name="Text 14"/>
          <p:cNvSpPr/>
          <p:nvPr/>
        </p:nvSpPr>
        <p:spPr>
          <a:xfrm>
            <a:off x="786384" y="2898648"/>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03</a:t>
            </a:r>
            <a:endParaRPr lang="en-US" sz="1700" dirty="0"/>
          </a:p>
        </p:txBody>
      </p:sp>
      <p:sp>
        <p:nvSpPr>
          <p:cNvPr id="17" name="Text 15"/>
          <p:cNvSpPr/>
          <p:nvPr/>
        </p:nvSpPr>
        <p:spPr>
          <a:xfrm>
            <a:off x="1536192" y="2889504"/>
            <a:ext cx="4160520" cy="384048"/>
          </a:xfrm>
          <a:prstGeom prst="rect">
            <a:avLst/>
          </a:prstGeom>
          <a:noFill/>
          <a:ln/>
        </p:spPr>
        <p:txBody>
          <a:bodyPr wrap="square" lIns="0" tIns="0" rIns="0" bIns="0"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Utilisateurs : personas</a:t>
            </a:r>
            <a:endParaRPr lang="en-US" sz="1600" dirty="0"/>
          </a:p>
        </p:txBody>
      </p:sp>
      <p:sp>
        <p:nvSpPr>
          <p:cNvPr id="18" name="Text 16"/>
          <p:cNvSpPr/>
          <p:nvPr/>
        </p:nvSpPr>
        <p:spPr>
          <a:xfrm>
            <a:off x="1536192" y="3236976"/>
            <a:ext cx="4160520" cy="329184"/>
          </a:xfrm>
          <a:prstGeom prst="rect">
            <a:avLst/>
          </a:prstGeom>
          <a:noFill/>
          <a:ln/>
        </p:spPr>
        <p:txBody>
          <a:bodyPr wrap="square" lIns="0" tIns="0" rIns="0" bIns="0" rtlCol="0" anchor="ctr"/>
          <a:lstStyle/>
          <a:p>
            <a:pPr indent="0" marL="0">
              <a:buNone/>
            </a:pPr>
            <a:r>
              <a:rPr lang="en-US" sz="1250" dirty="0">
                <a:solidFill>
                  <a:srgbClr val="6B6F6A"/>
                </a:solidFill>
                <a:latin typeface="Calibri" pitchFamily="34" charset="0"/>
                <a:ea typeface="Calibri" pitchFamily="34" charset="-122"/>
                <a:cs typeface="Calibri" pitchFamily="34" charset="-120"/>
              </a:rPr>
              <a:t>À qui s'adresse l'appli</a:t>
            </a:r>
            <a:endParaRPr lang="en-US" sz="1250" dirty="0"/>
          </a:p>
        </p:txBody>
      </p:sp>
      <p:sp>
        <p:nvSpPr>
          <p:cNvPr id="19" name="Shape 17"/>
          <p:cNvSpPr/>
          <p:nvPr/>
        </p:nvSpPr>
        <p:spPr>
          <a:xfrm>
            <a:off x="6446520" y="2706624"/>
            <a:ext cx="5349240" cy="950976"/>
          </a:xfrm>
          <a:prstGeom prst="roundRect">
            <a:avLst>
              <a:gd name="adj" fmla="val 11538"/>
            </a:avLst>
          </a:prstGeom>
          <a:solidFill>
            <a:srgbClr val="FFFFFF"/>
          </a:solidFill>
          <a:ln w="12700">
            <a:solidFill>
              <a:srgbClr val="E4E7E2"/>
            </a:solidFill>
            <a:prstDash val="solid"/>
          </a:ln>
          <a:effectLst>
            <a:outerShdw sx="100000" sy="100000" kx="0" ky="0" algn="bl" rotWithShape="0" blurRad="127000" dist="38100" dir="5400000">
              <a:srgbClr val="1A1A1A">
                <a:alpha val="10000"/>
              </a:srgbClr>
            </a:outerShdw>
          </a:effectLst>
        </p:spPr>
      </p:sp>
      <p:sp>
        <p:nvSpPr>
          <p:cNvPr id="20" name="Shape 18"/>
          <p:cNvSpPr/>
          <p:nvPr/>
        </p:nvSpPr>
        <p:spPr>
          <a:xfrm>
            <a:off x="6684264" y="2898648"/>
            <a:ext cx="566928" cy="566928"/>
          </a:xfrm>
          <a:prstGeom prst="ellipse">
            <a:avLst/>
          </a:prstGeom>
          <a:solidFill>
            <a:srgbClr val="008A48"/>
          </a:solidFill>
          <a:ln/>
          <a:effectLst>
            <a:outerShdw sx="100000" sy="100000" kx="0" ky="0" algn="bl" rotWithShape="0" blurRad="88900" dist="25400" dir="5400000">
              <a:srgbClr val="06402A">
                <a:alpha val="16000"/>
              </a:srgbClr>
            </a:outerShdw>
          </a:effectLst>
        </p:spPr>
      </p:sp>
      <p:sp>
        <p:nvSpPr>
          <p:cNvPr id="21" name="Text 19"/>
          <p:cNvSpPr/>
          <p:nvPr/>
        </p:nvSpPr>
        <p:spPr>
          <a:xfrm>
            <a:off x="6684264" y="2898648"/>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04</a:t>
            </a:r>
            <a:endParaRPr lang="en-US" sz="1700" dirty="0"/>
          </a:p>
        </p:txBody>
      </p:sp>
      <p:sp>
        <p:nvSpPr>
          <p:cNvPr id="22" name="Text 20"/>
          <p:cNvSpPr/>
          <p:nvPr/>
        </p:nvSpPr>
        <p:spPr>
          <a:xfrm>
            <a:off x="7434072" y="2889504"/>
            <a:ext cx="4160520" cy="384048"/>
          </a:xfrm>
          <a:prstGeom prst="rect">
            <a:avLst/>
          </a:prstGeom>
          <a:noFill/>
          <a:ln/>
        </p:spPr>
        <p:txBody>
          <a:bodyPr wrap="square" lIns="0" tIns="0" rIns="0" bIns="0"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Fonctionnalités &amp; périmètre MVP</a:t>
            </a:r>
            <a:endParaRPr lang="en-US" sz="1600" dirty="0"/>
          </a:p>
        </p:txBody>
      </p:sp>
      <p:sp>
        <p:nvSpPr>
          <p:cNvPr id="23" name="Text 21"/>
          <p:cNvSpPr/>
          <p:nvPr/>
        </p:nvSpPr>
        <p:spPr>
          <a:xfrm>
            <a:off x="7434072" y="3236976"/>
            <a:ext cx="4160520" cy="329184"/>
          </a:xfrm>
          <a:prstGeom prst="rect">
            <a:avLst/>
          </a:prstGeom>
          <a:noFill/>
          <a:ln/>
        </p:spPr>
        <p:txBody>
          <a:bodyPr wrap="square" lIns="0" tIns="0" rIns="0" bIns="0" rtlCol="0" anchor="ctr"/>
          <a:lstStyle/>
          <a:p>
            <a:pPr indent="0" marL="0">
              <a:buNone/>
            </a:pPr>
            <a:r>
              <a:rPr lang="en-US" sz="1250" dirty="0">
                <a:solidFill>
                  <a:srgbClr val="6B6F6A"/>
                </a:solidFill>
                <a:latin typeface="Calibri" pitchFamily="34" charset="0"/>
                <a:ea typeface="Calibri" pitchFamily="34" charset="-122"/>
                <a:cs typeface="Calibri" pitchFamily="34" charset="-120"/>
              </a:rPr>
              <a:t>Ce que nous avons construit</a:t>
            </a:r>
            <a:endParaRPr lang="en-US" sz="1250" dirty="0"/>
          </a:p>
        </p:txBody>
      </p:sp>
      <p:sp>
        <p:nvSpPr>
          <p:cNvPr id="24" name="Shape 22"/>
          <p:cNvSpPr/>
          <p:nvPr/>
        </p:nvSpPr>
        <p:spPr>
          <a:xfrm>
            <a:off x="548640" y="3840480"/>
            <a:ext cx="5349240" cy="950976"/>
          </a:xfrm>
          <a:prstGeom prst="roundRect">
            <a:avLst>
              <a:gd name="adj" fmla="val 11538"/>
            </a:avLst>
          </a:prstGeom>
          <a:solidFill>
            <a:srgbClr val="FFFFFF"/>
          </a:solidFill>
          <a:ln w="12700">
            <a:solidFill>
              <a:srgbClr val="E4E7E2"/>
            </a:solidFill>
            <a:prstDash val="solid"/>
          </a:ln>
          <a:effectLst>
            <a:outerShdw sx="100000" sy="100000" kx="0" ky="0" algn="bl" rotWithShape="0" blurRad="127000" dist="38100" dir="5400000">
              <a:srgbClr val="1A1A1A">
                <a:alpha val="10000"/>
              </a:srgbClr>
            </a:outerShdw>
          </a:effectLst>
        </p:spPr>
      </p:sp>
      <p:sp>
        <p:nvSpPr>
          <p:cNvPr id="25" name="Shape 23"/>
          <p:cNvSpPr/>
          <p:nvPr/>
        </p:nvSpPr>
        <p:spPr>
          <a:xfrm>
            <a:off x="786384" y="4032504"/>
            <a:ext cx="566928" cy="566928"/>
          </a:xfrm>
          <a:prstGeom prst="ellipse">
            <a:avLst/>
          </a:prstGeom>
          <a:solidFill>
            <a:srgbClr val="008A48"/>
          </a:solidFill>
          <a:ln/>
          <a:effectLst>
            <a:outerShdw sx="100000" sy="100000" kx="0" ky="0" algn="bl" rotWithShape="0" blurRad="88900" dist="25400" dir="5400000">
              <a:srgbClr val="06402A">
                <a:alpha val="16000"/>
              </a:srgbClr>
            </a:outerShdw>
          </a:effectLst>
        </p:spPr>
      </p:sp>
      <p:sp>
        <p:nvSpPr>
          <p:cNvPr id="26" name="Text 24"/>
          <p:cNvSpPr/>
          <p:nvPr/>
        </p:nvSpPr>
        <p:spPr>
          <a:xfrm>
            <a:off x="786384" y="4032504"/>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05</a:t>
            </a:r>
            <a:endParaRPr lang="en-US" sz="1700" dirty="0"/>
          </a:p>
        </p:txBody>
      </p:sp>
      <p:sp>
        <p:nvSpPr>
          <p:cNvPr id="27" name="Text 25"/>
          <p:cNvSpPr/>
          <p:nvPr/>
        </p:nvSpPr>
        <p:spPr>
          <a:xfrm>
            <a:off x="1536192" y="4023360"/>
            <a:ext cx="4160520" cy="384048"/>
          </a:xfrm>
          <a:prstGeom prst="rect">
            <a:avLst/>
          </a:prstGeom>
          <a:noFill/>
          <a:ln/>
        </p:spPr>
        <p:txBody>
          <a:bodyPr wrap="square" lIns="0" tIns="0" rIns="0" bIns="0"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Conception : design &amp; données</a:t>
            </a:r>
            <a:endParaRPr lang="en-US" sz="1600" dirty="0"/>
          </a:p>
        </p:txBody>
      </p:sp>
      <p:sp>
        <p:nvSpPr>
          <p:cNvPr id="28" name="Text 26"/>
          <p:cNvSpPr/>
          <p:nvPr/>
        </p:nvSpPr>
        <p:spPr>
          <a:xfrm>
            <a:off x="1536192" y="4370832"/>
            <a:ext cx="4160520" cy="329184"/>
          </a:xfrm>
          <a:prstGeom prst="rect">
            <a:avLst/>
          </a:prstGeom>
          <a:noFill/>
          <a:ln/>
        </p:spPr>
        <p:txBody>
          <a:bodyPr wrap="square" lIns="0" tIns="0" rIns="0" bIns="0" rtlCol="0" anchor="ctr"/>
          <a:lstStyle/>
          <a:p>
            <a:pPr indent="0" marL="0">
              <a:buNone/>
            </a:pPr>
            <a:r>
              <a:rPr lang="en-US" sz="1250" dirty="0">
                <a:solidFill>
                  <a:srgbClr val="6B6F6A"/>
                </a:solidFill>
                <a:latin typeface="Calibri" pitchFamily="34" charset="0"/>
                <a:ea typeface="Calibri" pitchFamily="34" charset="-122"/>
                <a:cs typeface="Calibri" pitchFamily="34" charset="-120"/>
              </a:rPr>
              <a:t>Charte, maquettes, modèle de données</a:t>
            </a:r>
            <a:endParaRPr lang="en-US" sz="1250" dirty="0"/>
          </a:p>
        </p:txBody>
      </p:sp>
      <p:sp>
        <p:nvSpPr>
          <p:cNvPr id="29" name="Shape 27"/>
          <p:cNvSpPr/>
          <p:nvPr/>
        </p:nvSpPr>
        <p:spPr>
          <a:xfrm>
            <a:off x="6446520" y="3840480"/>
            <a:ext cx="5349240" cy="950976"/>
          </a:xfrm>
          <a:prstGeom prst="roundRect">
            <a:avLst>
              <a:gd name="adj" fmla="val 11538"/>
            </a:avLst>
          </a:prstGeom>
          <a:solidFill>
            <a:srgbClr val="FFFFFF"/>
          </a:solidFill>
          <a:ln w="12700">
            <a:solidFill>
              <a:srgbClr val="E4E7E2"/>
            </a:solidFill>
            <a:prstDash val="solid"/>
          </a:ln>
          <a:effectLst>
            <a:outerShdw sx="100000" sy="100000" kx="0" ky="0" algn="bl" rotWithShape="0" blurRad="127000" dist="38100" dir="5400000">
              <a:srgbClr val="1A1A1A">
                <a:alpha val="10000"/>
              </a:srgbClr>
            </a:outerShdw>
          </a:effectLst>
        </p:spPr>
      </p:sp>
      <p:sp>
        <p:nvSpPr>
          <p:cNvPr id="30" name="Shape 28"/>
          <p:cNvSpPr/>
          <p:nvPr/>
        </p:nvSpPr>
        <p:spPr>
          <a:xfrm>
            <a:off x="6684264" y="4032504"/>
            <a:ext cx="566928" cy="566928"/>
          </a:xfrm>
          <a:prstGeom prst="ellipse">
            <a:avLst/>
          </a:prstGeom>
          <a:solidFill>
            <a:srgbClr val="008A48"/>
          </a:solidFill>
          <a:ln/>
          <a:effectLst>
            <a:outerShdw sx="100000" sy="100000" kx="0" ky="0" algn="bl" rotWithShape="0" blurRad="88900" dist="25400" dir="5400000">
              <a:srgbClr val="06402A">
                <a:alpha val="16000"/>
              </a:srgbClr>
            </a:outerShdw>
          </a:effectLst>
        </p:spPr>
      </p:sp>
      <p:sp>
        <p:nvSpPr>
          <p:cNvPr id="31" name="Text 29"/>
          <p:cNvSpPr/>
          <p:nvPr/>
        </p:nvSpPr>
        <p:spPr>
          <a:xfrm>
            <a:off x="6684264" y="4032504"/>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06</a:t>
            </a:r>
            <a:endParaRPr lang="en-US" sz="1700" dirty="0"/>
          </a:p>
        </p:txBody>
      </p:sp>
      <p:sp>
        <p:nvSpPr>
          <p:cNvPr id="32" name="Text 30"/>
          <p:cNvSpPr/>
          <p:nvPr/>
        </p:nvSpPr>
        <p:spPr>
          <a:xfrm>
            <a:off x="7434072" y="4023360"/>
            <a:ext cx="4160520" cy="384048"/>
          </a:xfrm>
          <a:prstGeom prst="rect">
            <a:avLst/>
          </a:prstGeom>
          <a:noFill/>
          <a:ln/>
        </p:spPr>
        <p:txBody>
          <a:bodyPr wrap="square" lIns="0" tIns="0" rIns="0" bIns="0"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Architecture technique</a:t>
            </a:r>
            <a:endParaRPr lang="en-US" sz="1600" dirty="0"/>
          </a:p>
        </p:txBody>
      </p:sp>
      <p:sp>
        <p:nvSpPr>
          <p:cNvPr id="33" name="Text 31"/>
          <p:cNvSpPr/>
          <p:nvPr/>
        </p:nvSpPr>
        <p:spPr>
          <a:xfrm>
            <a:off x="7434072" y="4370832"/>
            <a:ext cx="4160520" cy="329184"/>
          </a:xfrm>
          <a:prstGeom prst="rect">
            <a:avLst/>
          </a:prstGeom>
          <a:noFill/>
          <a:ln/>
        </p:spPr>
        <p:txBody>
          <a:bodyPr wrap="square" lIns="0" tIns="0" rIns="0" bIns="0" rtlCol="0" anchor="ctr"/>
          <a:lstStyle/>
          <a:p>
            <a:pPr indent="0" marL="0">
              <a:buNone/>
            </a:pPr>
            <a:r>
              <a:rPr lang="en-US" sz="1250" dirty="0">
                <a:solidFill>
                  <a:srgbClr val="6B6F6A"/>
                </a:solidFill>
                <a:latin typeface="Calibri" pitchFamily="34" charset="0"/>
                <a:ea typeface="Calibri" pitchFamily="34" charset="-122"/>
                <a:cs typeface="Calibri" pitchFamily="34" charset="-120"/>
              </a:rPr>
              <a:t>Stack PHP/MySQL &amp; MVC</a:t>
            </a:r>
            <a:endParaRPr lang="en-US" sz="1250" dirty="0"/>
          </a:p>
        </p:txBody>
      </p:sp>
      <p:sp>
        <p:nvSpPr>
          <p:cNvPr id="34" name="Shape 32"/>
          <p:cNvSpPr/>
          <p:nvPr/>
        </p:nvSpPr>
        <p:spPr>
          <a:xfrm>
            <a:off x="548640" y="4974336"/>
            <a:ext cx="5349240" cy="950976"/>
          </a:xfrm>
          <a:prstGeom prst="roundRect">
            <a:avLst>
              <a:gd name="adj" fmla="val 11538"/>
            </a:avLst>
          </a:prstGeom>
          <a:solidFill>
            <a:srgbClr val="FFFFFF"/>
          </a:solidFill>
          <a:ln w="12700">
            <a:solidFill>
              <a:srgbClr val="E4E7E2"/>
            </a:solidFill>
            <a:prstDash val="solid"/>
          </a:ln>
          <a:effectLst>
            <a:outerShdw sx="100000" sy="100000" kx="0" ky="0" algn="bl" rotWithShape="0" blurRad="127000" dist="38100" dir="5400000">
              <a:srgbClr val="1A1A1A">
                <a:alpha val="10000"/>
              </a:srgbClr>
            </a:outerShdw>
          </a:effectLst>
        </p:spPr>
      </p:sp>
      <p:sp>
        <p:nvSpPr>
          <p:cNvPr id="35" name="Shape 33"/>
          <p:cNvSpPr/>
          <p:nvPr/>
        </p:nvSpPr>
        <p:spPr>
          <a:xfrm>
            <a:off x="786384" y="5166360"/>
            <a:ext cx="566928" cy="566928"/>
          </a:xfrm>
          <a:prstGeom prst="ellipse">
            <a:avLst/>
          </a:prstGeom>
          <a:solidFill>
            <a:srgbClr val="008A48"/>
          </a:solidFill>
          <a:ln/>
          <a:effectLst>
            <a:outerShdw sx="100000" sy="100000" kx="0" ky="0" algn="bl" rotWithShape="0" blurRad="88900" dist="25400" dir="5400000">
              <a:srgbClr val="06402A">
                <a:alpha val="16000"/>
              </a:srgbClr>
            </a:outerShdw>
          </a:effectLst>
        </p:spPr>
      </p:sp>
      <p:sp>
        <p:nvSpPr>
          <p:cNvPr id="36" name="Text 34"/>
          <p:cNvSpPr/>
          <p:nvPr/>
        </p:nvSpPr>
        <p:spPr>
          <a:xfrm>
            <a:off x="786384" y="5166360"/>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07</a:t>
            </a:r>
            <a:endParaRPr lang="en-US" sz="1700" dirty="0"/>
          </a:p>
        </p:txBody>
      </p:sp>
      <p:sp>
        <p:nvSpPr>
          <p:cNvPr id="37" name="Text 35"/>
          <p:cNvSpPr/>
          <p:nvPr/>
        </p:nvSpPr>
        <p:spPr>
          <a:xfrm>
            <a:off x="1536192" y="5157216"/>
            <a:ext cx="4160520" cy="384048"/>
          </a:xfrm>
          <a:prstGeom prst="rect">
            <a:avLst/>
          </a:prstGeom>
          <a:noFill/>
          <a:ln/>
        </p:spPr>
        <p:txBody>
          <a:bodyPr wrap="square" lIns="0" tIns="0" rIns="0" bIns="0"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Organisation &amp; méthode agile</a:t>
            </a:r>
            <a:endParaRPr lang="en-US" sz="1600" dirty="0"/>
          </a:p>
        </p:txBody>
      </p:sp>
      <p:sp>
        <p:nvSpPr>
          <p:cNvPr id="38" name="Text 36"/>
          <p:cNvSpPr/>
          <p:nvPr/>
        </p:nvSpPr>
        <p:spPr>
          <a:xfrm>
            <a:off x="1536192" y="5504688"/>
            <a:ext cx="4160520" cy="329184"/>
          </a:xfrm>
          <a:prstGeom prst="rect">
            <a:avLst/>
          </a:prstGeom>
          <a:noFill/>
          <a:ln/>
        </p:spPr>
        <p:txBody>
          <a:bodyPr wrap="square" lIns="0" tIns="0" rIns="0" bIns="0" rtlCol="0" anchor="ctr"/>
          <a:lstStyle/>
          <a:p>
            <a:pPr indent="0" marL="0">
              <a:buNone/>
            </a:pPr>
            <a:r>
              <a:rPr lang="en-US" sz="1250" dirty="0">
                <a:solidFill>
                  <a:srgbClr val="6B6F6A"/>
                </a:solidFill>
                <a:latin typeface="Calibri" pitchFamily="34" charset="0"/>
                <a:ea typeface="Calibri" pitchFamily="34" charset="-122"/>
                <a:cs typeface="Calibri" pitchFamily="34" charset="-120"/>
              </a:rPr>
              <a:t>Équipe, Jira, cycles courts</a:t>
            </a:r>
            <a:endParaRPr lang="en-US" sz="1250" dirty="0"/>
          </a:p>
        </p:txBody>
      </p:sp>
      <p:sp>
        <p:nvSpPr>
          <p:cNvPr id="39" name="Shape 37"/>
          <p:cNvSpPr/>
          <p:nvPr/>
        </p:nvSpPr>
        <p:spPr>
          <a:xfrm>
            <a:off x="6446520" y="4974336"/>
            <a:ext cx="5349240" cy="950976"/>
          </a:xfrm>
          <a:prstGeom prst="roundRect">
            <a:avLst>
              <a:gd name="adj" fmla="val 11538"/>
            </a:avLst>
          </a:prstGeom>
          <a:solidFill>
            <a:srgbClr val="FFFFFF"/>
          </a:solidFill>
          <a:ln w="12700">
            <a:solidFill>
              <a:srgbClr val="E4E7E2"/>
            </a:solidFill>
            <a:prstDash val="solid"/>
          </a:ln>
          <a:effectLst>
            <a:outerShdw sx="100000" sy="100000" kx="0" ky="0" algn="bl" rotWithShape="0" blurRad="127000" dist="38100" dir="5400000">
              <a:srgbClr val="1A1A1A">
                <a:alpha val="10000"/>
              </a:srgbClr>
            </a:outerShdw>
          </a:effectLst>
        </p:spPr>
      </p:sp>
      <p:sp>
        <p:nvSpPr>
          <p:cNvPr id="40" name="Shape 38"/>
          <p:cNvSpPr/>
          <p:nvPr/>
        </p:nvSpPr>
        <p:spPr>
          <a:xfrm>
            <a:off x="6684264" y="5166360"/>
            <a:ext cx="566928" cy="566928"/>
          </a:xfrm>
          <a:prstGeom prst="ellipse">
            <a:avLst/>
          </a:prstGeom>
          <a:solidFill>
            <a:srgbClr val="008A48"/>
          </a:solidFill>
          <a:ln/>
          <a:effectLst>
            <a:outerShdw sx="100000" sy="100000" kx="0" ky="0" algn="bl" rotWithShape="0" blurRad="88900" dist="25400" dir="5400000">
              <a:srgbClr val="06402A">
                <a:alpha val="16000"/>
              </a:srgbClr>
            </a:outerShdw>
          </a:effectLst>
        </p:spPr>
      </p:sp>
      <p:sp>
        <p:nvSpPr>
          <p:cNvPr id="41" name="Text 39"/>
          <p:cNvSpPr/>
          <p:nvPr/>
        </p:nvSpPr>
        <p:spPr>
          <a:xfrm>
            <a:off x="6684264" y="5166360"/>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08</a:t>
            </a:r>
            <a:endParaRPr lang="en-US" sz="1700" dirty="0"/>
          </a:p>
        </p:txBody>
      </p:sp>
      <p:sp>
        <p:nvSpPr>
          <p:cNvPr id="42" name="Text 40"/>
          <p:cNvSpPr/>
          <p:nvPr/>
        </p:nvSpPr>
        <p:spPr>
          <a:xfrm>
            <a:off x="7434072" y="5157216"/>
            <a:ext cx="4160520" cy="384048"/>
          </a:xfrm>
          <a:prstGeom prst="rect">
            <a:avLst/>
          </a:prstGeom>
          <a:noFill/>
          <a:ln/>
        </p:spPr>
        <p:txBody>
          <a:bodyPr wrap="square" lIns="0" tIns="0" rIns="0" bIns="0"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Modèle économique &amp; bilan</a:t>
            </a:r>
            <a:endParaRPr lang="en-US" sz="1600" dirty="0"/>
          </a:p>
        </p:txBody>
      </p:sp>
      <p:sp>
        <p:nvSpPr>
          <p:cNvPr id="43" name="Text 41"/>
          <p:cNvSpPr/>
          <p:nvPr/>
        </p:nvSpPr>
        <p:spPr>
          <a:xfrm>
            <a:off x="7434072" y="5504688"/>
            <a:ext cx="4160520" cy="329184"/>
          </a:xfrm>
          <a:prstGeom prst="rect">
            <a:avLst/>
          </a:prstGeom>
          <a:noFill/>
          <a:ln/>
        </p:spPr>
        <p:txBody>
          <a:bodyPr wrap="square" lIns="0" tIns="0" rIns="0" bIns="0" rtlCol="0" anchor="ctr"/>
          <a:lstStyle/>
          <a:p>
            <a:pPr indent="0" marL="0">
              <a:buNone/>
            </a:pPr>
            <a:r>
              <a:rPr lang="en-US" sz="1250" dirty="0">
                <a:solidFill>
                  <a:srgbClr val="6B6F6A"/>
                </a:solidFill>
                <a:latin typeface="Calibri" pitchFamily="34" charset="0"/>
                <a:ea typeface="Calibri" pitchFamily="34" charset="-122"/>
                <a:cs typeface="Calibri" pitchFamily="34" charset="-120"/>
              </a:rPr>
              <a:t>Monétisation et perspectives</a:t>
            </a:r>
            <a:endParaRPr lang="en-US" sz="1250" dirty="0"/>
          </a:p>
        </p:txBody>
      </p:sp>
      <p:pic>
        <p:nvPicPr>
          <p:cNvPr id="44" name="Image 0" descr="img/leaf_green.png">    </p:cNvPr>
          <p:cNvPicPr>
            <a:picLocks noChangeAspect="1"/>
          </p:cNvPicPr>
          <p:nvPr/>
        </p:nvPicPr>
        <p:blipFill>
          <a:blip r:embed="rId1"/>
          <a:stretch>
            <a:fillRect/>
          </a:stretch>
        </p:blipFill>
        <p:spPr>
          <a:xfrm>
            <a:off x="502920" y="6437376"/>
            <a:ext cx="182880" cy="182880"/>
          </a:xfrm>
          <a:prstGeom prst="rect">
            <a:avLst/>
          </a:prstGeom>
        </p:spPr>
      </p:pic>
      <p:sp>
        <p:nvSpPr>
          <p:cNvPr id="45" name="Text 42"/>
          <p:cNvSpPr/>
          <p:nvPr/>
        </p:nvSpPr>
        <p:spPr>
          <a:xfrm>
            <a:off x="731520" y="6364224"/>
            <a:ext cx="1828800" cy="320040"/>
          </a:xfrm>
          <a:prstGeom prst="rect">
            <a:avLst/>
          </a:prstGeom>
          <a:noFill/>
          <a:ln/>
        </p:spPr>
        <p:txBody>
          <a:bodyPr wrap="square" rtlCol="0" anchor="ctr"/>
          <a:lstStyle/>
          <a:p>
            <a:pPr indent="0" marL="0">
              <a:buNone/>
            </a:pPr>
            <a:r>
              <a:rPr lang="en-US" sz="1100" b="1" dirty="0">
                <a:solidFill>
                  <a:srgbClr val="6B6F6A"/>
                </a:solidFill>
                <a:latin typeface="Calibri" pitchFamily="34" charset="0"/>
                <a:ea typeface="Calibri" pitchFamily="34" charset="-122"/>
                <a:cs typeface="Calibri" pitchFamily="34" charset="-120"/>
              </a:rPr>
              <a:t>EcoTrack</a:t>
            </a:r>
            <a:endParaRPr lang="en-US" sz="1100" dirty="0"/>
          </a:p>
        </p:txBody>
      </p:sp>
      <p:sp>
        <p:nvSpPr>
          <p:cNvPr id="46" name="Text 43"/>
          <p:cNvSpPr/>
          <p:nvPr/>
        </p:nvSpPr>
        <p:spPr>
          <a:xfrm>
            <a:off x="11183112" y="6364224"/>
            <a:ext cx="502920" cy="320040"/>
          </a:xfrm>
          <a:prstGeom prst="rect">
            <a:avLst/>
          </a:prstGeom>
          <a:noFill/>
          <a:ln/>
        </p:spPr>
        <p:txBody>
          <a:bodyPr wrap="square" rtlCol="0" anchor="ctr"/>
          <a:lstStyle/>
          <a:p>
            <a:pPr algn="r" indent="0" marL="0">
              <a:buNone/>
            </a:pPr>
            <a:r>
              <a:rPr lang="en-US" sz="1100" dirty="0">
                <a:solidFill>
                  <a:srgbClr val="6B6F6A"/>
                </a:solidFill>
                <a:latin typeface="Calibri" pitchFamily="34" charset="0"/>
                <a:ea typeface="Calibri" pitchFamily="34" charset="-122"/>
                <a:cs typeface="Calibri"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CF9"/>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indent="0" marL="0">
              <a:buNone/>
            </a:pPr>
            <a:r>
              <a:rPr lang="en-US" sz="1300" b="1" spc="200" kern="0" dirty="0">
                <a:solidFill>
                  <a:srgbClr val="008A48"/>
                </a:solidFill>
                <a:latin typeface="Calibri" pitchFamily="34" charset="0"/>
                <a:ea typeface="Calibri" pitchFamily="34" charset="-122"/>
                <a:cs typeface="Calibri" pitchFamily="34" charset="-120"/>
              </a:rPr>
              <a:t>01 · LE PROJET EN BREF</a:t>
            </a:r>
            <a:endParaRPr lang="en-US" sz="1300" dirty="0"/>
          </a:p>
        </p:txBody>
      </p:sp>
      <p:sp>
        <p:nvSpPr>
          <p:cNvPr id="3" name="Text 1"/>
          <p:cNvSpPr/>
          <p:nvPr/>
        </p:nvSpPr>
        <p:spPr>
          <a:xfrm>
            <a:off x="530352" y="658368"/>
            <a:ext cx="11064240" cy="685800"/>
          </a:xfrm>
          <a:prstGeom prst="rect">
            <a:avLst/>
          </a:prstGeom>
          <a:noFill/>
          <a:ln/>
        </p:spPr>
        <p:txBody>
          <a:bodyPr wrap="square" lIns="0" tIns="0" rIns="0" bIns="0" rtlCol="0" anchor="ctr"/>
          <a:lstStyle/>
          <a:p>
            <a:pPr indent="0" marL="0">
              <a:buNone/>
            </a:pPr>
            <a:r>
              <a:rPr lang="en-US" sz="3000" b="1" dirty="0">
                <a:solidFill>
                  <a:srgbClr val="1A1A1A"/>
                </a:solidFill>
                <a:latin typeface="Calibri" pitchFamily="34" charset="0"/>
                <a:ea typeface="Calibri" pitchFamily="34" charset="-122"/>
                <a:cs typeface="Calibri" pitchFamily="34" charset="-120"/>
              </a:rPr>
              <a:t>De l'intention à l'habitude durable</a:t>
            </a:r>
            <a:endParaRPr lang="en-US" sz="3000" dirty="0"/>
          </a:p>
        </p:txBody>
      </p:sp>
      <p:sp>
        <p:nvSpPr>
          <p:cNvPr id="4" name="Text 2"/>
          <p:cNvSpPr/>
          <p:nvPr/>
        </p:nvSpPr>
        <p:spPr>
          <a:xfrm>
            <a:off x="548640" y="1417320"/>
            <a:ext cx="11064240" cy="365760"/>
          </a:xfrm>
          <a:prstGeom prst="rect">
            <a:avLst/>
          </a:prstGeom>
          <a:noFill/>
          <a:ln/>
        </p:spPr>
        <p:txBody>
          <a:bodyPr wrap="square" lIns="0" tIns="0" rIns="0" bIns="0" rtlCol="0" anchor="ctr"/>
          <a:lstStyle/>
          <a:p>
            <a:pPr indent="0" marL="0">
              <a:buNone/>
            </a:pPr>
            <a:r>
              <a:rPr lang="en-US" sz="1500" i="1" dirty="0">
                <a:solidFill>
                  <a:srgbClr val="007040"/>
                </a:solidFill>
                <a:latin typeface="Calibri" pitchFamily="34" charset="0"/>
                <a:ea typeface="Calibri" pitchFamily="34" charset="-122"/>
                <a:cs typeface="Calibri" pitchFamily="34" charset="-120"/>
              </a:rPr>
              <a:t>EcoTrack rend l'impact carbone lisible, personnalisé et actionnable au quotidien.</a:t>
            </a:r>
            <a:endParaRPr lang="en-US" sz="1500" dirty="0"/>
          </a:p>
        </p:txBody>
      </p:sp>
      <p:sp>
        <p:nvSpPr>
          <p:cNvPr id="5" name="Shape 3"/>
          <p:cNvSpPr/>
          <p:nvPr/>
        </p:nvSpPr>
        <p:spPr>
          <a:xfrm>
            <a:off x="548640" y="1965960"/>
            <a:ext cx="5074920" cy="2743200"/>
          </a:xfrm>
          <a:prstGeom prst="roundRect">
            <a:avLst>
              <a:gd name="adj" fmla="val 4000"/>
            </a:avLst>
          </a:prstGeom>
          <a:solidFill>
            <a:srgbClr val="FFFFFF"/>
          </a:solidFill>
          <a:ln w="12700">
            <a:solidFill>
              <a:srgbClr val="E4E7E2"/>
            </a:solidFill>
            <a:prstDash val="solid"/>
          </a:ln>
          <a:effectLst>
            <a:outerShdw sx="100000" sy="100000" kx="0" ky="0" algn="bl" rotWithShape="0" blurRad="127000" dist="38100" dir="5400000">
              <a:srgbClr val="1A1A1A">
                <a:alpha val="10000"/>
              </a:srgbClr>
            </a:outerShdw>
          </a:effectLst>
        </p:spPr>
      </p:sp>
      <p:sp>
        <p:nvSpPr>
          <p:cNvPr id="6" name="Shape 4"/>
          <p:cNvSpPr/>
          <p:nvPr/>
        </p:nvSpPr>
        <p:spPr>
          <a:xfrm>
            <a:off x="868680" y="2286000"/>
            <a:ext cx="640080" cy="640080"/>
          </a:xfrm>
          <a:prstGeom prst="ellipse">
            <a:avLst/>
          </a:prstGeom>
          <a:solidFill>
            <a:srgbClr val="F2E3E1"/>
          </a:solidFill>
          <a:ln/>
          <a:effectLst>
            <a:outerShdw sx="100000" sy="100000" kx="0" ky="0" algn="bl" rotWithShape="0" blurRad="88900" dist="25400" dir="5400000">
              <a:srgbClr val="06402A">
                <a:alpha val="16000"/>
              </a:srgbClr>
            </a:outerShdw>
          </a:effectLst>
        </p:spPr>
      </p:sp>
      <p:pic>
        <p:nvPicPr>
          <p:cNvPr id="7" name="Image 0" descr="img/times_red.png">    </p:cNvPr>
          <p:cNvPicPr>
            <a:picLocks noChangeAspect="1"/>
          </p:cNvPicPr>
          <p:nvPr/>
        </p:nvPicPr>
        <p:blipFill>
          <a:blip r:embed="rId1"/>
          <a:stretch>
            <a:fillRect/>
          </a:stretch>
        </p:blipFill>
        <p:spPr>
          <a:xfrm>
            <a:off x="1044702" y="2462022"/>
            <a:ext cx="288036" cy="288036"/>
          </a:xfrm>
          <a:prstGeom prst="rect">
            <a:avLst/>
          </a:prstGeom>
        </p:spPr>
      </p:pic>
      <p:sp>
        <p:nvSpPr>
          <p:cNvPr id="8" name="Text 5"/>
          <p:cNvSpPr/>
          <p:nvPr/>
        </p:nvSpPr>
        <p:spPr>
          <a:xfrm>
            <a:off x="1645920" y="2331720"/>
            <a:ext cx="3657600" cy="457200"/>
          </a:xfrm>
          <a:prstGeom prst="rect">
            <a:avLst/>
          </a:prstGeom>
          <a:noFill/>
          <a:ln/>
        </p:spPr>
        <p:txBody>
          <a:bodyPr wrap="square" lIns="0" tIns="0" rIns="0" bIns="0" rtlCol="0" anchor="ctr"/>
          <a:lstStyle/>
          <a:p>
            <a:pPr indent="0" marL="0">
              <a:buNone/>
            </a:pPr>
            <a:r>
              <a:rPr lang="en-US" sz="1900" b="1" dirty="0">
                <a:solidFill>
                  <a:srgbClr val="1A1A1A"/>
                </a:solidFill>
                <a:latin typeface="Calibri" pitchFamily="34" charset="0"/>
                <a:ea typeface="Calibri" pitchFamily="34" charset="-122"/>
                <a:cs typeface="Calibri" pitchFamily="34" charset="-120"/>
              </a:rPr>
              <a:t>Le constat</a:t>
            </a:r>
            <a:endParaRPr lang="en-US" sz="1900" dirty="0"/>
          </a:p>
        </p:txBody>
      </p:sp>
      <p:sp>
        <p:nvSpPr>
          <p:cNvPr id="9" name="Text 6"/>
          <p:cNvSpPr/>
          <p:nvPr/>
        </p:nvSpPr>
        <p:spPr>
          <a:xfrm>
            <a:off x="914400" y="3063240"/>
            <a:ext cx="4572000" cy="1508760"/>
          </a:xfrm>
          <a:prstGeom prst="rect">
            <a:avLst/>
          </a:prstGeom>
          <a:noFill/>
          <a:ln/>
        </p:spPr>
        <p:txBody>
          <a:bodyPr wrap="square" lIns="0" tIns="0" rIns="0" bIns="0" rtlCol="0" anchor="ctr"/>
          <a:lstStyle/>
          <a:p>
            <a:pPr marL="177800" indent="-177800">
              <a:lnSpc>
                <a:spcPct val="105000"/>
              </a:lnSpc>
              <a:spcAft>
                <a:spcPts val="700"/>
              </a:spcAft>
              <a:buSzPct val="100000"/>
              <a:buChar char="•"/>
            </a:pPr>
            <a:r>
              <a:rPr lang="en-US" sz="1350" dirty="0">
                <a:solidFill>
                  <a:srgbClr val="1A1A1A"/>
                </a:solidFill>
                <a:latin typeface="Calibri" pitchFamily="34" charset="0"/>
                <a:ea typeface="Calibri" pitchFamily="34" charset="-122"/>
                <a:cs typeface="Calibri" pitchFamily="34" charset="-120"/>
              </a:rPr>
              <a:t>Beaucoup veulent agir, mais manquent d'outils concrets pour mesurer leurs émissions.</a:t>
            </a:r>
            <a:endParaRPr lang="en-US" sz="1350" dirty="0"/>
          </a:p>
          <a:p>
            <a:pPr marL="177800" indent="-177800">
              <a:lnSpc>
                <a:spcPct val="105000"/>
              </a:lnSpc>
              <a:spcAft>
                <a:spcPts val="700"/>
              </a:spcAft>
              <a:buSzPct val="100000"/>
              <a:buChar char="•"/>
            </a:pPr>
            <a:r>
              <a:rPr lang="en-US" sz="1350" dirty="0">
                <a:solidFill>
                  <a:srgbClr val="1A1A1A"/>
                </a:solidFill>
                <a:latin typeface="Calibri" pitchFamily="34" charset="0"/>
                <a:ea typeface="Calibri" pitchFamily="34" charset="-122"/>
                <a:cs typeface="Calibri" pitchFamily="34" charset="-120"/>
              </a:rPr>
              <a:t>Sans retour visible ni motivation adaptée, l'intention ne devient pas une habitude.</a:t>
            </a:r>
            <a:endParaRPr lang="en-US" sz="1350" dirty="0"/>
          </a:p>
          <a:p>
            <a:pPr marL="177800" indent="-177800">
              <a:lnSpc>
                <a:spcPct val="105000"/>
              </a:lnSpc>
              <a:spcAft>
                <a:spcPts val="700"/>
              </a:spcAft>
              <a:buSzPct val="100000"/>
              <a:buChar char="•"/>
            </a:pPr>
            <a:r>
              <a:rPr lang="en-US" sz="1350" dirty="0">
                <a:solidFill>
                  <a:srgbClr val="1A1A1A"/>
                </a:solidFill>
                <a:latin typeface="Calibri" pitchFamily="34" charset="0"/>
                <a:ea typeface="Calibri" pitchFamily="34" charset="-122"/>
                <a:cs typeface="Calibri" pitchFamily="34" charset="-120"/>
              </a:rPr>
              <a:t>Les discours anxiogènes découragent plus qu'ils n'engagent.</a:t>
            </a:r>
            <a:endParaRPr lang="en-US" sz="1350" dirty="0"/>
          </a:p>
        </p:txBody>
      </p:sp>
      <p:pic>
        <p:nvPicPr>
          <p:cNvPr id="10" name="Image 1" descr="img/arrow_green.png">    </p:cNvPr>
          <p:cNvPicPr>
            <a:picLocks noChangeAspect="1"/>
          </p:cNvPicPr>
          <p:nvPr/>
        </p:nvPicPr>
        <p:blipFill>
          <a:blip r:embed="rId2"/>
          <a:stretch>
            <a:fillRect/>
          </a:stretch>
        </p:blipFill>
        <p:spPr>
          <a:xfrm>
            <a:off x="5806440" y="3154680"/>
            <a:ext cx="566928" cy="566928"/>
          </a:xfrm>
          <a:prstGeom prst="rect">
            <a:avLst/>
          </a:prstGeom>
        </p:spPr>
      </p:pic>
      <p:sp>
        <p:nvSpPr>
          <p:cNvPr id="11" name="Shape 7"/>
          <p:cNvSpPr/>
          <p:nvPr/>
        </p:nvSpPr>
        <p:spPr>
          <a:xfrm>
            <a:off x="6583680" y="1965960"/>
            <a:ext cx="5074920" cy="2743200"/>
          </a:xfrm>
          <a:prstGeom prst="roundRect">
            <a:avLst>
              <a:gd name="adj" fmla="val 4000"/>
            </a:avLst>
          </a:prstGeom>
          <a:solidFill>
            <a:srgbClr val="EDF8F0"/>
          </a:solidFill>
          <a:ln w="12700">
            <a:solidFill>
              <a:srgbClr val="E4E7E2"/>
            </a:solidFill>
            <a:prstDash val="solid"/>
          </a:ln>
          <a:effectLst>
            <a:outerShdw sx="100000" sy="100000" kx="0" ky="0" algn="bl" rotWithShape="0" blurRad="127000" dist="38100" dir="5400000">
              <a:srgbClr val="1A1A1A">
                <a:alpha val="10000"/>
              </a:srgbClr>
            </a:outerShdw>
          </a:effectLst>
        </p:spPr>
      </p:sp>
      <p:sp>
        <p:nvSpPr>
          <p:cNvPr id="12" name="Shape 8"/>
          <p:cNvSpPr/>
          <p:nvPr/>
        </p:nvSpPr>
        <p:spPr>
          <a:xfrm>
            <a:off x="6903720" y="2286000"/>
            <a:ext cx="640080" cy="640080"/>
          </a:xfrm>
          <a:prstGeom prst="ellipse">
            <a:avLst/>
          </a:prstGeom>
          <a:solidFill>
            <a:srgbClr val="008A48"/>
          </a:solidFill>
          <a:ln/>
          <a:effectLst>
            <a:outerShdw sx="100000" sy="100000" kx="0" ky="0" algn="bl" rotWithShape="0" blurRad="88900" dist="25400" dir="5400000">
              <a:srgbClr val="06402A">
                <a:alpha val="16000"/>
              </a:srgbClr>
            </a:outerShdw>
          </a:effectLst>
        </p:spPr>
      </p:sp>
      <p:pic>
        <p:nvPicPr>
          <p:cNvPr id="13" name="Image 2" descr="img/leaf_white.png">    </p:cNvPr>
          <p:cNvPicPr>
            <a:picLocks noChangeAspect="1"/>
          </p:cNvPicPr>
          <p:nvPr/>
        </p:nvPicPr>
        <p:blipFill>
          <a:blip r:embed="rId3"/>
          <a:stretch>
            <a:fillRect/>
          </a:stretch>
        </p:blipFill>
        <p:spPr>
          <a:xfrm>
            <a:off x="7063740" y="2446020"/>
            <a:ext cx="320040" cy="320040"/>
          </a:xfrm>
          <a:prstGeom prst="rect">
            <a:avLst/>
          </a:prstGeom>
        </p:spPr>
      </p:pic>
      <p:sp>
        <p:nvSpPr>
          <p:cNvPr id="14" name="Text 9"/>
          <p:cNvSpPr/>
          <p:nvPr/>
        </p:nvSpPr>
        <p:spPr>
          <a:xfrm>
            <a:off x="7680960" y="2331720"/>
            <a:ext cx="3657600" cy="457200"/>
          </a:xfrm>
          <a:prstGeom prst="rect">
            <a:avLst/>
          </a:prstGeom>
          <a:noFill/>
          <a:ln/>
        </p:spPr>
        <p:txBody>
          <a:bodyPr wrap="square" lIns="0" tIns="0" rIns="0" bIns="0" rtlCol="0" anchor="ctr"/>
          <a:lstStyle/>
          <a:p>
            <a:pPr indent="0" marL="0">
              <a:buNone/>
            </a:pPr>
            <a:r>
              <a:rPr lang="en-US" sz="1900" b="1" dirty="0">
                <a:solidFill>
                  <a:srgbClr val="007040"/>
                </a:solidFill>
                <a:latin typeface="Calibri" pitchFamily="34" charset="0"/>
                <a:ea typeface="Calibri" pitchFamily="34" charset="-122"/>
                <a:cs typeface="Calibri" pitchFamily="34" charset="-120"/>
              </a:rPr>
              <a:t>Notre réponse</a:t>
            </a:r>
            <a:endParaRPr lang="en-US" sz="1900" dirty="0"/>
          </a:p>
        </p:txBody>
      </p:sp>
      <p:sp>
        <p:nvSpPr>
          <p:cNvPr id="15" name="Text 10"/>
          <p:cNvSpPr/>
          <p:nvPr/>
        </p:nvSpPr>
        <p:spPr>
          <a:xfrm>
            <a:off x="6949440" y="3063240"/>
            <a:ext cx="4572000" cy="1508760"/>
          </a:xfrm>
          <a:prstGeom prst="rect">
            <a:avLst/>
          </a:prstGeom>
          <a:noFill/>
          <a:ln/>
        </p:spPr>
        <p:txBody>
          <a:bodyPr wrap="square" lIns="0" tIns="0" rIns="0" bIns="0" rtlCol="0" anchor="ctr"/>
          <a:lstStyle/>
          <a:p>
            <a:pPr marL="177800" indent="-177800">
              <a:lnSpc>
                <a:spcPct val="105000"/>
              </a:lnSpc>
              <a:spcAft>
                <a:spcPts val="700"/>
              </a:spcAft>
              <a:buSzPct val="100000"/>
              <a:buChar char="•"/>
            </a:pPr>
            <a:r>
              <a:rPr lang="en-US" sz="1350" dirty="0">
                <a:solidFill>
                  <a:srgbClr val="1A1A1A"/>
                </a:solidFill>
                <a:latin typeface="Calibri" pitchFamily="34" charset="0"/>
                <a:ea typeface="Calibri" pitchFamily="34" charset="-122"/>
                <a:cs typeface="Calibri" pitchFamily="34" charset="-120"/>
              </a:rPr>
              <a:t>Une mesure claire de l'empreinte, détaillée par poste d'émission.</a:t>
            </a:r>
            <a:endParaRPr lang="en-US" sz="1350" dirty="0"/>
          </a:p>
          <a:p>
            <a:pPr marL="177800" indent="-177800">
              <a:lnSpc>
                <a:spcPct val="105000"/>
              </a:lnSpc>
              <a:spcAft>
                <a:spcPts val="700"/>
              </a:spcAft>
              <a:buSzPct val="100000"/>
              <a:buChar char="•"/>
            </a:pPr>
            <a:r>
              <a:rPr lang="en-US" sz="1350" dirty="0">
                <a:solidFill>
                  <a:srgbClr val="1A1A1A"/>
                </a:solidFill>
                <a:latin typeface="Calibri" pitchFamily="34" charset="0"/>
                <a:ea typeface="Calibri" pitchFamily="34" charset="-122"/>
                <a:cs typeface="Calibri" pitchFamily="34" charset="-120"/>
              </a:rPr>
              <a:t>Des défis quotidiens personnalisés selon le profil de chacun.</a:t>
            </a:r>
            <a:endParaRPr lang="en-US" sz="1350" dirty="0"/>
          </a:p>
          <a:p>
            <a:pPr marL="177800" indent="-177800">
              <a:lnSpc>
                <a:spcPct val="105000"/>
              </a:lnSpc>
              <a:spcAft>
                <a:spcPts val="700"/>
              </a:spcAft>
              <a:buSzPct val="100000"/>
              <a:buChar char="•"/>
            </a:pPr>
            <a:r>
              <a:rPr lang="en-US" sz="1350" dirty="0">
                <a:solidFill>
                  <a:srgbClr val="1A1A1A"/>
                </a:solidFill>
                <a:latin typeface="Calibri" pitchFamily="34" charset="0"/>
                <a:ea typeface="Calibri" pitchFamily="34" charset="-122"/>
                <a:cs typeface="Calibri" pitchFamily="34" charset="-120"/>
              </a:rPr>
              <a:t>Une mécanique de jeu (points, progression) qui entretient la motivation.</a:t>
            </a:r>
            <a:endParaRPr lang="en-US" sz="1350" dirty="0"/>
          </a:p>
        </p:txBody>
      </p:sp>
      <p:sp>
        <p:nvSpPr>
          <p:cNvPr id="16" name="Shape 11"/>
          <p:cNvSpPr/>
          <p:nvPr/>
        </p:nvSpPr>
        <p:spPr>
          <a:xfrm>
            <a:off x="548640" y="4983480"/>
            <a:ext cx="2651760" cy="566928"/>
          </a:xfrm>
          <a:prstGeom prst="roundRect">
            <a:avLst>
              <a:gd name="adj" fmla="val 50000"/>
            </a:avLst>
          </a:prstGeom>
          <a:solidFill>
            <a:srgbClr val="FFFFFF"/>
          </a:solidFill>
          <a:ln w="15875">
            <a:solidFill>
              <a:srgbClr val="008A48"/>
            </a:solidFill>
            <a:prstDash val="solid"/>
          </a:ln>
        </p:spPr>
      </p:sp>
      <p:pic>
        <p:nvPicPr>
          <p:cNvPr id="17" name="Image 3" descr="img/check_green.png">    </p:cNvPr>
          <p:cNvPicPr>
            <a:picLocks noChangeAspect="1"/>
          </p:cNvPicPr>
          <p:nvPr/>
        </p:nvPicPr>
        <p:blipFill>
          <a:blip r:embed="rId4"/>
          <a:stretch>
            <a:fillRect/>
          </a:stretch>
        </p:blipFill>
        <p:spPr>
          <a:xfrm>
            <a:off x="749808" y="5148072"/>
            <a:ext cx="237744" cy="237744"/>
          </a:xfrm>
          <a:prstGeom prst="rect">
            <a:avLst/>
          </a:prstGeom>
        </p:spPr>
      </p:pic>
      <p:sp>
        <p:nvSpPr>
          <p:cNvPr id="18" name="Text 12"/>
          <p:cNvSpPr/>
          <p:nvPr/>
        </p:nvSpPr>
        <p:spPr>
          <a:xfrm>
            <a:off x="1051560" y="4983480"/>
            <a:ext cx="2103120" cy="566928"/>
          </a:xfrm>
          <a:prstGeom prst="rect">
            <a:avLst/>
          </a:prstGeom>
          <a:noFill/>
          <a:ln/>
        </p:spPr>
        <p:txBody>
          <a:bodyPr wrap="square" lIns="0" tIns="0" rIns="0" bIns="0" rtlCol="0" anchor="ctr"/>
          <a:lstStyle/>
          <a:p>
            <a:pPr indent="0" marL="0">
              <a:buNone/>
            </a:pPr>
            <a:r>
              <a:rPr lang="en-US" sz="1250" b="1" dirty="0">
                <a:solidFill>
                  <a:srgbClr val="007040"/>
                </a:solidFill>
                <a:latin typeface="Calibri" pitchFamily="34" charset="0"/>
                <a:ea typeface="Calibri" pitchFamily="34" charset="-122"/>
                <a:cs typeface="Calibri" pitchFamily="34" charset="-120"/>
              </a:rPr>
              <a:t>Mesure détaillée</a:t>
            </a:r>
            <a:endParaRPr lang="en-US" sz="1250" dirty="0"/>
          </a:p>
        </p:txBody>
      </p:sp>
      <p:sp>
        <p:nvSpPr>
          <p:cNvPr id="19" name="Shape 13"/>
          <p:cNvSpPr/>
          <p:nvPr/>
        </p:nvSpPr>
        <p:spPr>
          <a:xfrm>
            <a:off x="3383280" y="4983480"/>
            <a:ext cx="2651760" cy="566928"/>
          </a:xfrm>
          <a:prstGeom prst="roundRect">
            <a:avLst>
              <a:gd name="adj" fmla="val 50000"/>
            </a:avLst>
          </a:prstGeom>
          <a:solidFill>
            <a:srgbClr val="FFFFFF"/>
          </a:solidFill>
          <a:ln w="15875">
            <a:solidFill>
              <a:srgbClr val="008A48"/>
            </a:solidFill>
            <a:prstDash val="solid"/>
          </a:ln>
        </p:spPr>
      </p:sp>
      <p:pic>
        <p:nvPicPr>
          <p:cNvPr id="20" name="Image 4" descr="img/check_green.png">    </p:cNvPr>
          <p:cNvPicPr>
            <a:picLocks noChangeAspect="1"/>
          </p:cNvPicPr>
          <p:nvPr/>
        </p:nvPicPr>
        <p:blipFill>
          <a:blip r:embed="rId5"/>
          <a:stretch>
            <a:fillRect/>
          </a:stretch>
        </p:blipFill>
        <p:spPr>
          <a:xfrm>
            <a:off x="3584448" y="5148072"/>
            <a:ext cx="237744" cy="237744"/>
          </a:xfrm>
          <a:prstGeom prst="rect">
            <a:avLst/>
          </a:prstGeom>
        </p:spPr>
      </p:pic>
      <p:sp>
        <p:nvSpPr>
          <p:cNvPr id="21" name="Text 14"/>
          <p:cNvSpPr/>
          <p:nvPr/>
        </p:nvSpPr>
        <p:spPr>
          <a:xfrm>
            <a:off x="3886200" y="4983480"/>
            <a:ext cx="2103120" cy="566928"/>
          </a:xfrm>
          <a:prstGeom prst="rect">
            <a:avLst/>
          </a:prstGeom>
          <a:noFill/>
          <a:ln/>
        </p:spPr>
        <p:txBody>
          <a:bodyPr wrap="square" lIns="0" tIns="0" rIns="0" bIns="0" rtlCol="0" anchor="ctr"/>
          <a:lstStyle/>
          <a:p>
            <a:pPr indent="0" marL="0">
              <a:buNone/>
            </a:pPr>
            <a:r>
              <a:rPr lang="en-US" sz="1250" b="1" dirty="0">
                <a:solidFill>
                  <a:srgbClr val="007040"/>
                </a:solidFill>
                <a:latin typeface="Calibri" pitchFamily="34" charset="0"/>
                <a:ea typeface="Calibri" pitchFamily="34" charset="-122"/>
                <a:cs typeface="Calibri" pitchFamily="34" charset="-120"/>
              </a:rPr>
              <a:t>Défis personnalisés</a:t>
            </a:r>
            <a:endParaRPr lang="en-US" sz="1250" dirty="0"/>
          </a:p>
        </p:txBody>
      </p:sp>
      <p:sp>
        <p:nvSpPr>
          <p:cNvPr id="22" name="Shape 15"/>
          <p:cNvSpPr/>
          <p:nvPr/>
        </p:nvSpPr>
        <p:spPr>
          <a:xfrm>
            <a:off x="6217920" y="4983480"/>
            <a:ext cx="2651760" cy="566928"/>
          </a:xfrm>
          <a:prstGeom prst="roundRect">
            <a:avLst>
              <a:gd name="adj" fmla="val 50000"/>
            </a:avLst>
          </a:prstGeom>
          <a:solidFill>
            <a:srgbClr val="FFFFFF"/>
          </a:solidFill>
          <a:ln w="15875">
            <a:solidFill>
              <a:srgbClr val="008A48"/>
            </a:solidFill>
            <a:prstDash val="solid"/>
          </a:ln>
        </p:spPr>
      </p:sp>
      <p:pic>
        <p:nvPicPr>
          <p:cNvPr id="23" name="Image 5" descr="img/check_green.png">    </p:cNvPr>
          <p:cNvPicPr>
            <a:picLocks noChangeAspect="1"/>
          </p:cNvPicPr>
          <p:nvPr/>
        </p:nvPicPr>
        <p:blipFill>
          <a:blip r:embed="rId6"/>
          <a:stretch>
            <a:fillRect/>
          </a:stretch>
        </p:blipFill>
        <p:spPr>
          <a:xfrm>
            <a:off x="6419088" y="5148072"/>
            <a:ext cx="237744" cy="237744"/>
          </a:xfrm>
          <a:prstGeom prst="rect">
            <a:avLst/>
          </a:prstGeom>
        </p:spPr>
      </p:pic>
      <p:sp>
        <p:nvSpPr>
          <p:cNvPr id="24" name="Text 16"/>
          <p:cNvSpPr/>
          <p:nvPr/>
        </p:nvSpPr>
        <p:spPr>
          <a:xfrm>
            <a:off x="6720840" y="4983480"/>
            <a:ext cx="2103120" cy="566928"/>
          </a:xfrm>
          <a:prstGeom prst="rect">
            <a:avLst/>
          </a:prstGeom>
          <a:noFill/>
          <a:ln/>
        </p:spPr>
        <p:txBody>
          <a:bodyPr wrap="square" lIns="0" tIns="0" rIns="0" bIns="0" rtlCol="0" anchor="ctr"/>
          <a:lstStyle/>
          <a:p>
            <a:pPr indent="0" marL="0">
              <a:buNone/>
            </a:pPr>
            <a:r>
              <a:rPr lang="en-US" sz="1250" b="1" dirty="0">
                <a:solidFill>
                  <a:srgbClr val="007040"/>
                </a:solidFill>
                <a:latin typeface="Calibri" pitchFamily="34" charset="0"/>
                <a:ea typeface="Calibri" pitchFamily="34" charset="-122"/>
                <a:cs typeface="Calibri" pitchFamily="34" charset="-120"/>
              </a:rPr>
              <a:t>Mécanique de jeu</a:t>
            </a:r>
            <a:endParaRPr lang="en-US" sz="1250" dirty="0"/>
          </a:p>
        </p:txBody>
      </p:sp>
      <p:sp>
        <p:nvSpPr>
          <p:cNvPr id="25" name="Shape 17"/>
          <p:cNvSpPr/>
          <p:nvPr/>
        </p:nvSpPr>
        <p:spPr>
          <a:xfrm>
            <a:off x="9052560" y="4983480"/>
            <a:ext cx="2651760" cy="566928"/>
          </a:xfrm>
          <a:prstGeom prst="roundRect">
            <a:avLst>
              <a:gd name="adj" fmla="val 50000"/>
            </a:avLst>
          </a:prstGeom>
          <a:solidFill>
            <a:srgbClr val="FFFFFF"/>
          </a:solidFill>
          <a:ln w="15875">
            <a:solidFill>
              <a:srgbClr val="008A48"/>
            </a:solidFill>
            <a:prstDash val="solid"/>
          </a:ln>
        </p:spPr>
      </p:sp>
      <p:pic>
        <p:nvPicPr>
          <p:cNvPr id="26" name="Image 6" descr="img/check_green.png">    </p:cNvPr>
          <p:cNvPicPr>
            <a:picLocks noChangeAspect="1"/>
          </p:cNvPicPr>
          <p:nvPr/>
        </p:nvPicPr>
        <p:blipFill>
          <a:blip r:embed="rId7"/>
          <a:stretch>
            <a:fillRect/>
          </a:stretch>
        </p:blipFill>
        <p:spPr>
          <a:xfrm>
            <a:off x="9253728" y="5148072"/>
            <a:ext cx="237744" cy="237744"/>
          </a:xfrm>
          <a:prstGeom prst="rect">
            <a:avLst/>
          </a:prstGeom>
        </p:spPr>
      </p:pic>
      <p:sp>
        <p:nvSpPr>
          <p:cNvPr id="27" name="Text 18"/>
          <p:cNvSpPr/>
          <p:nvPr/>
        </p:nvSpPr>
        <p:spPr>
          <a:xfrm>
            <a:off x="9555480" y="4983480"/>
            <a:ext cx="2103120" cy="566928"/>
          </a:xfrm>
          <a:prstGeom prst="rect">
            <a:avLst/>
          </a:prstGeom>
          <a:noFill/>
          <a:ln/>
        </p:spPr>
        <p:txBody>
          <a:bodyPr wrap="square" lIns="0" tIns="0" rIns="0" bIns="0" rtlCol="0" anchor="ctr"/>
          <a:lstStyle/>
          <a:p>
            <a:pPr indent="0" marL="0">
              <a:buNone/>
            </a:pPr>
            <a:r>
              <a:rPr lang="en-US" sz="1250" b="1" dirty="0">
                <a:solidFill>
                  <a:srgbClr val="007040"/>
                </a:solidFill>
                <a:latin typeface="Calibri" pitchFamily="34" charset="0"/>
                <a:ea typeface="Calibri" pitchFamily="34" charset="-122"/>
                <a:cs typeface="Calibri" pitchFamily="34" charset="-120"/>
              </a:rPr>
              <a:t>CO2 chiffré</a:t>
            </a:r>
            <a:endParaRPr lang="en-US" sz="1250" dirty="0"/>
          </a:p>
        </p:txBody>
      </p:sp>
      <p:pic>
        <p:nvPicPr>
          <p:cNvPr id="28" name="Image 7" descr="img/leaf_green.png">    </p:cNvPr>
          <p:cNvPicPr>
            <a:picLocks noChangeAspect="1"/>
          </p:cNvPicPr>
          <p:nvPr/>
        </p:nvPicPr>
        <p:blipFill>
          <a:blip r:embed="rId8"/>
          <a:stretch>
            <a:fillRect/>
          </a:stretch>
        </p:blipFill>
        <p:spPr>
          <a:xfrm>
            <a:off x="502920" y="6437376"/>
            <a:ext cx="182880" cy="182880"/>
          </a:xfrm>
          <a:prstGeom prst="rect">
            <a:avLst/>
          </a:prstGeom>
        </p:spPr>
      </p:pic>
      <p:sp>
        <p:nvSpPr>
          <p:cNvPr id="29" name="Text 19"/>
          <p:cNvSpPr/>
          <p:nvPr/>
        </p:nvSpPr>
        <p:spPr>
          <a:xfrm>
            <a:off x="731520" y="6364224"/>
            <a:ext cx="1828800" cy="320040"/>
          </a:xfrm>
          <a:prstGeom prst="rect">
            <a:avLst/>
          </a:prstGeom>
          <a:noFill/>
          <a:ln/>
        </p:spPr>
        <p:txBody>
          <a:bodyPr wrap="square" rtlCol="0" anchor="ctr"/>
          <a:lstStyle/>
          <a:p>
            <a:pPr indent="0" marL="0">
              <a:buNone/>
            </a:pPr>
            <a:r>
              <a:rPr lang="en-US" sz="1100" b="1" dirty="0">
                <a:solidFill>
                  <a:srgbClr val="6B6F6A"/>
                </a:solidFill>
                <a:latin typeface="Calibri" pitchFamily="34" charset="0"/>
                <a:ea typeface="Calibri" pitchFamily="34" charset="-122"/>
                <a:cs typeface="Calibri" pitchFamily="34" charset="-120"/>
              </a:rPr>
              <a:t>EcoTrack</a:t>
            </a:r>
            <a:endParaRPr lang="en-US" sz="1100" dirty="0"/>
          </a:p>
        </p:txBody>
      </p:sp>
      <p:sp>
        <p:nvSpPr>
          <p:cNvPr id="30" name="Text 20"/>
          <p:cNvSpPr/>
          <p:nvPr/>
        </p:nvSpPr>
        <p:spPr>
          <a:xfrm>
            <a:off x="11183112" y="6364224"/>
            <a:ext cx="502920" cy="320040"/>
          </a:xfrm>
          <a:prstGeom prst="rect">
            <a:avLst/>
          </a:prstGeom>
          <a:noFill/>
          <a:ln/>
        </p:spPr>
        <p:txBody>
          <a:bodyPr wrap="square" rtlCol="0" anchor="ctr"/>
          <a:lstStyle/>
          <a:p>
            <a:pPr algn="r" indent="0" marL="0">
              <a:buNone/>
            </a:pPr>
            <a:r>
              <a:rPr lang="en-US" sz="1100" dirty="0">
                <a:solidFill>
                  <a:srgbClr val="6B6F6A"/>
                </a:solidFill>
                <a:latin typeface="Calibri" pitchFamily="34" charset="0"/>
                <a:ea typeface="Calibri" pitchFamily="34" charset="-122"/>
                <a:cs typeface="Calibri"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CF9"/>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indent="0" marL="0">
              <a:buNone/>
            </a:pPr>
            <a:r>
              <a:rPr lang="en-US" sz="1300" b="1" spc="200" kern="0" dirty="0">
                <a:solidFill>
                  <a:srgbClr val="008A48"/>
                </a:solidFill>
                <a:latin typeface="Calibri" pitchFamily="34" charset="0"/>
                <a:ea typeface="Calibri" pitchFamily="34" charset="-122"/>
                <a:cs typeface="Calibri" pitchFamily="34" charset="-120"/>
              </a:rPr>
              <a:t>02 · CONTEXTE &amp; ENJEUX</a:t>
            </a:r>
            <a:endParaRPr lang="en-US" sz="1300" dirty="0"/>
          </a:p>
        </p:txBody>
      </p:sp>
      <p:sp>
        <p:nvSpPr>
          <p:cNvPr id="3" name="Text 1"/>
          <p:cNvSpPr/>
          <p:nvPr/>
        </p:nvSpPr>
        <p:spPr>
          <a:xfrm>
            <a:off x="530352" y="658368"/>
            <a:ext cx="11064240" cy="685800"/>
          </a:xfrm>
          <a:prstGeom prst="rect">
            <a:avLst/>
          </a:prstGeom>
          <a:noFill/>
          <a:ln/>
        </p:spPr>
        <p:txBody>
          <a:bodyPr wrap="square" lIns="0" tIns="0" rIns="0" bIns="0" rtlCol="0" anchor="ctr"/>
          <a:lstStyle/>
          <a:p>
            <a:pPr indent="0" marL="0">
              <a:buNone/>
            </a:pPr>
            <a:r>
              <a:rPr lang="en-US" sz="3000" b="1" dirty="0">
                <a:solidFill>
                  <a:srgbClr val="1A1A1A"/>
                </a:solidFill>
                <a:latin typeface="Calibri" pitchFamily="34" charset="0"/>
                <a:ea typeface="Calibri" pitchFamily="34" charset="-122"/>
                <a:cs typeface="Calibri" pitchFamily="34" charset="-120"/>
              </a:rPr>
              <a:t>Un enjeu de société chiffré</a:t>
            </a:r>
            <a:endParaRPr lang="en-US" sz="3000" dirty="0"/>
          </a:p>
        </p:txBody>
      </p:sp>
      <p:sp>
        <p:nvSpPr>
          <p:cNvPr id="4" name="Shape 2"/>
          <p:cNvSpPr/>
          <p:nvPr/>
        </p:nvSpPr>
        <p:spPr>
          <a:xfrm>
            <a:off x="548640" y="1600200"/>
            <a:ext cx="5029200" cy="1828800"/>
          </a:xfrm>
          <a:prstGeom prst="roundRect">
            <a:avLst>
              <a:gd name="adj" fmla="val 6000"/>
            </a:avLst>
          </a:prstGeom>
          <a:solidFill>
            <a:srgbClr val="FFFFFF"/>
          </a:solidFill>
          <a:ln w="12700">
            <a:solidFill>
              <a:srgbClr val="E4E7E2"/>
            </a:solidFill>
            <a:prstDash val="solid"/>
          </a:ln>
          <a:effectLst>
            <a:outerShdw sx="100000" sy="100000" kx="0" ky="0" algn="bl" rotWithShape="0" blurRad="127000" dist="38100" dir="5400000">
              <a:srgbClr val="1A1A1A">
                <a:alpha val="10000"/>
              </a:srgbClr>
            </a:outerShdw>
          </a:effectLst>
        </p:spPr>
      </p:sp>
      <p:sp>
        <p:nvSpPr>
          <p:cNvPr id="5" name="Text 3"/>
          <p:cNvSpPr/>
          <p:nvPr/>
        </p:nvSpPr>
        <p:spPr>
          <a:xfrm>
            <a:off x="822960" y="1737360"/>
            <a:ext cx="2377440" cy="914400"/>
          </a:xfrm>
          <a:prstGeom prst="rect">
            <a:avLst/>
          </a:prstGeom>
          <a:noFill/>
          <a:ln/>
        </p:spPr>
        <p:txBody>
          <a:bodyPr wrap="square" lIns="0" tIns="0" rIns="0" bIns="0" rtlCol="0" anchor="ctr"/>
          <a:lstStyle/>
          <a:p>
            <a:pPr indent="0" marL="0">
              <a:buNone/>
            </a:pPr>
            <a:r>
              <a:rPr lang="en-US" sz="5400" b="1" dirty="0">
                <a:solidFill>
                  <a:srgbClr val="008A48"/>
                </a:solidFill>
                <a:latin typeface="Calibri" pitchFamily="34" charset="0"/>
                <a:ea typeface="Calibri" pitchFamily="34" charset="-122"/>
                <a:cs typeface="Calibri" pitchFamily="34" charset="-120"/>
              </a:rPr>
              <a:t>8,2 t</a:t>
            </a:r>
            <a:endParaRPr lang="en-US" sz="5400" dirty="0"/>
          </a:p>
        </p:txBody>
      </p:sp>
      <p:sp>
        <p:nvSpPr>
          <p:cNvPr id="6" name="Text 4"/>
          <p:cNvSpPr/>
          <p:nvPr/>
        </p:nvSpPr>
        <p:spPr>
          <a:xfrm>
            <a:off x="3063240" y="1783080"/>
            <a:ext cx="2377440" cy="91440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CO2 / an</a:t>
            </a:r>
            <a:endParaRPr lang="en-US" sz="1400" dirty="0"/>
          </a:p>
          <a:p>
            <a:pPr indent="0" marL="0">
              <a:buNone/>
            </a:pPr>
            <a:r>
              <a:rPr lang="en-US" sz="1400" dirty="0">
                <a:solidFill>
                  <a:srgbClr val="6B6F6A"/>
                </a:solidFill>
                <a:latin typeface="Calibri" pitchFamily="34" charset="0"/>
                <a:ea typeface="Calibri" pitchFamily="34" charset="-122"/>
                <a:cs typeface="Calibri" pitchFamily="34" charset="-120"/>
              </a:rPr>
              <a:t>par Français (2024)</a:t>
            </a:r>
            <a:endParaRPr lang="en-US" sz="1400" dirty="0"/>
          </a:p>
        </p:txBody>
      </p:sp>
      <p:sp>
        <p:nvSpPr>
          <p:cNvPr id="7" name="Shape 5"/>
          <p:cNvSpPr/>
          <p:nvPr/>
        </p:nvSpPr>
        <p:spPr>
          <a:xfrm>
            <a:off x="548640" y="3611880"/>
            <a:ext cx="5029200" cy="1783080"/>
          </a:xfrm>
          <a:prstGeom prst="roundRect">
            <a:avLst>
              <a:gd name="adj" fmla="val 6154"/>
            </a:avLst>
          </a:prstGeom>
          <a:solidFill>
            <a:srgbClr val="EDF8F0"/>
          </a:solidFill>
          <a:ln w="12700">
            <a:solidFill>
              <a:srgbClr val="E4E7E2"/>
            </a:solidFill>
            <a:prstDash val="solid"/>
          </a:ln>
          <a:effectLst>
            <a:outerShdw sx="100000" sy="100000" kx="0" ky="0" algn="bl" rotWithShape="0" blurRad="127000" dist="38100" dir="5400000">
              <a:srgbClr val="1A1A1A">
                <a:alpha val="10000"/>
              </a:srgbClr>
            </a:outerShdw>
          </a:effectLst>
        </p:spPr>
      </p:sp>
      <p:sp>
        <p:nvSpPr>
          <p:cNvPr id="8" name="Text 6"/>
          <p:cNvSpPr/>
          <p:nvPr/>
        </p:nvSpPr>
        <p:spPr>
          <a:xfrm>
            <a:off x="822960" y="3794760"/>
            <a:ext cx="4389120" cy="640080"/>
          </a:xfrm>
          <a:prstGeom prst="rect">
            <a:avLst/>
          </a:prstGeom>
          <a:noFill/>
          <a:ln/>
        </p:spPr>
        <p:txBody>
          <a:bodyPr wrap="square" lIns="0" tIns="0" rIns="0" bIns="0" rtlCol="0" anchor="ctr"/>
          <a:lstStyle/>
          <a:p>
            <a:pPr indent="0" marL="0">
              <a:buNone/>
            </a:pPr>
            <a:r>
              <a:rPr lang="en-US" sz="4000" b="1" dirty="0">
                <a:solidFill>
                  <a:srgbClr val="007040"/>
                </a:solidFill>
                <a:latin typeface="Calibri" pitchFamily="34" charset="0"/>
                <a:ea typeface="Calibri" pitchFamily="34" charset="-122"/>
                <a:cs typeface="Calibri" pitchFamily="34" charset="-120"/>
              </a:rPr>
              <a:t>÷4</a:t>
            </a:r>
            <a:pPr indent="0" marL="0">
              <a:buNone/>
            </a:pPr>
            <a:r>
              <a:rPr lang="en-US" sz="1600" b="1" dirty="0">
                <a:solidFill>
                  <a:srgbClr val="1A1A1A"/>
                </a:solidFill>
                <a:latin typeface="Calibri" pitchFamily="34" charset="0"/>
                <a:ea typeface="Calibri" pitchFamily="34" charset="-122"/>
                <a:cs typeface="Calibri" pitchFamily="34" charset="-120"/>
              </a:rPr>
              <a:t>  objectif</a:t>
            </a:r>
            <a:endParaRPr lang="en-US" sz="4000" dirty="0"/>
          </a:p>
        </p:txBody>
      </p:sp>
      <p:sp>
        <p:nvSpPr>
          <p:cNvPr id="9" name="Text 7"/>
          <p:cNvSpPr/>
          <p:nvPr/>
        </p:nvSpPr>
        <p:spPr>
          <a:xfrm>
            <a:off x="822960" y="4526280"/>
            <a:ext cx="4480560" cy="731520"/>
          </a:xfrm>
          <a:prstGeom prst="rect">
            <a:avLst/>
          </a:prstGeom>
          <a:noFill/>
          <a:ln/>
        </p:spPr>
        <p:txBody>
          <a:bodyPr wrap="square" lIns="0" tIns="0" rIns="0" bIns="0" rtlCol="0" anchor="ctr"/>
          <a:lstStyle/>
          <a:p>
            <a:pPr indent="0" marL="0">
              <a:buNone/>
            </a:pPr>
            <a:r>
              <a:rPr lang="en-US" sz="1400" dirty="0">
                <a:solidFill>
                  <a:srgbClr val="1A1A1A"/>
                </a:solidFill>
                <a:latin typeface="Calibri" pitchFamily="34" charset="0"/>
                <a:ea typeface="Calibri" pitchFamily="34" charset="-122"/>
                <a:cs typeface="Calibri" pitchFamily="34" charset="-120"/>
              </a:rPr>
              <a:t>Ramener l'empreinte autour de 2 t d'ici 2050 (Accord de Paris).</a:t>
            </a:r>
            <a:endParaRPr lang="en-US" sz="1400" dirty="0"/>
          </a:p>
        </p:txBody>
      </p:sp>
      <p:sp>
        <p:nvSpPr>
          <p:cNvPr id="10" name="Text 8"/>
          <p:cNvSpPr/>
          <p:nvPr/>
        </p:nvSpPr>
        <p:spPr>
          <a:xfrm>
            <a:off x="5943600" y="1554480"/>
            <a:ext cx="5669280" cy="365760"/>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Répartition de l'empreinte d'un Français</a:t>
            </a:r>
            <a:endParaRPr lang="en-US" sz="1500" dirty="0"/>
          </a:p>
        </p:txBody>
      </p:sp>
      <p:graphicFrame>
        <p:nvGraphicFramePr>
          <p:cNvPr id="11" name="Chart 0" descr=""/>
          <p:cNvGraphicFramePr/>
          <p:nvPr/>
        </p:nvGraphicFramePr>
        <p:xfrm>
          <a:off x="5852160" y="1828800"/>
          <a:ext cx="5852160" cy="3566160"/>
        </p:xfrm>
        <a:graphic xmlns:a="http://schemas.openxmlformats.org/drawingml/2006/main">
          <a:graphicData uri="http://schemas.openxmlformats.org/drawingml/2006/chart">
            <c:chart xmlns:c="http://schemas.openxmlformats.org/drawingml/2006/chart" r:id="rId1"/>
          </a:graphicData>
        </a:graphic>
      </p:graphicFrame>
      <p:sp>
        <p:nvSpPr>
          <p:cNvPr id="12" name="Text 9"/>
          <p:cNvSpPr/>
          <p:nvPr/>
        </p:nvSpPr>
        <p:spPr>
          <a:xfrm>
            <a:off x="548640" y="5897880"/>
            <a:ext cx="10972800" cy="274320"/>
          </a:xfrm>
          <a:prstGeom prst="rect">
            <a:avLst/>
          </a:prstGeom>
          <a:noFill/>
          <a:ln/>
        </p:spPr>
        <p:txBody>
          <a:bodyPr wrap="square" lIns="0" tIns="0" rIns="0" bIns="0" rtlCol="0" anchor="ctr"/>
          <a:lstStyle/>
          <a:p>
            <a:pPr indent="0" marL="0">
              <a:buNone/>
            </a:pPr>
            <a:r>
              <a:rPr lang="en-US" sz="1050" i="1" dirty="0">
                <a:solidFill>
                  <a:srgbClr val="6B6F6A"/>
                </a:solidFill>
                <a:latin typeface="Calibri" pitchFamily="34" charset="0"/>
                <a:ea typeface="Calibri" pitchFamily="34" charset="-122"/>
                <a:cs typeface="Calibri" pitchFamily="34" charset="-120"/>
              </a:rPr>
              <a:t>Source : Insee &amp; Service des données et études statistiques (SDES), 2024-2025.</a:t>
            </a:r>
            <a:endParaRPr lang="en-US" sz="1050" dirty="0"/>
          </a:p>
        </p:txBody>
      </p:sp>
      <p:pic>
        <p:nvPicPr>
          <p:cNvPr id="13" name="Image 0" descr="img/leaf_green.png">    </p:cNvPr>
          <p:cNvPicPr>
            <a:picLocks noChangeAspect="1"/>
          </p:cNvPicPr>
          <p:nvPr/>
        </p:nvPicPr>
        <p:blipFill>
          <a:blip r:embed="rId2"/>
          <a:stretch>
            <a:fillRect/>
          </a:stretch>
        </p:blipFill>
        <p:spPr>
          <a:xfrm>
            <a:off x="502920" y="6437376"/>
            <a:ext cx="182880" cy="182880"/>
          </a:xfrm>
          <a:prstGeom prst="rect">
            <a:avLst/>
          </a:prstGeom>
        </p:spPr>
      </p:pic>
      <p:sp>
        <p:nvSpPr>
          <p:cNvPr id="14" name="Text 10"/>
          <p:cNvSpPr/>
          <p:nvPr/>
        </p:nvSpPr>
        <p:spPr>
          <a:xfrm>
            <a:off x="731520" y="6364224"/>
            <a:ext cx="1828800" cy="320040"/>
          </a:xfrm>
          <a:prstGeom prst="rect">
            <a:avLst/>
          </a:prstGeom>
          <a:noFill/>
          <a:ln/>
        </p:spPr>
        <p:txBody>
          <a:bodyPr wrap="square" rtlCol="0" anchor="ctr"/>
          <a:lstStyle/>
          <a:p>
            <a:pPr indent="0" marL="0">
              <a:buNone/>
            </a:pPr>
            <a:r>
              <a:rPr lang="en-US" sz="1100" b="1" dirty="0">
                <a:solidFill>
                  <a:srgbClr val="6B6F6A"/>
                </a:solidFill>
                <a:latin typeface="Calibri" pitchFamily="34" charset="0"/>
                <a:ea typeface="Calibri" pitchFamily="34" charset="-122"/>
                <a:cs typeface="Calibri" pitchFamily="34" charset="-120"/>
              </a:rPr>
              <a:t>EcoTrack</a:t>
            </a:r>
            <a:endParaRPr lang="en-US" sz="1100" dirty="0"/>
          </a:p>
        </p:txBody>
      </p:sp>
      <p:sp>
        <p:nvSpPr>
          <p:cNvPr id="15" name="Text 11"/>
          <p:cNvSpPr/>
          <p:nvPr/>
        </p:nvSpPr>
        <p:spPr>
          <a:xfrm>
            <a:off x="11183112" y="6364224"/>
            <a:ext cx="502920" cy="320040"/>
          </a:xfrm>
          <a:prstGeom prst="rect">
            <a:avLst/>
          </a:prstGeom>
          <a:noFill/>
          <a:ln/>
        </p:spPr>
        <p:txBody>
          <a:bodyPr wrap="square" rtlCol="0" anchor="ctr"/>
          <a:lstStyle/>
          <a:p>
            <a:pPr algn="r" indent="0" marL="0">
              <a:buNone/>
            </a:pPr>
            <a:r>
              <a:rPr lang="en-US" sz="1100" dirty="0">
                <a:solidFill>
                  <a:srgbClr val="6B6F6A"/>
                </a:solidFill>
                <a:latin typeface="Calibri" pitchFamily="34" charset="0"/>
                <a:ea typeface="Calibri" pitchFamily="34" charset="-122"/>
                <a:cs typeface="Calibri"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CF9"/>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indent="0" marL="0">
              <a:buNone/>
            </a:pPr>
            <a:r>
              <a:rPr lang="en-US" sz="1300" b="1" spc="200" kern="0" dirty="0">
                <a:solidFill>
                  <a:srgbClr val="008A48"/>
                </a:solidFill>
                <a:latin typeface="Calibri" pitchFamily="34" charset="0"/>
                <a:ea typeface="Calibri" pitchFamily="34" charset="-122"/>
                <a:cs typeface="Calibri" pitchFamily="34" charset="-120"/>
              </a:rPr>
              <a:t>02 · MARCHÉ &amp; LEVIER</a:t>
            </a:r>
            <a:endParaRPr lang="en-US" sz="1300" dirty="0"/>
          </a:p>
        </p:txBody>
      </p:sp>
      <p:sp>
        <p:nvSpPr>
          <p:cNvPr id="3" name="Text 1"/>
          <p:cNvSpPr/>
          <p:nvPr/>
        </p:nvSpPr>
        <p:spPr>
          <a:xfrm>
            <a:off x="530352" y="658368"/>
            <a:ext cx="11064240" cy="685800"/>
          </a:xfrm>
          <a:prstGeom prst="rect">
            <a:avLst/>
          </a:prstGeom>
          <a:noFill/>
          <a:ln/>
        </p:spPr>
        <p:txBody>
          <a:bodyPr wrap="square" lIns="0" tIns="0" rIns="0" bIns="0" rtlCol="0" anchor="ctr"/>
          <a:lstStyle/>
          <a:p>
            <a:pPr indent="0" marL="0">
              <a:buNone/>
            </a:pPr>
            <a:r>
              <a:rPr lang="en-US" sz="3000" b="1" dirty="0">
                <a:solidFill>
                  <a:srgbClr val="1A1A1A"/>
                </a:solidFill>
                <a:latin typeface="Calibri" pitchFamily="34" charset="0"/>
                <a:ea typeface="Calibri" pitchFamily="34" charset="-122"/>
                <a:cs typeface="Calibri" pitchFamily="34" charset="-120"/>
              </a:rPr>
              <a:t>Un marché porteur, un levier qui marche</a:t>
            </a:r>
            <a:endParaRPr lang="en-US" sz="3000" dirty="0"/>
          </a:p>
        </p:txBody>
      </p:sp>
      <p:sp>
        <p:nvSpPr>
          <p:cNvPr id="4" name="Shape 2"/>
          <p:cNvSpPr/>
          <p:nvPr/>
        </p:nvSpPr>
        <p:spPr>
          <a:xfrm>
            <a:off x="548640" y="1645920"/>
            <a:ext cx="2514600" cy="1188720"/>
          </a:xfrm>
          <a:prstGeom prst="roundRect">
            <a:avLst>
              <a:gd name="adj" fmla="val 9231"/>
            </a:avLst>
          </a:prstGeom>
          <a:solidFill>
            <a:srgbClr val="FFFFFF"/>
          </a:solidFill>
          <a:ln w="12700">
            <a:solidFill>
              <a:srgbClr val="E4E7E2"/>
            </a:solidFill>
            <a:prstDash val="solid"/>
          </a:ln>
          <a:effectLst>
            <a:outerShdw sx="100000" sy="100000" kx="0" ky="0" algn="bl" rotWithShape="0" blurRad="127000" dist="38100" dir="5400000">
              <a:srgbClr val="1A1A1A">
                <a:alpha val="10000"/>
              </a:srgbClr>
            </a:outerShdw>
          </a:effectLst>
        </p:spPr>
      </p:sp>
      <p:sp>
        <p:nvSpPr>
          <p:cNvPr id="5" name="Text 3"/>
          <p:cNvSpPr/>
          <p:nvPr/>
        </p:nvSpPr>
        <p:spPr>
          <a:xfrm>
            <a:off x="713232" y="1755648"/>
            <a:ext cx="2194560" cy="548640"/>
          </a:xfrm>
          <a:prstGeom prst="rect">
            <a:avLst/>
          </a:prstGeom>
          <a:noFill/>
          <a:ln/>
        </p:spPr>
        <p:txBody>
          <a:bodyPr wrap="square" lIns="0" tIns="0" rIns="0" bIns="0" rtlCol="0" anchor="ctr"/>
          <a:lstStyle/>
          <a:p>
            <a:pPr indent="0" marL="0">
              <a:buNone/>
            </a:pPr>
            <a:r>
              <a:rPr lang="en-US" sz="2600" b="1" dirty="0">
                <a:solidFill>
                  <a:srgbClr val="008A48"/>
                </a:solidFill>
                <a:latin typeface="Calibri" pitchFamily="34" charset="0"/>
                <a:ea typeface="Calibri" pitchFamily="34" charset="-122"/>
                <a:cs typeface="Calibri" pitchFamily="34" charset="-120"/>
              </a:rPr>
              <a:t>1,4 Md$</a:t>
            </a:r>
            <a:endParaRPr lang="en-US" sz="2600" dirty="0"/>
          </a:p>
        </p:txBody>
      </p:sp>
      <p:sp>
        <p:nvSpPr>
          <p:cNvPr id="6" name="Text 4"/>
          <p:cNvSpPr/>
          <p:nvPr/>
        </p:nvSpPr>
        <p:spPr>
          <a:xfrm>
            <a:off x="713232" y="2304288"/>
            <a:ext cx="2240280" cy="457200"/>
          </a:xfrm>
          <a:prstGeom prst="rect">
            <a:avLst/>
          </a:prstGeom>
          <a:noFill/>
          <a:ln/>
        </p:spPr>
        <p:txBody>
          <a:bodyPr wrap="square" lIns="0" tIns="0" rIns="0" bIns="0" rtlCol="0" anchor="ctr"/>
          <a:lstStyle/>
          <a:p>
            <a:pPr indent="0" marL="0">
              <a:buNone/>
            </a:pPr>
            <a:r>
              <a:rPr lang="en-US" sz="1100" dirty="0">
                <a:solidFill>
                  <a:srgbClr val="6B6F6A"/>
                </a:solidFill>
                <a:latin typeface="Calibri" pitchFamily="34" charset="0"/>
                <a:ea typeface="Calibri" pitchFamily="34" charset="-122"/>
                <a:cs typeface="Calibri" pitchFamily="34" charset="-120"/>
              </a:rPr>
              <a:t>Marché mondial des apps carbone (2025)</a:t>
            </a:r>
            <a:endParaRPr lang="en-US" sz="1100" dirty="0"/>
          </a:p>
        </p:txBody>
      </p:sp>
      <p:sp>
        <p:nvSpPr>
          <p:cNvPr id="7" name="Shape 5"/>
          <p:cNvSpPr/>
          <p:nvPr/>
        </p:nvSpPr>
        <p:spPr>
          <a:xfrm>
            <a:off x="3200400" y="1645920"/>
            <a:ext cx="2514600" cy="1188720"/>
          </a:xfrm>
          <a:prstGeom prst="roundRect">
            <a:avLst>
              <a:gd name="adj" fmla="val 9231"/>
            </a:avLst>
          </a:prstGeom>
          <a:solidFill>
            <a:srgbClr val="FFFFFF"/>
          </a:solidFill>
          <a:ln w="12700">
            <a:solidFill>
              <a:srgbClr val="E4E7E2"/>
            </a:solidFill>
            <a:prstDash val="solid"/>
          </a:ln>
          <a:effectLst>
            <a:outerShdw sx="100000" sy="100000" kx="0" ky="0" algn="bl" rotWithShape="0" blurRad="127000" dist="38100" dir="5400000">
              <a:srgbClr val="1A1A1A">
                <a:alpha val="10000"/>
              </a:srgbClr>
            </a:outerShdw>
          </a:effectLst>
        </p:spPr>
      </p:sp>
      <p:sp>
        <p:nvSpPr>
          <p:cNvPr id="8" name="Text 6"/>
          <p:cNvSpPr/>
          <p:nvPr/>
        </p:nvSpPr>
        <p:spPr>
          <a:xfrm>
            <a:off x="3364992" y="1755648"/>
            <a:ext cx="2194560" cy="548640"/>
          </a:xfrm>
          <a:prstGeom prst="rect">
            <a:avLst/>
          </a:prstGeom>
          <a:noFill/>
          <a:ln/>
        </p:spPr>
        <p:txBody>
          <a:bodyPr wrap="square" lIns="0" tIns="0" rIns="0" bIns="0" rtlCol="0" anchor="ctr"/>
          <a:lstStyle/>
          <a:p>
            <a:pPr indent="0" marL="0">
              <a:buNone/>
            </a:pPr>
            <a:r>
              <a:rPr lang="en-US" sz="2600" b="1" dirty="0">
                <a:solidFill>
                  <a:srgbClr val="008A48"/>
                </a:solidFill>
                <a:latin typeface="Calibri" pitchFamily="34" charset="0"/>
                <a:ea typeface="Calibri" pitchFamily="34" charset="-122"/>
                <a:cs typeface="Calibri" pitchFamily="34" charset="-120"/>
              </a:rPr>
              <a:t>6,8 Md$</a:t>
            </a:r>
            <a:endParaRPr lang="en-US" sz="2600" dirty="0"/>
          </a:p>
        </p:txBody>
      </p:sp>
      <p:sp>
        <p:nvSpPr>
          <p:cNvPr id="9" name="Text 7"/>
          <p:cNvSpPr/>
          <p:nvPr/>
        </p:nvSpPr>
        <p:spPr>
          <a:xfrm>
            <a:off x="3364992" y="2304288"/>
            <a:ext cx="2240280" cy="457200"/>
          </a:xfrm>
          <a:prstGeom prst="rect">
            <a:avLst/>
          </a:prstGeom>
          <a:noFill/>
          <a:ln/>
        </p:spPr>
        <p:txBody>
          <a:bodyPr wrap="square" lIns="0" tIns="0" rIns="0" bIns="0" rtlCol="0" anchor="ctr"/>
          <a:lstStyle/>
          <a:p>
            <a:pPr indent="0" marL="0">
              <a:buNone/>
            </a:pPr>
            <a:r>
              <a:rPr lang="en-US" sz="1100" dirty="0">
                <a:solidFill>
                  <a:srgbClr val="6B6F6A"/>
                </a:solidFill>
                <a:latin typeface="Calibri" pitchFamily="34" charset="0"/>
                <a:ea typeface="Calibri" pitchFamily="34" charset="-122"/>
                <a:cs typeface="Calibri" pitchFamily="34" charset="-120"/>
              </a:rPr>
              <a:t>Projection à l'horizon 2035</a:t>
            </a:r>
            <a:endParaRPr lang="en-US" sz="1100" dirty="0"/>
          </a:p>
        </p:txBody>
      </p:sp>
      <p:sp>
        <p:nvSpPr>
          <p:cNvPr id="10" name="Shape 8"/>
          <p:cNvSpPr/>
          <p:nvPr/>
        </p:nvSpPr>
        <p:spPr>
          <a:xfrm>
            <a:off x="548640" y="2971800"/>
            <a:ext cx="2514600" cy="1188720"/>
          </a:xfrm>
          <a:prstGeom prst="roundRect">
            <a:avLst>
              <a:gd name="adj" fmla="val 9231"/>
            </a:avLst>
          </a:prstGeom>
          <a:solidFill>
            <a:srgbClr val="FFFFFF"/>
          </a:solidFill>
          <a:ln w="12700">
            <a:solidFill>
              <a:srgbClr val="E4E7E2"/>
            </a:solidFill>
            <a:prstDash val="solid"/>
          </a:ln>
          <a:effectLst>
            <a:outerShdw sx="100000" sy="100000" kx="0" ky="0" algn="bl" rotWithShape="0" blurRad="127000" dist="38100" dir="5400000">
              <a:srgbClr val="1A1A1A">
                <a:alpha val="10000"/>
              </a:srgbClr>
            </a:outerShdw>
          </a:effectLst>
        </p:spPr>
      </p:sp>
      <p:sp>
        <p:nvSpPr>
          <p:cNvPr id="11" name="Text 9"/>
          <p:cNvSpPr/>
          <p:nvPr/>
        </p:nvSpPr>
        <p:spPr>
          <a:xfrm>
            <a:off x="713232" y="3081528"/>
            <a:ext cx="2194560" cy="548640"/>
          </a:xfrm>
          <a:prstGeom prst="rect">
            <a:avLst/>
          </a:prstGeom>
          <a:noFill/>
          <a:ln/>
        </p:spPr>
        <p:txBody>
          <a:bodyPr wrap="square" lIns="0" tIns="0" rIns="0" bIns="0" rtlCol="0" anchor="ctr"/>
          <a:lstStyle/>
          <a:p>
            <a:pPr indent="0" marL="0">
              <a:buNone/>
            </a:pPr>
            <a:r>
              <a:rPr lang="en-US" sz="2600" b="1" dirty="0">
                <a:solidFill>
                  <a:srgbClr val="008A48"/>
                </a:solidFill>
                <a:latin typeface="Calibri" pitchFamily="34" charset="0"/>
                <a:ea typeface="Calibri" pitchFamily="34" charset="-122"/>
                <a:cs typeface="Calibri" pitchFamily="34" charset="-120"/>
              </a:rPr>
              <a:t>+15%/an</a:t>
            </a:r>
            <a:endParaRPr lang="en-US" sz="2600" dirty="0"/>
          </a:p>
        </p:txBody>
      </p:sp>
      <p:sp>
        <p:nvSpPr>
          <p:cNvPr id="12" name="Text 10"/>
          <p:cNvSpPr/>
          <p:nvPr/>
        </p:nvSpPr>
        <p:spPr>
          <a:xfrm>
            <a:off x="713232" y="3630168"/>
            <a:ext cx="2240280" cy="457200"/>
          </a:xfrm>
          <a:prstGeom prst="rect">
            <a:avLst/>
          </a:prstGeom>
          <a:noFill/>
          <a:ln/>
        </p:spPr>
        <p:txBody>
          <a:bodyPr wrap="square" lIns="0" tIns="0" rIns="0" bIns="0" rtlCol="0" anchor="ctr"/>
          <a:lstStyle/>
          <a:p>
            <a:pPr indent="0" marL="0">
              <a:buNone/>
            </a:pPr>
            <a:r>
              <a:rPr lang="en-US" sz="1100" dirty="0">
                <a:solidFill>
                  <a:srgbClr val="6B6F6A"/>
                </a:solidFill>
                <a:latin typeface="Calibri" pitchFamily="34" charset="0"/>
                <a:ea typeface="Calibri" pitchFamily="34" charset="-122"/>
                <a:cs typeface="Calibri" pitchFamily="34" charset="-120"/>
              </a:rPr>
              <a:t>Croissance des applications de suivi</a:t>
            </a:r>
            <a:endParaRPr lang="en-US" sz="1100" dirty="0"/>
          </a:p>
        </p:txBody>
      </p:sp>
      <p:sp>
        <p:nvSpPr>
          <p:cNvPr id="13" name="Shape 11"/>
          <p:cNvSpPr/>
          <p:nvPr/>
        </p:nvSpPr>
        <p:spPr>
          <a:xfrm>
            <a:off x="3200400" y="2971800"/>
            <a:ext cx="2514600" cy="1188720"/>
          </a:xfrm>
          <a:prstGeom prst="roundRect">
            <a:avLst>
              <a:gd name="adj" fmla="val 9231"/>
            </a:avLst>
          </a:prstGeom>
          <a:solidFill>
            <a:srgbClr val="FFFFFF"/>
          </a:solidFill>
          <a:ln w="12700">
            <a:solidFill>
              <a:srgbClr val="E4E7E2"/>
            </a:solidFill>
            <a:prstDash val="solid"/>
          </a:ln>
          <a:effectLst>
            <a:outerShdw sx="100000" sy="100000" kx="0" ky="0" algn="bl" rotWithShape="0" blurRad="127000" dist="38100" dir="5400000">
              <a:srgbClr val="1A1A1A">
                <a:alpha val="10000"/>
              </a:srgbClr>
            </a:outerShdw>
          </a:effectLst>
        </p:spPr>
      </p:sp>
      <p:sp>
        <p:nvSpPr>
          <p:cNvPr id="14" name="Text 12"/>
          <p:cNvSpPr/>
          <p:nvPr/>
        </p:nvSpPr>
        <p:spPr>
          <a:xfrm>
            <a:off x="3364992" y="3081528"/>
            <a:ext cx="2194560" cy="548640"/>
          </a:xfrm>
          <a:prstGeom prst="rect">
            <a:avLst/>
          </a:prstGeom>
          <a:noFill/>
          <a:ln/>
        </p:spPr>
        <p:txBody>
          <a:bodyPr wrap="square" lIns="0" tIns="0" rIns="0" bIns="0" rtlCol="0" anchor="ctr"/>
          <a:lstStyle/>
          <a:p>
            <a:pPr indent="0" marL="0">
              <a:buNone/>
            </a:pPr>
            <a:r>
              <a:rPr lang="en-US" sz="2600" b="1" dirty="0">
                <a:solidFill>
                  <a:srgbClr val="008A48"/>
                </a:solidFill>
                <a:latin typeface="Calibri" pitchFamily="34" charset="0"/>
                <a:ea typeface="Calibri" pitchFamily="34" charset="-122"/>
                <a:cs typeface="Calibri" pitchFamily="34" charset="-120"/>
              </a:rPr>
              <a:t>80%</a:t>
            </a:r>
            <a:endParaRPr lang="en-US" sz="2600" dirty="0"/>
          </a:p>
        </p:txBody>
      </p:sp>
      <p:sp>
        <p:nvSpPr>
          <p:cNvPr id="15" name="Text 13"/>
          <p:cNvSpPr/>
          <p:nvPr/>
        </p:nvSpPr>
        <p:spPr>
          <a:xfrm>
            <a:off x="3364992" y="3630168"/>
            <a:ext cx="2240280" cy="457200"/>
          </a:xfrm>
          <a:prstGeom prst="rect">
            <a:avLst/>
          </a:prstGeom>
          <a:noFill/>
          <a:ln/>
        </p:spPr>
        <p:txBody>
          <a:bodyPr wrap="square" lIns="0" tIns="0" rIns="0" bIns="0" rtlCol="0" anchor="ctr"/>
          <a:lstStyle/>
          <a:p>
            <a:pPr indent="0" marL="0">
              <a:buNone/>
            </a:pPr>
            <a:r>
              <a:rPr lang="en-US" sz="1100" dirty="0">
                <a:solidFill>
                  <a:srgbClr val="6B6F6A"/>
                </a:solidFill>
                <a:latin typeface="Calibri" pitchFamily="34" charset="0"/>
                <a:ea typeface="Calibri" pitchFamily="34" charset="-122"/>
                <a:cs typeface="Calibri" pitchFamily="34" charset="-120"/>
              </a:rPr>
              <a:t>des consommateurs attendent un engagement</a:t>
            </a:r>
            <a:endParaRPr lang="en-US" sz="1100" dirty="0"/>
          </a:p>
        </p:txBody>
      </p:sp>
      <p:sp>
        <p:nvSpPr>
          <p:cNvPr id="16" name="Text 14"/>
          <p:cNvSpPr/>
          <p:nvPr/>
        </p:nvSpPr>
        <p:spPr>
          <a:xfrm>
            <a:off x="5989320" y="1572768"/>
            <a:ext cx="5486400" cy="32004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Croissance du marché (Md$)</a:t>
            </a:r>
            <a:endParaRPr lang="en-US" sz="1400" dirty="0"/>
          </a:p>
        </p:txBody>
      </p:sp>
      <p:graphicFrame>
        <p:nvGraphicFramePr>
          <p:cNvPr id="17" name="Chart 0" descr=""/>
          <p:cNvGraphicFramePr/>
          <p:nvPr/>
        </p:nvGraphicFramePr>
        <p:xfrm>
          <a:off x="5897880" y="1874520"/>
          <a:ext cx="5760720" cy="2240280"/>
        </p:xfrm>
        <a:graphic xmlns:a="http://schemas.openxmlformats.org/drawingml/2006/main">
          <a:graphicData uri="http://schemas.openxmlformats.org/drawingml/2006/chart">
            <c:chart xmlns:c="http://schemas.openxmlformats.org/drawingml/2006/chart" r:id="rId1"/>
          </a:graphicData>
        </a:graphic>
      </p:graphicFrame>
      <p:sp>
        <p:nvSpPr>
          <p:cNvPr id="18" name="Shape 15"/>
          <p:cNvSpPr/>
          <p:nvPr/>
        </p:nvSpPr>
        <p:spPr>
          <a:xfrm>
            <a:off x="5897880" y="4343400"/>
            <a:ext cx="5760720" cy="1325880"/>
          </a:xfrm>
          <a:prstGeom prst="roundRect">
            <a:avLst>
              <a:gd name="adj" fmla="val 8276"/>
            </a:avLst>
          </a:prstGeom>
          <a:solidFill>
            <a:srgbClr val="EDF8F0"/>
          </a:solidFill>
          <a:ln w="12700">
            <a:solidFill>
              <a:srgbClr val="E4E7E2"/>
            </a:solidFill>
            <a:prstDash val="solid"/>
          </a:ln>
          <a:effectLst>
            <a:outerShdw sx="100000" sy="100000" kx="0" ky="0" algn="bl" rotWithShape="0" blurRad="127000" dist="38100" dir="5400000">
              <a:srgbClr val="1A1A1A">
                <a:alpha val="10000"/>
              </a:srgbClr>
            </a:outerShdw>
          </a:effectLst>
        </p:spPr>
      </p:sp>
      <p:sp>
        <p:nvSpPr>
          <p:cNvPr id="19" name="Shape 16"/>
          <p:cNvSpPr/>
          <p:nvPr/>
        </p:nvSpPr>
        <p:spPr>
          <a:xfrm>
            <a:off x="6172200" y="4636008"/>
            <a:ext cx="731520" cy="731520"/>
          </a:xfrm>
          <a:prstGeom prst="ellipse">
            <a:avLst/>
          </a:prstGeom>
          <a:solidFill>
            <a:srgbClr val="008A48"/>
          </a:solidFill>
          <a:ln/>
          <a:effectLst>
            <a:outerShdw sx="100000" sy="100000" kx="0" ky="0" algn="bl" rotWithShape="0" blurRad="88900" dist="25400" dir="5400000">
              <a:srgbClr val="06402A">
                <a:alpha val="16000"/>
              </a:srgbClr>
            </a:outerShdw>
          </a:effectLst>
        </p:spPr>
      </p:sp>
      <p:pic>
        <p:nvPicPr>
          <p:cNvPr id="20" name="Image 0" descr="img/game_white.png">    </p:cNvPr>
          <p:cNvPicPr>
            <a:picLocks noChangeAspect="1"/>
          </p:cNvPicPr>
          <p:nvPr/>
        </p:nvPicPr>
        <p:blipFill>
          <a:blip r:embed="rId2"/>
          <a:stretch>
            <a:fillRect/>
          </a:stretch>
        </p:blipFill>
        <p:spPr>
          <a:xfrm>
            <a:off x="6355080" y="4818888"/>
            <a:ext cx="365760" cy="365760"/>
          </a:xfrm>
          <a:prstGeom prst="rect">
            <a:avLst/>
          </a:prstGeom>
        </p:spPr>
      </p:pic>
      <p:sp>
        <p:nvSpPr>
          <p:cNvPr id="21" name="Text 17"/>
          <p:cNvSpPr/>
          <p:nvPr/>
        </p:nvSpPr>
        <p:spPr>
          <a:xfrm>
            <a:off x="7086600" y="4480560"/>
            <a:ext cx="4389120" cy="365760"/>
          </a:xfrm>
          <a:prstGeom prst="rect">
            <a:avLst/>
          </a:prstGeom>
          <a:noFill/>
          <a:ln/>
        </p:spPr>
        <p:txBody>
          <a:bodyPr wrap="square" lIns="0" tIns="0" rIns="0" bIns="0" rtlCol="0" anchor="ctr"/>
          <a:lstStyle/>
          <a:p>
            <a:pPr indent="0" marL="0">
              <a:buNone/>
            </a:pPr>
            <a:r>
              <a:rPr lang="en-US" sz="1500" b="1" dirty="0">
                <a:solidFill>
                  <a:srgbClr val="007040"/>
                </a:solidFill>
                <a:latin typeface="Calibri" pitchFamily="34" charset="0"/>
                <a:ea typeface="Calibri" pitchFamily="34" charset="-122"/>
                <a:cs typeface="Calibri" pitchFamily="34" charset="-120"/>
              </a:rPr>
              <a:t>La gamification, un levier prouvé</a:t>
            </a:r>
            <a:endParaRPr lang="en-US" sz="1500" dirty="0"/>
          </a:p>
        </p:txBody>
      </p:sp>
      <p:sp>
        <p:nvSpPr>
          <p:cNvPr id="22" name="Text 18"/>
          <p:cNvSpPr/>
          <p:nvPr/>
        </p:nvSpPr>
        <p:spPr>
          <a:xfrm>
            <a:off x="7086600" y="4846320"/>
            <a:ext cx="4434840" cy="777240"/>
          </a:xfrm>
          <a:prstGeom prst="rect">
            <a:avLst/>
          </a:prstGeom>
          <a:noFill/>
          <a:ln/>
        </p:spPr>
        <p:txBody>
          <a:bodyPr wrap="square" lIns="0" tIns="0" rIns="0" bIns="0" rtlCol="0" anchor="ctr"/>
          <a:lstStyle/>
          <a:p>
            <a:pPr indent="0" marL="0">
              <a:buNone/>
            </a:pPr>
            <a:r>
              <a:rPr lang="en-US" sz="1200" dirty="0">
                <a:solidFill>
                  <a:srgbClr val="1A1A1A"/>
                </a:solidFill>
                <a:latin typeface="Calibri" pitchFamily="34" charset="0"/>
                <a:ea typeface="Calibri" pitchFamily="34" charset="-122"/>
                <a:cs typeface="Calibri" pitchFamily="34" charset="-120"/>
              </a:rPr>
              <a:t>Points, défis et progression augmentent significativement l'adoption de comportements responsables (Scientific Reports, Nature, 2023).</a:t>
            </a:r>
            <a:endParaRPr lang="en-US" sz="1200" dirty="0"/>
          </a:p>
        </p:txBody>
      </p:sp>
      <p:pic>
        <p:nvPicPr>
          <p:cNvPr id="23" name="Image 1" descr="img/leaf_green.png">    </p:cNvPr>
          <p:cNvPicPr>
            <a:picLocks noChangeAspect="1"/>
          </p:cNvPicPr>
          <p:nvPr/>
        </p:nvPicPr>
        <p:blipFill>
          <a:blip r:embed="rId3"/>
          <a:stretch>
            <a:fillRect/>
          </a:stretch>
        </p:blipFill>
        <p:spPr>
          <a:xfrm>
            <a:off x="502920" y="6437376"/>
            <a:ext cx="182880" cy="182880"/>
          </a:xfrm>
          <a:prstGeom prst="rect">
            <a:avLst/>
          </a:prstGeom>
        </p:spPr>
      </p:pic>
      <p:sp>
        <p:nvSpPr>
          <p:cNvPr id="24" name="Text 19"/>
          <p:cNvSpPr/>
          <p:nvPr/>
        </p:nvSpPr>
        <p:spPr>
          <a:xfrm>
            <a:off x="731520" y="6364224"/>
            <a:ext cx="1828800" cy="320040"/>
          </a:xfrm>
          <a:prstGeom prst="rect">
            <a:avLst/>
          </a:prstGeom>
          <a:noFill/>
          <a:ln/>
        </p:spPr>
        <p:txBody>
          <a:bodyPr wrap="square" rtlCol="0" anchor="ctr"/>
          <a:lstStyle/>
          <a:p>
            <a:pPr indent="0" marL="0">
              <a:buNone/>
            </a:pPr>
            <a:r>
              <a:rPr lang="en-US" sz="1100" b="1" dirty="0">
                <a:solidFill>
                  <a:srgbClr val="6B6F6A"/>
                </a:solidFill>
                <a:latin typeface="Calibri" pitchFamily="34" charset="0"/>
                <a:ea typeface="Calibri" pitchFamily="34" charset="-122"/>
                <a:cs typeface="Calibri" pitchFamily="34" charset="-120"/>
              </a:rPr>
              <a:t>EcoTrack</a:t>
            </a:r>
            <a:endParaRPr lang="en-US" sz="1100" dirty="0"/>
          </a:p>
        </p:txBody>
      </p:sp>
      <p:sp>
        <p:nvSpPr>
          <p:cNvPr id="25" name="Text 20"/>
          <p:cNvSpPr/>
          <p:nvPr/>
        </p:nvSpPr>
        <p:spPr>
          <a:xfrm>
            <a:off x="11183112" y="6364224"/>
            <a:ext cx="502920" cy="320040"/>
          </a:xfrm>
          <a:prstGeom prst="rect">
            <a:avLst/>
          </a:prstGeom>
          <a:noFill/>
          <a:ln/>
        </p:spPr>
        <p:txBody>
          <a:bodyPr wrap="square" rtlCol="0" anchor="ctr"/>
          <a:lstStyle/>
          <a:p>
            <a:pPr algn="r" indent="0" marL="0">
              <a:buNone/>
            </a:pPr>
            <a:r>
              <a:rPr lang="en-US" sz="1100" dirty="0">
                <a:solidFill>
                  <a:srgbClr val="6B6F6A"/>
                </a:solidFill>
                <a:latin typeface="Calibri" pitchFamily="34" charset="0"/>
                <a:ea typeface="Calibri" pitchFamily="34" charset="-122"/>
                <a:cs typeface="Calibri"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CF9"/>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indent="0" marL="0">
              <a:buNone/>
            </a:pPr>
            <a:r>
              <a:rPr lang="en-US" sz="1300" b="1" spc="200" kern="0" dirty="0">
                <a:solidFill>
                  <a:srgbClr val="008A48"/>
                </a:solidFill>
                <a:latin typeface="Calibri" pitchFamily="34" charset="0"/>
                <a:ea typeface="Calibri" pitchFamily="34" charset="-122"/>
                <a:cs typeface="Calibri" pitchFamily="34" charset="-120"/>
              </a:rPr>
              <a:t>03 · PERSONAS UTILISATEURS</a:t>
            </a:r>
            <a:endParaRPr lang="en-US" sz="1300" dirty="0"/>
          </a:p>
        </p:txBody>
      </p:sp>
      <p:sp>
        <p:nvSpPr>
          <p:cNvPr id="3" name="Text 1"/>
          <p:cNvSpPr/>
          <p:nvPr/>
        </p:nvSpPr>
        <p:spPr>
          <a:xfrm>
            <a:off x="530352" y="658368"/>
            <a:ext cx="11064240" cy="685800"/>
          </a:xfrm>
          <a:prstGeom prst="rect">
            <a:avLst/>
          </a:prstGeom>
          <a:noFill/>
          <a:ln/>
        </p:spPr>
        <p:txBody>
          <a:bodyPr wrap="square" lIns="0" tIns="0" rIns="0" bIns="0" rtlCol="0" anchor="ctr"/>
          <a:lstStyle/>
          <a:p>
            <a:pPr indent="0" marL="0">
              <a:buNone/>
            </a:pPr>
            <a:r>
              <a:rPr lang="en-US" sz="3000" b="1" dirty="0">
                <a:solidFill>
                  <a:srgbClr val="1A1A1A"/>
                </a:solidFill>
                <a:latin typeface="Calibri" pitchFamily="34" charset="0"/>
                <a:ea typeface="Calibri" pitchFamily="34" charset="-122"/>
                <a:cs typeface="Calibri" pitchFamily="34" charset="-120"/>
              </a:rPr>
              <a:t>À qui s'adresse EcoTrack ?</a:t>
            </a:r>
            <a:endParaRPr lang="en-US" sz="3000" dirty="0"/>
          </a:p>
        </p:txBody>
      </p:sp>
      <p:sp>
        <p:nvSpPr>
          <p:cNvPr id="4" name="Shape 2"/>
          <p:cNvSpPr/>
          <p:nvPr/>
        </p:nvSpPr>
        <p:spPr>
          <a:xfrm>
            <a:off x="548640" y="1645920"/>
            <a:ext cx="3566160" cy="4023360"/>
          </a:xfrm>
          <a:prstGeom prst="roundRect">
            <a:avLst>
              <a:gd name="adj" fmla="val 3077"/>
            </a:avLst>
          </a:prstGeom>
          <a:solidFill>
            <a:srgbClr val="FFFFFF"/>
          </a:solidFill>
          <a:ln w="12700">
            <a:solidFill>
              <a:srgbClr val="E4E7E2"/>
            </a:solidFill>
            <a:prstDash val="solid"/>
          </a:ln>
          <a:effectLst>
            <a:outerShdw sx="100000" sy="100000" kx="0" ky="0" algn="bl" rotWithShape="0" blurRad="127000" dist="38100" dir="5400000">
              <a:srgbClr val="1A1A1A">
                <a:alpha val="10000"/>
              </a:srgbClr>
            </a:outerShdw>
          </a:effectLst>
        </p:spPr>
      </p:sp>
      <p:sp>
        <p:nvSpPr>
          <p:cNvPr id="5" name="Shape 3"/>
          <p:cNvSpPr/>
          <p:nvPr/>
        </p:nvSpPr>
        <p:spPr>
          <a:xfrm>
            <a:off x="1874520" y="1965960"/>
            <a:ext cx="914400" cy="914400"/>
          </a:xfrm>
          <a:prstGeom prst="ellipse">
            <a:avLst/>
          </a:prstGeom>
          <a:solidFill>
            <a:srgbClr val="008A48"/>
          </a:solidFill>
          <a:ln/>
          <a:effectLst>
            <a:outerShdw sx="100000" sy="100000" kx="0" ky="0" algn="bl" rotWithShape="0" blurRad="88900" dist="25400" dir="5400000">
              <a:srgbClr val="06402A">
                <a:alpha val="16000"/>
              </a:srgbClr>
            </a:outerShdw>
          </a:effectLst>
        </p:spPr>
      </p:sp>
      <p:pic>
        <p:nvPicPr>
          <p:cNvPr id="6" name="Image 0" descr="img/screen_white.png">    </p:cNvPr>
          <p:cNvPicPr>
            <a:picLocks noChangeAspect="1"/>
          </p:cNvPicPr>
          <p:nvPr/>
        </p:nvPicPr>
        <p:blipFill>
          <a:blip r:embed="rId1"/>
          <a:stretch>
            <a:fillRect/>
          </a:stretch>
        </p:blipFill>
        <p:spPr>
          <a:xfrm>
            <a:off x="2103120" y="2194560"/>
            <a:ext cx="457200" cy="457200"/>
          </a:xfrm>
          <a:prstGeom prst="rect">
            <a:avLst/>
          </a:prstGeom>
        </p:spPr>
      </p:pic>
      <p:sp>
        <p:nvSpPr>
          <p:cNvPr id="7" name="Text 4"/>
          <p:cNvSpPr/>
          <p:nvPr/>
        </p:nvSpPr>
        <p:spPr>
          <a:xfrm>
            <a:off x="731520" y="2971800"/>
            <a:ext cx="3200400" cy="384048"/>
          </a:xfrm>
          <a:prstGeom prst="rect">
            <a:avLst/>
          </a:prstGeom>
          <a:noFill/>
          <a:ln/>
        </p:spPr>
        <p:txBody>
          <a:bodyPr wrap="square" lIns="0" tIns="0" rIns="0" bIns="0" rtlCol="0" anchor="ctr"/>
          <a:lstStyle/>
          <a:p>
            <a:pPr algn="ctr" indent="0" marL="0">
              <a:buNone/>
            </a:pPr>
            <a:r>
              <a:rPr lang="en-US" sz="1800" b="1" dirty="0">
                <a:solidFill>
                  <a:srgbClr val="1A1A1A"/>
                </a:solidFill>
                <a:latin typeface="Calibri" pitchFamily="34" charset="0"/>
                <a:ea typeface="Calibri" pitchFamily="34" charset="-122"/>
                <a:cs typeface="Calibri" pitchFamily="34" charset="-120"/>
              </a:rPr>
              <a:t>Léa, 24 ans</a:t>
            </a:r>
            <a:endParaRPr lang="en-US" sz="1800" dirty="0"/>
          </a:p>
        </p:txBody>
      </p:sp>
      <p:sp>
        <p:nvSpPr>
          <p:cNvPr id="8" name="Text 5"/>
          <p:cNvSpPr/>
          <p:nvPr/>
        </p:nvSpPr>
        <p:spPr>
          <a:xfrm>
            <a:off x="731520" y="3337560"/>
            <a:ext cx="3200400" cy="320040"/>
          </a:xfrm>
          <a:prstGeom prst="rect">
            <a:avLst/>
          </a:prstGeom>
          <a:noFill/>
          <a:ln/>
        </p:spPr>
        <p:txBody>
          <a:bodyPr wrap="square" lIns="0" tIns="0" rIns="0" bIns="0" rtlCol="0" anchor="ctr"/>
          <a:lstStyle/>
          <a:p>
            <a:pPr algn="ctr" indent="0" marL="0">
              <a:buNone/>
            </a:pPr>
            <a:r>
              <a:rPr lang="en-US" sz="1250" dirty="0">
                <a:solidFill>
                  <a:srgbClr val="6B6F6A"/>
                </a:solidFill>
                <a:latin typeface="Calibri" pitchFamily="34" charset="0"/>
                <a:ea typeface="Calibri" pitchFamily="34" charset="-122"/>
                <a:cs typeface="Calibri" pitchFamily="34" charset="-120"/>
              </a:rPr>
              <a:t>Jeune diplômée, vit en ville</a:t>
            </a:r>
            <a:endParaRPr lang="en-US" sz="1250" dirty="0"/>
          </a:p>
        </p:txBody>
      </p:sp>
      <p:sp>
        <p:nvSpPr>
          <p:cNvPr id="9" name="Shape 6"/>
          <p:cNvSpPr/>
          <p:nvPr/>
        </p:nvSpPr>
        <p:spPr>
          <a:xfrm>
            <a:off x="1005840" y="3749040"/>
            <a:ext cx="2651760" cy="457200"/>
          </a:xfrm>
          <a:prstGeom prst="roundRect">
            <a:avLst>
              <a:gd name="adj" fmla="val 50000"/>
            </a:avLst>
          </a:prstGeom>
          <a:solidFill>
            <a:srgbClr val="EDF8F0"/>
          </a:solidFill>
          <a:ln/>
        </p:spPr>
      </p:sp>
      <p:sp>
        <p:nvSpPr>
          <p:cNvPr id="10" name="Text 7"/>
          <p:cNvSpPr/>
          <p:nvPr/>
        </p:nvSpPr>
        <p:spPr>
          <a:xfrm>
            <a:off x="1005840" y="3749040"/>
            <a:ext cx="2651760" cy="457200"/>
          </a:xfrm>
          <a:prstGeom prst="rect">
            <a:avLst/>
          </a:prstGeom>
          <a:noFill/>
          <a:ln/>
        </p:spPr>
        <p:txBody>
          <a:bodyPr wrap="square" lIns="0" tIns="0" rIns="0" bIns="0" rtlCol="0" anchor="ctr"/>
          <a:lstStyle/>
          <a:p>
            <a:pPr algn="ctr" indent="0" marL="0">
              <a:buNone/>
            </a:pPr>
            <a:r>
              <a:rPr lang="en-US" sz="1150" dirty="0">
                <a:solidFill>
                  <a:srgbClr val="6B6F6A"/>
                </a:solidFill>
                <a:latin typeface="Calibri" pitchFamily="34" charset="0"/>
                <a:ea typeface="Calibri" pitchFamily="34" charset="-122"/>
                <a:cs typeface="Calibri" pitchFamily="34" charset="-120"/>
              </a:rPr>
              <a:t>Poste dominant : </a:t>
            </a:r>
            <a:pPr algn="ctr" indent="0" marL="0">
              <a:buNone/>
            </a:pPr>
            <a:r>
              <a:rPr lang="en-US" sz="1150" b="1" dirty="0">
                <a:solidFill>
                  <a:srgbClr val="007040"/>
                </a:solidFill>
                <a:latin typeface="Calibri" pitchFamily="34" charset="0"/>
                <a:ea typeface="Calibri" pitchFamily="34" charset="-122"/>
                <a:cs typeface="Calibri" pitchFamily="34" charset="-120"/>
              </a:rPr>
              <a:t>Numérique &amp; achats</a:t>
            </a:r>
            <a:endParaRPr lang="en-US" sz="1150" dirty="0"/>
          </a:p>
        </p:txBody>
      </p:sp>
      <p:pic>
        <p:nvPicPr>
          <p:cNvPr id="11" name="Image 1" descr="img/quote.png">    </p:cNvPr>
          <p:cNvPicPr>
            <a:picLocks noChangeAspect="1"/>
          </p:cNvPicPr>
          <p:nvPr/>
        </p:nvPicPr>
        <p:blipFill>
          <a:blip r:embed="rId2"/>
          <a:stretch>
            <a:fillRect/>
          </a:stretch>
        </p:blipFill>
        <p:spPr>
          <a:xfrm>
            <a:off x="868680" y="4343400"/>
            <a:ext cx="274320" cy="274320"/>
          </a:xfrm>
          <a:prstGeom prst="rect">
            <a:avLst/>
          </a:prstGeom>
        </p:spPr>
      </p:pic>
      <p:sp>
        <p:nvSpPr>
          <p:cNvPr id="12" name="Text 8"/>
          <p:cNvSpPr/>
          <p:nvPr/>
        </p:nvSpPr>
        <p:spPr>
          <a:xfrm>
            <a:off x="822960" y="4663440"/>
            <a:ext cx="3017520" cy="914400"/>
          </a:xfrm>
          <a:prstGeom prst="rect">
            <a:avLst/>
          </a:prstGeom>
          <a:noFill/>
          <a:ln/>
        </p:spPr>
        <p:txBody>
          <a:bodyPr wrap="square" lIns="0" tIns="0" rIns="0" bIns="0" rtlCol="0" anchor="ctr"/>
          <a:lstStyle/>
          <a:p>
            <a:pPr algn="ctr" indent="0" marL="0">
              <a:buNone/>
            </a:pPr>
            <a:r>
              <a:rPr lang="en-US" sz="1250" i="1" dirty="0">
                <a:solidFill>
                  <a:srgbClr val="1A1A1A"/>
                </a:solidFill>
                <a:latin typeface="Calibri" pitchFamily="34" charset="0"/>
                <a:ea typeface="Calibri" pitchFamily="34" charset="-122"/>
                <a:cs typeface="Calibri" pitchFamily="34" charset="-120"/>
              </a:rPr>
              <a:t>« Je veux agir, mais je ne sais pas par où commencer ni si ça change vraiment quelque chose. »</a:t>
            </a:r>
            <a:endParaRPr lang="en-US" sz="1250" dirty="0"/>
          </a:p>
        </p:txBody>
      </p:sp>
      <p:sp>
        <p:nvSpPr>
          <p:cNvPr id="13" name="Shape 9"/>
          <p:cNvSpPr/>
          <p:nvPr/>
        </p:nvSpPr>
        <p:spPr>
          <a:xfrm>
            <a:off x="4315968" y="1645920"/>
            <a:ext cx="3566160" cy="4023360"/>
          </a:xfrm>
          <a:prstGeom prst="roundRect">
            <a:avLst>
              <a:gd name="adj" fmla="val 3077"/>
            </a:avLst>
          </a:prstGeom>
          <a:solidFill>
            <a:srgbClr val="FFFFFF"/>
          </a:solidFill>
          <a:ln w="12700">
            <a:solidFill>
              <a:srgbClr val="E4E7E2"/>
            </a:solidFill>
            <a:prstDash val="solid"/>
          </a:ln>
          <a:effectLst>
            <a:outerShdw sx="100000" sy="100000" kx="0" ky="0" algn="bl" rotWithShape="0" blurRad="127000" dist="38100" dir="5400000">
              <a:srgbClr val="1A1A1A">
                <a:alpha val="10000"/>
              </a:srgbClr>
            </a:outerShdw>
          </a:effectLst>
        </p:spPr>
      </p:sp>
      <p:sp>
        <p:nvSpPr>
          <p:cNvPr id="14" name="Shape 10"/>
          <p:cNvSpPr/>
          <p:nvPr/>
        </p:nvSpPr>
        <p:spPr>
          <a:xfrm>
            <a:off x="5641848" y="1965960"/>
            <a:ext cx="914400" cy="914400"/>
          </a:xfrm>
          <a:prstGeom prst="ellipse">
            <a:avLst/>
          </a:prstGeom>
          <a:solidFill>
            <a:srgbClr val="008A48"/>
          </a:solidFill>
          <a:ln/>
          <a:effectLst>
            <a:outerShdw sx="100000" sy="100000" kx="0" ky="0" algn="bl" rotWithShape="0" blurRad="88900" dist="25400" dir="5400000">
              <a:srgbClr val="06402A">
                <a:alpha val="16000"/>
              </a:srgbClr>
            </a:outerShdw>
          </a:effectLst>
        </p:spPr>
      </p:sp>
      <p:pic>
        <p:nvPicPr>
          <p:cNvPr id="15" name="Image 2" descr="img/velo_white.png">    </p:cNvPr>
          <p:cNvPicPr>
            <a:picLocks noChangeAspect="1"/>
          </p:cNvPicPr>
          <p:nvPr/>
        </p:nvPicPr>
        <p:blipFill>
          <a:blip r:embed="rId3"/>
          <a:stretch>
            <a:fillRect/>
          </a:stretch>
        </p:blipFill>
        <p:spPr>
          <a:xfrm>
            <a:off x="5870448" y="2194560"/>
            <a:ext cx="457200" cy="457200"/>
          </a:xfrm>
          <a:prstGeom prst="rect">
            <a:avLst/>
          </a:prstGeom>
        </p:spPr>
      </p:pic>
      <p:sp>
        <p:nvSpPr>
          <p:cNvPr id="16" name="Text 11"/>
          <p:cNvSpPr/>
          <p:nvPr/>
        </p:nvSpPr>
        <p:spPr>
          <a:xfrm>
            <a:off x="4498848" y="2971800"/>
            <a:ext cx="3200400" cy="384048"/>
          </a:xfrm>
          <a:prstGeom prst="rect">
            <a:avLst/>
          </a:prstGeom>
          <a:noFill/>
          <a:ln/>
        </p:spPr>
        <p:txBody>
          <a:bodyPr wrap="square" lIns="0" tIns="0" rIns="0" bIns="0" rtlCol="0" anchor="ctr"/>
          <a:lstStyle/>
          <a:p>
            <a:pPr algn="ctr" indent="0" marL="0">
              <a:buNone/>
            </a:pPr>
            <a:r>
              <a:rPr lang="en-US" sz="1800" b="1" dirty="0">
                <a:solidFill>
                  <a:srgbClr val="1A1A1A"/>
                </a:solidFill>
                <a:latin typeface="Calibri" pitchFamily="34" charset="0"/>
                <a:ea typeface="Calibri" pitchFamily="34" charset="-122"/>
                <a:cs typeface="Calibri" pitchFamily="34" charset="-120"/>
              </a:rPr>
              <a:t>Maxime, 30 ans</a:t>
            </a:r>
            <a:endParaRPr lang="en-US" sz="1800" dirty="0"/>
          </a:p>
        </p:txBody>
      </p:sp>
      <p:sp>
        <p:nvSpPr>
          <p:cNvPr id="17" name="Text 12"/>
          <p:cNvSpPr/>
          <p:nvPr/>
        </p:nvSpPr>
        <p:spPr>
          <a:xfrm>
            <a:off x="4498848" y="3337560"/>
            <a:ext cx="3200400" cy="320040"/>
          </a:xfrm>
          <a:prstGeom prst="rect">
            <a:avLst/>
          </a:prstGeom>
          <a:noFill/>
          <a:ln/>
        </p:spPr>
        <p:txBody>
          <a:bodyPr wrap="square" lIns="0" tIns="0" rIns="0" bIns="0" rtlCol="0" anchor="ctr"/>
          <a:lstStyle/>
          <a:p>
            <a:pPr algn="ctr" indent="0" marL="0">
              <a:buNone/>
            </a:pPr>
            <a:r>
              <a:rPr lang="en-US" sz="1250" dirty="0">
                <a:solidFill>
                  <a:srgbClr val="6B6F6A"/>
                </a:solidFill>
                <a:latin typeface="Calibri" pitchFamily="34" charset="0"/>
                <a:ea typeface="Calibri" pitchFamily="34" charset="-122"/>
                <a:cs typeface="Calibri" pitchFamily="34" charset="-120"/>
              </a:rPr>
              <a:t>Actif, navetteur quotidien</a:t>
            </a:r>
            <a:endParaRPr lang="en-US" sz="1250" dirty="0"/>
          </a:p>
        </p:txBody>
      </p:sp>
      <p:sp>
        <p:nvSpPr>
          <p:cNvPr id="18" name="Shape 13"/>
          <p:cNvSpPr/>
          <p:nvPr/>
        </p:nvSpPr>
        <p:spPr>
          <a:xfrm>
            <a:off x="4773168" y="3749040"/>
            <a:ext cx="2651760" cy="457200"/>
          </a:xfrm>
          <a:prstGeom prst="roundRect">
            <a:avLst>
              <a:gd name="adj" fmla="val 50000"/>
            </a:avLst>
          </a:prstGeom>
          <a:solidFill>
            <a:srgbClr val="EDF8F0"/>
          </a:solidFill>
          <a:ln/>
        </p:spPr>
      </p:sp>
      <p:sp>
        <p:nvSpPr>
          <p:cNvPr id="19" name="Text 14"/>
          <p:cNvSpPr/>
          <p:nvPr/>
        </p:nvSpPr>
        <p:spPr>
          <a:xfrm>
            <a:off x="4773168" y="3749040"/>
            <a:ext cx="2651760" cy="457200"/>
          </a:xfrm>
          <a:prstGeom prst="rect">
            <a:avLst/>
          </a:prstGeom>
          <a:noFill/>
          <a:ln/>
        </p:spPr>
        <p:txBody>
          <a:bodyPr wrap="square" lIns="0" tIns="0" rIns="0" bIns="0" rtlCol="0" anchor="ctr"/>
          <a:lstStyle/>
          <a:p>
            <a:pPr algn="ctr" indent="0" marL="0">
              <a:buNone/>
            </a:pPr>
            <a:r>
              <a:rPr lang="en-US" sz="1150" dirty="0">
                <a:solidFill>
                  <a:srgbClr val="6B6F6A"/>
                </a:solidFill>
                <a:latin typeface="Calibri" pitchFamily="34" charset="0"/>
                <a:ea typeface="Calibri" pitchFamily="34" charset="-122"/>
                <a:cs typeface="Calibri" pitchFamily="34" charset="-120"/>
              </a:rPr>
              <a:t>Poste dominant : </a:t>
            </a:r>
            <a:pPr algn="ctr" indent="0" marL="0">
              <a:buNone/>
            </a:pPr>
            <a:r>
              <a:rPr lang="en-US" sz="1150" b="1" dirty="0">
                <a:solidFill>
                  <a:srgbClr val="007040"/>
                </a:solidFill>
                <a:latin typeface="Calibri" pitchFamily="34" charset="0"/>
                <a:ea typeface="Calibri" pitchFamily="34" charset="-122"/>
                <a:cs typeface="Calibri" pitchFamily="34" charset="-120"/>
              </a:rPr>
              <a:t>Transport</a:t>
            </a:r>
            <a:endParaRPr lang="en-US" sz="1150" dirty="0"/>
          </a:p>
        </p:txBody>
      </p:sp>
      <p:pic>
        <p:nvPicPr>
          <p:cNvPr id="20" name="Image 3" descr="img/quote.png">    </p:cNvPr>
          <p:cNvPicPr>
            <a:picLocks noChangeAspect="1"/>
          </p:cNvPicPr>
          <p:nvPr/>
        </p:nvPicPr>
        <p:blipFill>
          <a:blip r:embed="rId4"/>
          <a:stretch>
            <a:fillRect/>
          </a:stretch>
        </p:blipFill>
        <p:spPr>
          <a:xfrm>
            <a:off x="4636008" y="4343400"/>
            <a:ext cx="274320" cy="274320"/>
          </a:xfrm>
          <a:prstGeom prst="rect">
            <a:avLst/>
          </a:prstGeom>
        </p:spPr>
      </p:pic>
      <p:sp>
        <p:nvSpPr>
          <p:cNvPr id="21" name="Text 15"/>
          <p:cNvSpPr/>
          <p:nvPr/>
        </p:nvSpPr>
        <p:spPr>
          <a:xfrm>
            <a:off x="4590288" y="4663440"/>
            <a:ext cx="3017520" cy="914400"/>
          </a:xfrm>
          <a:prstGeom prst="rect">
            <a:avLst/>
          </a:prstGeom>
          <a:noFill/>
          <a:ln/>
        </p:spPr>
        <p:txBody>
          <a:bodyPr wrap="square" lIns="0" tIns="0" rIns="0" bIns="0" rtlCol="0" anchor="ctr"/>
          <a:lstStyle/>
          <a:p>
            <a:pPr algn="ctr" indent="0" marL="0">
              <a:buNone/>
            </a:pPr>
            <a:r>
              <a:rPr lang="en-US" sz="1250" i="1" dirty="0">
                <a:solidFill>
                  <a:srgbClr val="1A1A1A"/>
                </a:solidFill>
                <a:latin typeface="Calibri" pitchFamily="34" charset="0"/>
                <a:ea typeface="Calibri" pitchFamily="34" charset="-122"/>
                <a:cs typeface="Calibri" pitchFamily="34" charset="-120"/>
              </a:rPr>
              <a:t>« Si c'est un jeu avec des points et des défis, là je m'y tiens. »</a:t>
            </a:r>
            <a:endParaRPr lang="en-US" sz="1250" dirty="0"/>
          </a:p>
        </p:txBody>
      </p:sp>
      <p:sp>
        <p:nvSpPr>
          <p:cNvPr id="22" name="Shape 16"/>
          <p:cNvSpPr/>
          <p:nvPr/>
        </p:nvSpPr>
        <p:spPr>
          <a:xfrm>
            <a:off x="8083296" y="1645920"/>
            <a:ext cx="3566160" cy="4023360"/>
          </a:xfrm>
          <a:prstGeom prst="roundRect">
            <a:avLst>
              <a:gd name="adj" fmla="val 3077"/>
            </a:avLst>
          </a:prstGeom>
          <a:solidFill>
            <a:srgbClr val="FFFFFF"/>
          </a:solidFill>
          <a:ln w="12700">
            <a:solidFill>
              <a:srgbClr val="E4E7E2"/>
            </a:solidFill>
            <a:prstDash val="solid"/>
          </a:ln>
          <a:effectLst>
            <a:outerShdw sx="100000" sy="100000" kx="0" ky="0" algn="bl" rotWithShape="0" blurRad="127000" dist="38100" dir="5400000">
              <a:srgbClr val="1A1A1A">
                <a:alpha val="10000"/>
              </a:srgbClr>
            </a:outerShdw>
          </a:effectLst>
        </p:spPr>
      </p:sp>
      <p:sp>
        <p:nvSpPr>
          <p:cNvPr id="23" name="Shape 17"/>
          <p:cNvSpPr/>
          <p:nvPr/>
        </p:nvSpPr>
        <p:spPr>
          <a:xfrm>
            <a:off x="9409176" y="1965960"/>
            <a:ext cx="914400" cy="914400"/>
          </a:xfrm>
          <a:prstGeom prst="ellipse">
            <a:avLst/>
          </a:prstGeom>
          <a:solidFill>
            <a:srgbClr val="008A48"/>
          </a:solidFill>
          <a:ln/>
          <a:effectLst>
            <a:outerShdw sx="100000" sy="100000" kx="0" ky="0" algn="bl" rotWithShape="0" blurRad="88900" dist="25400" dir="5400000">
              <a:srgbClr val="06402A">
                <a:alpha val="16000"/>
              </a:srgbClr>
            </a:outerShdw>
          </a:effectLst>
        </p:spPr>
      </p:sp>
      <p:pic>
        <p:nvPicPr>
          <p:cNvPr id="24" name="Image 4" descr="img/users_white.png">    </p:cNvPr>
          <p:cNvPicPr>
            <a:picLocks noChangeAspect="1"/>
          </p:cNvPicPr>
          <p:nvPr/>
        </p:nvPicPr>
        <p:blipFill>
          <a:blip r:embed="rId5"/>
          <a:stretch>
            <a:fillRect/>
          </a:stretch>
        </p:blipFill>
        <p:spPr>
          <a:xfrm>
            <a:off x="9637776" y="2194560"/>
            <a:ext cx="457200" cy="457200"/>
          </a:xfrm>
          <a:prstGeom prst="rect">
            <a:avLst/>
          </a:prstGeom>
        </p:spPr>
      </p:pic>
      <p:sp>
        <p:nvSpPr>
          <p:cNvPr id="25" name="Text 18"/>
          <p:cNvSpPr/>
          <p:nvPr/>
        </p:nvSpPr>
        <p:spPr>
          <a:xfrm>
            <a:off x="8266176" y="2971800"/>
            <a:ext cx="3200400" cy="384048"/>
          </a:xfrm>
          <a:prstGeom prst="rect">
            <a:avLst/>
          </a:prstGeom>
          <a:noFill/>
          <a:ln/>
        </p:spPr>
        <p:txBody>
          <a:bodyPr wrap="square" lIns="0" tIns="0" rIns="0" bIns="0" rtlCol="0" anchor="ctr"/>
          <a:lstStyle/>
          <a:p>
            <a:pPr algn="ctr" indent="0" marL="0">
              <a:buNone/>
            </a:pPr>
            <a:r>
              <a:rPr lang="en-US" sz="1800" b="1" dirty="0">
                <a:solidFill>
                  <a:srgbClr val="1A1A1A"/>
                </a:solidFill>
                <a:latin typeface="Calibri" pitchFamily="34" charset="0"/>
                <a:ea typeface="Calibri" pitchFamily="34" charset="-122"/>
                <a:cs typeface="Calibri" pitchFamily="34" charset="-120"/>
              </a:rPr>
              <a:t>Camille, 36 ans</a:t>
            </a:r>
            <a:endParaRPr lang="en-US" sz="1800" dirty="0"/>
          </a:p>
        </p:txBody>
      </p:sp>
      <p:sp>
        <p:nvSpPr>
          <p:cNvPr id="26" name="Text 19"/>
          <p:cNvSpPr/>
          <p:nvPr/>
        </p:nvSpPr>
        <p:spPr>
          <a:xfrm>
            <a:off x="8266176" y="3337560"/>
            <a:ext cx="3200400" cy="320040"/>
          </a:xfrm>
          <a:prstGeom prst="rect">
            <a:avLst/>
          </a:prstGeom>
          <a:noFill/>
          <a:ln/>
        </p:spPr>
        <p:txBody>
          <a:bodyPr wrap="square" lIns="0" tIns="0" rIns="0" bIns="0" rtlCol="0" anchor="ctr"/>
          <a:lstStyle/>
          <a:p>
            <a:pPr algn="ctr" indent="0" marL="0">
              <a:buNone/>
            </a:pPr>
            <a:r>
              <a:rPr lang="en-US" sz="1250" dirty="0">
                <a:solidFill>
                  <a:srgbClr val="6B6F6A"/>
                </a:solidFill>
                <a:latin typeface="Calibri" pitchFamily="34" charset="0"/>
                <a:ea typeface="Calibri" pitchFamily="34" charset="-122"/>
                <a:cs typeface="Calibri" pitchFamily="34" charset="-120"/>
              </a:rPr>
              <a:t>Responsable RSE (cible B2B)</a:t>
            </a:r>
            <a:endParaRPr lang="en-US" sz="1250" dirty="0"/>
          </a:p>
        </p:txBody>
      </p:sp>
      <p:sp>
        <p:nvSpPr>
          <p:cNvPr id="27" name="Shape 20"/>
          <p:cNvSpPr/>
          <p:nvPr/>
        </p:nvSpPr>
        <p:spPr>
          <a:xfrm>
            <a:off x="8540496" y="3749040"/>
            <a:ext cx="2651760" cy="457200"/>
          </a:xfrm>
          <a:prstGeom prst="roundRect">
            <a:avLst>
              <a:gd name="adj" fmla="val 50000"/>
            </a:avLst>
          </a:prstGeom>
          <a:solidFill>
            <a:srgbClr val="EDF8F0"/>
          </a:solidFill>
          <a:ln/>
        </p:spPr>
      </p:sp>
      <p:sp>
        <p:nvSpPr>
          <p:cNvPr id="28" name="Text 21"/>
          <p:cNvSpPr/>
          <p:nvPr/>
        </p:nvSpPr>
        <p:spPr>
          <a:xfrm>
            <a:off x="8540496" y="3749040"/>
            <a:ext cx="2651760" cy="457200"/>
          </a:xfrm>
          <a:prstGeom prst="rect">
            <a:avLst/>
          </a:prstGeom>
          <a:noFill/>
          <a:ln/>
        </p:spPr>
        <p:txBody>
          <a:bodyPr wrap="square" lIns="0" tIns="0" rIns="0" bIns="0" rtlCol="0" anchor="ctr"/>
          <a:lstStyle/>
          <a:p>
            <a:pPr algn="ctr" indent="0" marL="0">
              <a:buNone/>
            </a:pPr>
            <a:r>
              <a:rPr lang="en-US" sz="1150" dirty="0">
                <a:solidFill>
                  <a:srgbClr val="6B6F6A"/>
                </a:solidFill>
                <a:latin typeface="Calibri" pitchFamily="34" charset="0"/>
                <a:ea typeface="Calibri" pitchFamily="34" charset="-122"/>
                <a:cs typeface="Calibri" pitchFamily="34" charset="-120"/>
              </a:rPr>
              <a:t>Poste dominant : </a:t>
            </a:r>
            <a:pPr algn="ctr" indent="0" marL="0">
              <a:buNone/>
            </a:pPr>
            <a:r>
              <a:rPr lang="en-US" sz="1150" b="1" dirty="0">
                <a:solidFill>
                  <a:srgbClr val="007040"/>
                </a:solidFill>
                <a:latin typeface="Calibri" pitchFamily="34" charset="0"/>
                <a:ea typeface="Calibri" pitchFamily="34" charset="-122"/>
                <a:cs typeface="Calibri" pitchFamily="34" charset="-120"/>
              </a:rPr>
              <a:t>Engagement d'équipe</a:t>
            </a:r>
            <a:endParaRPr lang="en-US" sz="1150" dirty="0"/>
          </a:p>
        </p:txBody>
      </p:sp>
      <p:pic>
        <p:nvPicPr>
          <p:cNvPr id="29" name="Image 5" descr="img/quote.png">    </p:cNvPr>
          <p:cNvPicPr>
            <a:picLocks noChangeAspect="1"/>
          </p:cNvPicPr>
          <p:nvPr/>
        </p:nvPicPr>
        <p:blipFill>
          <a:blip r:embed="rId6"/>
          <a:stretch>
            <a:fillRect/>
          </a:stretch>
        </p:blipFill>
        <p:spPr>
          <a:xfrm>
            <a:off x="8403336" y="4343400"/>
            <a:ext cx="274320" cy="274320"/>
          </a:xfrm>
          <a:prstGeom prst="rect">
            <a:avLst/>
          </a:prstGeom>
        </p:spPr>
      </p:pic>
      <p:sp>
        <p:nvSpPr>
          <p:cNvPr id="30" name="Text 22"/>
          <p:cNvSpPr/>
          <p:nvPr/>
        </p:nvSpPr>
        <p:spPr>
          <a:xfrm>
            <a:off x="8357616" y="4663440"/>
            <a:ext cx="3017520" cy="914400"/>
          </a:xfrm>
          <a:prstGeom prst="rect">
            <a:avLst/>
          </a:prstGeom>
          <a:noFill/>
          <a:ln/>
        </p:spPr>
        <p:txBody>
          <a:bodyPr wrap="square" lIns="0" tIns="0" rIns="0" bIns="0" rtlCol="0" anchor="ctr"/>
          <a:lstStyle/>
          <a:p>
            <a:pPr algn="ctr" indent="0" marL="0">
              <a:buNone/>
            </a:pPr>
            <a:r>
              <a:rPr lang="en-US" sz="1250" i="1" dirty="0">
                <a:solidFill>
                  <a:srgbClr val="1A1A1A"/>
                </a:solidFill>
                <a:latin typeface="Calibri" pitchFamily="34" charset="0"/>
                <a:ea typeface="Calibri" pitchFamily="34" charset="-122"/>
                <a:cs typeface="Calibri" pitchFamily="34" charset="-120"/>
              </a:rPr>
              <a:t>« J'aimerais embarquer mes équipes dans une démarche concrète, pas juste une charte de plus. »</a:t>
            </a:r>
            <a:endParaRPr lang="en-US" sz="1250" dirty="0"/>
          </a:p>
        </p:txBody>
      </p:sp>
      <p:pic>
        <p:nvPicPr>
          <p:cNvPr id="31" name="Image 6" descr="img/leaf_green.png">    </p:cNvPr>
          <p:cNvPicPr>
            <a:picLocks noChangeAspect="1"/>
          </p:cNvPicPr>
          <p:nvPr/>
        </p:nvPicPr>
        <p:blipFill>
          <a:blip r:embed="rId7"/>
          <a:stretch>
            <a:fillRect/>
          </a:stretch>
        </p:blipFill>
        <p:spPr>
          <a:xfrm>
            <a:off x="502920" y="6437376"/>
            <a:ext cx="182880" cy="182880"/>
          </a:xfrm>
          <a:prstGeom prst="rect">
            <a:avLst/>
          </a:prstGeom>
        </p:spPr>
      </p:pic>
      <p:sp>
        <p:nvSpPr>
          <p:cNvPr id="32" name="Text 23"/>
          <p:cNvSpPr/>
          <p:nvPr/>
        </p:nvSpPr>
        <p:spPr>
          <a:xfrm>
            <a:off x="731520" y="6364224"/>
            <a:ext cx="1828800" cy="320040"/>
          </a:xfrm>
          <a:prstGeom prst="rect">
            <a:avLst/>
          </a:prstGeom>
          <a:noFill/>
          <a:ln/>
        </p:spPr>
        <p:txBody>
          <a:bodyPr wrap="square" rtlCol="0" anchor="ctr"/>
          <a:lstStyle/>
          <a:p>
            <a:pPr indent="0" marL="0">
              <a:buNone/>
            </a:pPr>
            <a:r>
              <a:rPr lang="en-US" sz="1100" b="1" dirty="0">
                <a:solidFill>
                  <a:srgbClr val="6B6F6A"/>
                </a:solidFill>
                <a:latin typeface="Calibri" pitchFamily="34" charset="0"/>
                <a:ea typeface="Calibri" pitchFamily="34" charset="-122"/>
                <a:cs typeface="Calibri" pitchFamily="34" charset="-120"/>
              </a:rPr>
              <a:t>EcoTrack</a:t>
            </a:r>
            <a:endParaRPr lang="en-US" sz="1100" dirty="0"/>
          </a:p>
        </p:txBody>
      </p:sp>
      <p:sp>
        <p:nvSpPr>
          <p:cNvPr id="33" name="Text 24"/>
          <p:cNvSpPr/>
          <p:nvPr/>
        </p:nvSpPr>
        <p:spPr>
          <a:xfrm>
            <a:off x="11183112" y="6364224"/>
            <a:ext cx="502920" cy="320040"/>
          </a:xfrm>
          <a:prstGeom prst="rect">
            <a:avLst/>
          </a:prstGeom>
          <a:noFill/>
          <a:ln/>
        </p:spPr>
        <p:txBody>
          <a:bodyPr wrap="square" rtlCol="0" anchor="ctr"/>
          <a:lstStyle/>
          <a:p>
            <a:pPr algn="r" indent="0" marL="0">
              <a:buNone/>
            </a:pPr>
            <a:r>
              <a:rPr lang="en-US" sz="1100" dirty="0">
                <a:solidFill>
                  <a:srgbClr val="6B6F6A"/>
                </a:solidFill>
                <a:latin typeface="Calibri" pitchFamily="34" charset="0"/>
                <a:ea typeface="Calibri" pitchFamily="34" charset="-122"/>
                <a:cs typeface="Calibri"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CF9"/>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indent="0" marL="0">
              <a:buNone/>
            </a:pPr>
            <a:r>
              <a:rPr lang="en-US" sz="1300" b="1" spc="200" kern="0" dirty="0">
                <a:solidFill>
                  <a:srgbClr val="008A48"/>
                </a:solidFill>
                <a:latin typeface="Calibri" pitchFamily="34" charset="0"/>
                <a:ea typeface="Calibri" pitchFamily="34" charset="-122"/>
                <a:cs typeface="Calibri" pitchFamily="34" charset="-120"/>
              </a:rPr>
              <a:t>04 · CE QUE NOUS AVONS CONSTRUIT</a:t>
            </a:r>
            <a:endParaRPr lang="en-US" sz="1300" dirty="0"/>
          </a:p>
        </p:txBody>
      </p:sp>
      <p:sp>
        <p:nvSpPr>
          <p:cNvPr id="3" name="Text 1"/>
          <p:cNvSpPr/>
          <p:nvPr/>
        </p:nvSpPr>
        <p:spPr>
          <a:xfrm>
            <a:off x="530352" y="658368"/>
            <a:ext cx="11064240" cy="685800"/>
          </a:xfrm>
          <a:prstGeom prst="rect">
            <a:avLst/>
          </a:prstGeom>
          <a:noFill/>
          <a:ln/>
        </p:spPr>
        <p:txBody>
          <a:bodyPr wrap="square" lIns="0" tIns="0" rIns="0" bIns="0" rtlCol="0" anchor="ctr"/>
          <a:lstStyle/>
          <a:p>
            <a:pPr indent="0" marL="0">
              <a:buNone/>
            </a:pPr>
            <a:r>
              <a:rPr lang="en-US" sz="3000" b="1" dirty="0">
                <a:solidFill>
                  <a:srgbClr val="1A1A1A"/>
                </a:solidFill>
                <a:latin typeface="Calibri" pitchFamily="34" charset="0"/>
                <a:ea typeface="Calibri" pitchFamily="34" charset="-122"/>
                <a:cs typeface="Calibri" pitchFamily="34" charset="-120"/>
              </a:rPr>
              <a:t>Six fonctionnalités clés</a:t>
            </a:r>
            <a:endParaRPr lang="en-US" sz="3000" dirty="0"/>
          </a:p>
        </p:txBody>
      </p:sp>
      <p:sp>
        <p:nvSpPr>
          <p:cNvPr id="4" name="Shape 2"/>
          <p:cNvSpPr/>
          <p:nvPr/>
        </p:nvSpPr>
        <p:spPr>
          <a:xfrm>
            <a:off x="548640" y="1645920"/>
            <a:ext cx="3566160" cy="1874520"/>
          </a:xfrm>
          <a:prstGeom prst="roundRect">
            <a:avLst>
              <a:gd name="adj" fmla="val 5854"/>
            </a:avLst>
          </a:prstGeom>
          <a:solidFill>
            <a:srgbClr val="FFFFFF"/>
          </a:solidFill>
          <a:ln w="12700">
            <a:solidFill>
              <a:srgbClr val="E4E7E2"/>
            </a:solidFill>
            <a:prstDash val="solid"/>
          </a:ln>
          <a:effectLst>
            <a:outerShdw sx="100000" sy="100000" kx="0" ky="0" algn="bl" rotWithShape="0" blurRad="127000" dist="38100" dir="5400000">
              <a:srgbClr val="1A1A1A">
                <a:alpha val="10000"/>
              </a:srgbClr>
            </a:outerShdw>
          </a:effectLst>
        </p:spPr>
      </p:sp>
      <p:sp>
        <p:nvSpPr>
          <p:cNvPr id="5" name="Shape 3"/>
          <p:cNvSpPr/>
          <p:nvPr/>
        </p:nvSpPr>
        <p:spPr>
          <a:xfrm>
            <a:off x="822960" y="1938528"/>
            <a:ext cx="777240" cy="777240"/>
          </a:xfrm>
          <a:prstGeom prst="ellipse">
            <a:avLst/>
          </a:prstGeom>
          <a:solidFill>
            <a:srgbClr val="008A48"/>
          </a:solidFill>
          <a:ln/>
          <a:effectLst>
            <a:outerShdw sx="100000" sy="100000" kx="0" ky="0" algn="bl" rotWithShape="0" blurRad="88900" dist="25400" dir="5400000">
              <a:srgbClr val="06402A">
                <a:alpha val="16000"/>
              </a:srgbClr>
            </a:outerShdw>
          </a:effectLst>
        </p:spPr>
      </p:sp>
      <p:pic>
        <p:nvPicPr>
          <p:cNvPr id="6" name="Image 0" descr="img/calc_white.png">    </p:cNvPr>
          <p:cNvPicPr>
            <a:picLocks noChangeAspect="1"/>
          </p:cNvPicPr>
          <p:nvPr/>
        </p:nvPicPr>
        <p:blipFill>
          <a:blip r:embed="rId1"/>
          <a:stretch>
            <a:fillRect/>
          </a:stretch>
        </p:blipFill>
        <p:spPr>
          <a:xfrm>
            <a:off x="1017270" y="2132838"/>
            <a:ext cx="388620" cy="388620"/>
          </a:xfrm>
          <a:prstGeom prst="rect">
            <a:avLst/>
          </a:prstGeom>
        </p:spPr>
      </p:pic>
      <p:sp>
        <p:nvSpPr>
          <p:cNvPr id="7" name="Text 4"/>
          <p:cNvSpPr/>
          <p:nvPr/>
        </p:nvSpPr>
        <p:spPr>
          <a:xfrm>
            <a:off x="1737360" y="1965960"/>
            <a:ext cx="2194560" cy="685800"/>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Calculateur d'empreinte</a:t>
            </a:r>
            <a:endParaRPr lang="en-US" sz="1550" dirty="0"/>
          </a:p>
        </p:txBody>
      </p:sp>
      <p:sp>
        <p:nvSpPr>
          <p:cNvPr id="8" name="Text 5"/>
          <p:cNvSpPr/>
          <p:nvPr/>
        </p:nvSpPr>
        <p:spPr>
          <a:xfrm>
            <a:off x="822960" y="2788920"/>
            <a:ext cx="3017520" cy="640080"/>
          </a:xfrm>
          <a:prstGeom prst="rect">
            <a:avLst/>
          </a:prstGeom>
          <a:noFill/>
          <a:ln/>
        </p:spPr>
        <p:txBody>
          <a:bodyPr wrap="square" lIns="0" tIns="0" rIns="0" bIns="0" rtlCol="0" anchor="ctr"/>
          <a:lstStyle/>
          <a:p>
            <a:pPr indent="0" marL="0">
              <a:buNone/>
            </a:pPr>
            <a:r>
              <a:rPr lang="en-US" sz="1200" dirty="0">
                <a:solidFill>
                  <a:srgbClr val="6B6F6A"/>
                </a:solidFill>
                <a:latin typeface="Calibri" pitchFamily="34" charset="0"/>
                <a:ea typeface="Calibri" pitchFamily="34" charset="-122"/>
                <a:cs typeface="Calibri" pitchFamily="34" charset="-120"/>
              </a:rPr>
              <a:t>Questionnaire multi-catégories ; résultat détaillé par poste + total annuel en CO2.</a:t>
            </a:r>
            <a:endParaRPr lang="en-US" sz="1200" dirty="0"/>
          </a:p>
        </p:txBody>
      </p:sp>
      <p:sp>
        <p:nvSpPr>
          <p:cNvPr id="9" name="Shape 6"/>
          <p:cNvSpPr/>
          <p:nvPr/>
        </p:nvSpPr>
        <p:spPr>
          <a:xfrm>
            <a:off x="4315968" y="1645920"/>
            <a:ext cx="3566160" cy="1874520"/>
          </a:xfrm>
          <a:prstGeom prst="roundRect">
            <a:avLst>
              <a:gd name="adj" fmla="val 5854"/>
            </a:avLst>
          </a:prstGeom>
          <a:solidFill>
            <a:srgbClr val="FFFFFF"/>
          </a:solidFill>
          <a:ln w="12700">
            <a:solidFill>
              <a:srgbClr val="E4E7E2"/>
            </a:solidFill>
            <a:prstDash val="solid"/>
          </a:ln>
          <a:effectLst>
            <a:outerShdw sx="100000" sy="100000" kx="0" ky="0" algn="bl" rotWithShape="0" blurRad="127000" dist="38100" dir="5400000">
              <a:srgbClr val="1A1A1A">
                <a:alpha val="10000"/>
              </a:srgbClr>
            </a:outerShdw>
          </a:effectLst>
        </p:spPr>
      </p:sp>
      <p:sp>
        <p:nvSpPr>
          <p:cNvPr id="10" name="Shape 7"/>
          <p:cNvSpPr/>
          <p:nvPr/>
        </p:nvSpPr>
        <p:spPr>
          <a:xfrm>
            <a:off x="4590288" y="1938528"/>
            <a:ext cx="777240" cy="777240"/>
          </a:xfrm>
          <a:prstGeom prst="ellipse">
            <a:avLst/>
          </a:prstGeom>
          <a:solidFill>
            <a:srgbClr val="008A48"/>
          </a:solidFill>
          <a:ln/>
          <a:effectLst>
            <a:outerShdw sx="100000" sy="100000" kx="0" ky="0" algn="bl" rotWithShape="0" blurRad="88900" dist="25400" dir="5400000">
              <a:srgbClr val="06402A">
                <a:alpha val="16000"/>
              </a:srgbClr>
            </a:outerShdw>
          </a:effectLst>
        </p:spPr>
      </p:sp>
      <p:pic>
        <p:nvPicPr>
          <p:cNvPr id="11" name="Image 1" descr="img/target_white.png">    </p:cNvPr>
          <p:cNvPicPr>
            <a:picLocks noChangeAspect="1"/>
          </p:cNvPicPr>
          <p:nvPr/>
        </p:nvPicPr>
        <p:blipFill>
          <a:blip r:embed="rId2"/>
          <a:stretch>
            <a:fillRect/>
          </a:stretch>
        </p:blipFill>
        <p:spPr>
          <a:xfrm>
            <a:off x="4784598" y="2132838"/>
            <a:ext cx="388620" cy="388620"/>
          </a:xfrm>
          <a:prstGeom prst="rect">
            <a:avLst/>
          </a:prstGeom>
        </p:spPr>
      </p:pic>
      <p:sp>
        <p:nvSpPr>
          <p:cNvPr id="12" name="Text 8"/>
          <p:cNvSpPr/>
          <p:nvPr/>
        </p:nvSpPr>
        <p:spPr>
          <a:xfrm>
            <a:off x="5504688" y="1965960"/>
            <a:ext cx="2194560" cy="685800"/>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Défis quotidiens personnalisés</a:t>
            </a:r>
            <a:endParaRPr lang="en-US" sz="1550" dirty="0"/>
          </a:p>
        </p:txBody>
      </p:sp>
      <p:sp>
        <p:nvSpPr>
          <p:cNvPr id="13" name="Text 9"/>
          <p:cNvSpPr/>
          <p:nvPr/>
        </p:nvSpPr>
        <p:spPr>
          <a:xfrm>
            <a:off x="4590288" y="2788920"/>
            <a:ext cx="3017520" cy="640080"/>
          </a:xfrm>
          <a:prstGeom prst="rect">
            <a:avLst/>
          </a:prstGeom>
          <a:noFill/>
          <a:ln/>
        </p:spPr>
        <p:txBody>
          <a:bodyPr wrap="square" lIns="0" tIns="0" rIns="0" bIns="0" rtlCol="0" anchor="ctr"/>
          <a:lstStyle/>
          <a:p>
            <a:pPr indent="0" marL="0">
              <a:buNone/>
            </a:pPr>
            <a:r>
              <a:rPr lang="en-US" sz="1200" dirty="0">
                <a:solidFill>
                  <a:srgbClr val="6B6F6A"/>
                </a:solidFill>
                <a:latin typeface="Calibri" pitchFamily="34" charset="0"/>
                <a:ea typeface="Calibri" pitchFamily="34" charset="-122"/>
                <a:cs typeface="Calibri" pitchFamily="34" charset="-120"/>
              </a:rPr>
              <a:t>3 défis/jour selon la catégorie la plus émettrice, avec difficulté, points et CO2 économisé.</a:t>
            </a:r>
            <a:endParaRPr lang="en-US" sz="1200" dirty="0"/>
          </a:p>
        </p:txBody>
      </p:sp>
      <p:sp>
        <p:nvSpPr>
          <p:cNvPr id="14" name="Shape 10"/>
          <p:cNvSpPr/>
          <p:nvPr/>
        </p:nvSpPr>
        <p:spPr>
          <a:xfrm>
            <a:off x="8083296" y="1645920"/>
            <a:ext cx="3566160" cy="1874520"/>
          </a:xfrm>
          <a:prstGeom prst="roundRect">
            <a:avLst>
              <a:gd name="adj" fmla="val 5854"/>
            </a:avLst>
          </a:prstGeom>
          <a:solidFill>
            <a:srgbClr val="FFFFFF"/>
          </a:solidFill>
          <a:ln w="12700">
            <a:solidFill>
              <a:srgbClr val="E4E7E2"/>
            </a:solidFill>
            <a:prstDash val="solid"/>
          </a:ln>
          <a:effectLst>
            <a:outerShdw sx="100000" sy="100000" kx="0" ky="0" algn="bl" rotWithShape="0" blurRad="127000" dist="38100" dir="5400000">
              <a:srgbClr val="1A1A1A">
                <a:alpha val="10000"/>
              </a:srgbClr>
            </a:outerShdw>
          </a:effectLst>
        </p:spPr>
      </p:sp>
      <p:sp>
        <p:nvSpPr>
          <p:cNvPr id="15" name="Shape 11"/>
          <p:cNvSpPr/>
          <p:nvPr/>
        </p:nvSpPr>
        <p:spPr>
          <a:xfrm>
            <a:off x="8357616" y="1938528"/>
            <a:ext cx="777240" cy="777240"/>
          </a:xfrm>
          <a:prstGeom prst="ellipse">
            <a:avLst/>
          </a:prstGeom>
          <a:solidFill>
            <a:srgbClr val="008A48"/>
          </a:solidFill>
          <a:ln/>
          <a:effectLst>
            <a:outerShdw sx="100000" sy="100000" kx="0" ky="0" algn="bl" rotWithShape="0" blurRad="88900" dist="25400" dir="5400000">
              <a:srgbClr val="06402A">
                <a:alpha val="16000"/>
              </a:srgbClr>
            </a:outerShdw>
          </a:effectLst>
        </p:spPr>
      </p:sp>
      <p:pic>
        <p:nvPicPr>
          <p:cNvPr id="16" name="Image 2" descr="img/check_white.png">    </p:cNvPr>
          <p:cNvPicPr>
            <a:picLocks noChangeAspect="1"/>
          </p:cNvPicPr>
          <p:nvPr/>
        </p:nvPicPr>
        <p:blipFill>
          <a:blip r:embed="rId3"/>
          <a:stretch>
            <a:fillRect/>
          </a:stretch>
        </p:blipFill>
        <p:spPr>
          <a:xfrm>
            <a:off x="8551926" y="2132838"/>
            <a:ext cx="388620" cy="388620"/>
          </a:xfrm>
          <a:prstGeom prst="rect">
            <a:avLst/>
          </a:prstGeom>
        </p:spPr>
      </p:pic>
      <p:sp>
        <p:nvSpPr>
          <p:cNvPr id="17" name="Text 12"/>
          <p:cNvSpPr/>
          <p:nvPr/>
        </p:nvSpPr>
        <p:spPr>
          <a:xfrm>
            <a:off x="9272016" y="1965960"/>
            <a:ext cx="2194560" cy="685800"/>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Suivi &amp; validation</a:t>
            </a:r>
            <a:endParaRPr lang="en-US" sz="1550" dirty="0"/>
          </a:p>
        </p:txBody>
      </p:sp>
      <p:sp>
        <p:nvSpPr>
          <p:cNvPr id="18" name="Text 13"/>
          <p:cNvSpPr/>
          <p:nvPr/>
        </p:nvSpPr>
        <p:spPr>
          <a:xfrm>
            <a:off x="8357616" y="2788920"/>
            <a:ext cx="3017520" cy="640080"/>
          </a:xfrm>
          <a:prstGeom prst="rect">
            <a:avLst/>
          </a:prstGeom>
          <a:noFill/>
          <a:ln/>
        </p:spPr>
        <p:txBody>
          <a:bodyPr wrap="square" lIns="0" tIns="0" rIns="0" bIns="0" rtlCol="0" anchor="ctr"/>
          <a:lstStyle/>
          <a:p>
            <a:pPr indent="0" marL="0">
              <a:buNone/>
            </a:pPr>
            <a:r>
              <a:rPr lang="en-US" sz="1200" dirty="0">
                <a:solidFill>
                  <a:srgbClr val="6B6F6A"/>
                </a:solidFill>
                <a:latin typeface="Calibri" pitchFamily="34" charset="0"/>
                <a:ea typeface="Calibri" pitchFamily="34" charset="-122"/>
                <a:cs typeface="Calibri" pitchFamily="34" charset="-120"/>
              </a:rPr>
              <a:t>Validation d'un défi une seule fois par jour ; doublons bloqués par la base de données.</a:t>
            </a:r>
            <a:endParaRPr lang="en-US" sz="1200" dirty="0"/>
          </a:p>
        </p:txBody>
      </p:sp>
      <p:sp>
        <p:nvSpPr>
          <p:cNvPr id="19" name="Shape 14"/>
          <p:cNvSpPr/>
          <p:nvPr/>
        </p:nvSpPr>
        <p:spPr>
          <a:xfrm>
            <a:off x="548640" y="3767328"/>
            <a:ext cx="3566160" cy="1874520"/>
          </a:xfrm>
          <a:prstGeom prst="roundRect">
            <a:avLst>
              <a:gd name="adj" fmla="val 5854"/>
            </a:avLst>
          </a:prstGeom>
          <a:solidFill>
            <a:srgbClr val="FFFFFF"/>
          </a:solidFill>
          <a:ln w="12700">
            <a:solidFill>
              <a:srgbClr val="E4E7E2"/>
            </a:solidFill>
            <a:prstDash val="solid"/>
          </a:ln>
          <a:effectLst>
            <a:outerShdw sx="100000" sy="100000" kx="0" ky="0" algn="bl" rotWithShape="0" blurRad="127000" dist="38100" dir="5400000">
              <a:srgbClr val="1A1A1A">
                <a:alpha val="10000"/>
              </a:srgbClr>
            </a:outerShdw>
          </a:effectLst>
        </p:spPr>
      </p:sp>
      <p:sp>
        <p:nvSpPr>
          <p:cNvPr id="20" name="Shape 15"/>
          <p:cNvSpPr/>
          <p:nvPr/>
        </p:nvSpPr>
        <p:spPr>
          <a:xfrm>
            <a:off x="822960" y="4059936"/>
            <a:ext cx="777240" cy="777240"/>
          </a:xfrm>
          <a:prstGeom prst="ellipse">
            <a:avLst/>
          </a:prstGeom>
          <a:solidFill>
            <a:srgbClr val="008A48"/>
          </a:solidFill>
          <a:ln/>
          <a:effectLst>
            <a:outerShdw sx="100000" sy="100000" kx="0" ky="0" algn="bl" rotWithShape="0" blurRad="88900" dist="25400" dir="5400000">
              <a:srgbClr val="06402A">
                <a:alpha val="16000"/>
              </a:srgbClr>
            </a:outerShdw>
          </a:effectLst>
        </p:spPr>
      </p:sp>
      <p:pic>
        <p:nvPicPr>
          <p:cNvPr id="21" name="Image 3" descr="img/dash_white.png">    </p:cNvPr>
          <p:cNvPicPr>
            <a:picLocks noChangeAspect="1"/>
          </p:cNvPicPr>
          <p:nvPr/>
        </p:nvPicPr>
        <p:blipFill>
          <a:blip r:embed="rId4"/>
          <a:stretch>
            <a:fillRect/>
          </a:stretch>
        </p:blipFill>
        <p:spPr>
          <a:xfrm>
            <a:off x="1017270" y="4254246"/>
            <a:ext cx="388620" cy="388620"/>
          </a:xfrm>
          <a:prstGeom prst="rect">
            <a:avLst/>
          </a:prstGeom>
        </p:spPr>
      </p:pic>
      <p:sp>
        <p:nvSpPr>
          <p:cNvPr id="22" name="Text 16"/>
          <p:cNvSpPr/>
          <p:nvPr/>
        </p:nvSpPr>
        <p:spPr>
          <a:xfrm>
            <a:off x="1737360" y="4087368"/>
            <a:ext cx="2194560" cy="685800"/>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Tableau de bord</a:t>
            </a:r>
            <a:endParaRPr lang="en-US" sz="1550" dirty="0"/>
          </a:p>
        </p:txBody>
      </p:sp>
      <p:sp>
        <p:nvSpPr>
          <p:cNvPr id="23" name="Text 17"/>
          <p:cNvSpPr/>
          <p:nvPr/>
        </p:nvSpPr>
        <p:spPr>
          <a:xfrm>
            <a:off x="822960" y="4910328"/>
            <a:ext cx="3017520" cy="640080"/>
          </a:xfrm>
          <a:prstGeom prst="rect">
            <a:avLst/>
          </a:prstGeom>
          <a:noFill/>
          <a:ln/>
        </p:spPr>
        <p:txBody>
          <a:bodyPr wrap="square" lIns="0" tIns="0" rIns="0" bIns="0" rtlCol="0" anchor="ctr"/>
          <a:lstStyle/>
          <a:p>
            <a:pPr indent="0" marL="0">
              <a:buNone/>
            </a:pPr>
            <a:r>
              <a:rPr lang="en-US" sz="1200" dirty="0">
                <a:solidFill>
                  <a:srgbClr val="6B6F6A"/>
                </a:solidFill>
                <a:latin typeface="Calibri" pitchFamily="34" charset="0"/>
                <a:ea typeface="Calibri" pitchFamily="34" charset="-122"/>
                <a:cs typeface="Calibri" pitchFamily="34" charset="-120"/>
              </a:rPr>
              <a:t>Vue d'ensemble des défis complétés et des points cumulés.</a:t>
            </a:r>
            <a:endParaRPr lang="en-US" sz="1200" dirty="0"/>
          </a:p>
        </p:txBody>
      </p:sp>
      <p:sp>
        <p:nvSpPr>
          <p:cNvPr id="24" name="Shape 18"/>
          <p:cNvSpPr/>
          <p:nvPr/>
        </p:nvSpPr>
        <p:spPr>
          <a:xfrm>
            <a:off x="4315968" y="3767328"/>
            <a:ext cx="3566160" cy="1874520"/>
          </a:xfrm>
          <a:prstGeom prst="roundRect">
            <a:avLst>
              <a:gd name="adj" fmla="val 5854"/>
            </a:avLst>
          </a:prstGeom>
          <a:solidFill>
            <a:srgbClr val="FFFFFF"/>
          </a:solidFill>
          <a:ln w="12700">
            <a:solidFill>
              <a:srgbClr val="E4E7E2"/>
            </a:solidFill>
            <a:prstDash val="solid"/>
          </a:ln>
          <a:effectLst>
            <a:outerShdw sx="100000" sy="100000" kx="0" ky="0" algn="bl" rotWithShape="0" blurRad="127000" dist="38100" dir="5400000">
              <a:srgbClr val="1A1A1A">
                <a:alpha val="10000"/>
              </a:srgbClr>
            </a:outerShdw>
          </a:effectLst>
        </p:spPr>
      </p:sp>
      <p:sp>
        <p:nvSpPr>
          <p:cNvPr id="25" name="Shape 19"/>
          <p:cNvSpPr/>
          <p:nvPr/>
        </p:nvSpPr>
        <p:spPr>
          <a:xfrm>
            <a:off x="4590288" y="4059936"/>
            <a:ext cx="777240" cy="777240"/>
          </a:xfrm>
          <a:prstGeom prst="ellipse">
            <a:avLst/>
          </a:prstGeom>
          <a:solidFill>
            <a:srgbClr val="008A48"/>
          </a:solidFill>
          <a:ln/>
          <a:effectLst>
            <a:outerShdw sx="100000" sy="100000" kx="0" ky="0" algn="bl" rotWithShape="0" blurRad="88900" dist="25400" dir="5400000">
              <a:srgbClr val="06402A">
                <a:alpha val="16000"/>
              </a:srgbClr>
            </a:outerShdw>
          </a:effectLst>
        </p:spPr>
      </p:sp>
      <p:pic>
        <p:nvPicPr>
          <p:cNvPr id="26" name="Image 4" descr="img/lock_white.png">    </p:cNvPr>
          <p:cNvPicPr>
            <a:picLocks noChangeAspect="1"/>
          </p:cNvPicPr>
          <p:nvPr/>
        </p:nvPicPr>
        <p:blipFill>
          <a:blip r:embed="rId5"/>
          <a:stretch>
            <a:fillRect/>
          </a:stretch>
        </p:blipFill>
        <p:spPr>
          <a:xfrm>
            <a:off x="4784598" y="4254246"/>
            <a:ext cx="388620" cy="388620"/>
          </a:xfrm>
          <a:prstGeom prst="rect">
            <a:avLst/>
          </a:prstGeom>
        </p:spPr>
      </p:pic>
      <p:sp>
        <p:nvSpPr>
          <p:cNvPr id="27" name="Text 20"/>
          <p:cNvSpPr/>
          <p:nvPr/>
        </p:nvSpPr>
        <p:spPr>
          <a:xfrm>
            <a:off x="5504688" y="4087368"/>
            <a:ext cx="2194560" cy="685800"/>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Authentification</a:t>
            </a:r>
            <a:endParaRPr lang="en-US" sz="1550" dirty="0"/>
          </a:p>
        </p:txBody>
      </p:sp>
      <p:sp>
        <p:nvSpPr>
          <p:cNvPr id="28" name="Text 21"/>
          <p:cNvSpPr/>
          <p:nvPr/>
        </p:nvSpPr>
        <p:spPr>
          <a:xfrm>
            <a:off x="4590288" y="4910328"/>
            <a:ext cx="3017520" cy="640080"/>
          </a:xfrm>
          <a:prstGeom prst="rect">
            <a:avLst/>
          </a:prstGeom>
          <a:noFill/>
          <a:ln/>
        </p:spPr>
        <p:txBody>
          <a:bodyPr wrap="square" lIns="0" tIns="0" rIns="0" bIns="0" rtlCol="0" anchor="ctr"/>
          <a:lstStyle/>
          <a:p>
            <a:pPr indent="0" marL="0">
              <a:buNone/>
            </a:pPr>
            <a:r>
              <a:rPr lang="en-US" sz="1200" dirty="0">
                <a:solidFill>
                  <a:srgbClr val="6B6F6A"/>
                </a:solidFill>
                <a:latin typeface="Calibri" pitchFamily="34" charset="0"/>
                <a:ea typeface="Calibri" pitchFamily="34" charset="-122"/>
                <a:cs typeface="Calibri" pitchFamily="34" charset="-120"/>
              </a:rPr>
              <a:t>Inscription, connexion et réinitialisation du mot de passe par email (SMTP).</a:t>
            </a:r>
            <a:endParaRPr lang="en-US" sz="1200" dirty="0"/>
          </a:p>
        </p:txBody>
      </p:sp>
      <p:sp>
        <p:nvSpPr>
          <p:cNvPr id="29" name="Shape 22"/>
          <p:cNvSpPr/>
          <p:nvPr/>
        </p:nvSpPr>
        <p:spPr>
          <a:xfrm>
            <a:off x="8083296" y="3767328"/>
            <a:ext cx="3566160" cy="1874520"/>
          </a:xfrm>
          <a:prstGeom prst="roundRect">
            <a:avLst>
              <a:gd name="adj" fmla="val 5854"/>
            </a:avLst>
          </a:prstGeom>
          <a:solidFill>
            <a:srgbClr val="FFFFFF"/>
          </a:solidFill>
          <a:ln w="12700">
            <a:solidFill>
              <a:srgbClr val="E4E7E2"/>
            </a:solidFill>
            <a:prstDash val="solid"/>
          </a:ln>
          <a:effectLst>
            <a:outerShdw sx="100000" sy="100000" kx="0" ky="0" algn="bl" rotWithShape="0" blurRad="127000" dist="38100" dir="5400000">
              <a:srgbClr val="1A1A1A">
                <a:alpha val="10000"/>
              </a:srgbClr>
            </a:outerShdw>
          </a:effectLst>
        </p:spPr>
      </p:sp>
      <p:sp>
        <p:nvSpPr>
          <p:cNvPr id="30" name="Shape 23"/>
          <p:cNvSpPr/>
          <p:nvPr/>
        </p:nvSpPr>
        <p:spPr>
          <a:xfrm>
            <a:off x="8357616" y="4059936"/>
            <a:ext cx="777240" cy="777240"/>
          </a:xfrm>
          <a:prstGeom prst="ellipse">
            <a:avLst/>
          </a:prstGeom>
          <a:solidFill>
            <a:srgbClr val="008A48"/>
          </a:solidFill>
          <a:ln/>
          <a:effectLst>
            <a:outerShdw sx="100000" sy="100000" kx="0" ky="0" algn="bl" rotWithShape="0" blurRad="88900" dist="25400" dir="5400000">
              <a:srgbClr val="06402A">
                <a:alpha val="16000"/>
              </a:srgbClr>
            </a:outerShdw>
          </a:effectLst>
        </p:spPr>
      </p:sp>
      <p:pic>
        <p:nvPicPr>
          <p:cNvPr id="31" name="Image 5" descr="img/sun.png">    </p:cNvPr>
          <p:cNvPicPr>
            <a:picLocks noChangeAspect="1"/>
          </p:cNvPicPr>
          <p:nvPr/>
        </p:nvPicPr>
        <p:blipFill>
          <a:blip r:embed="rId6"/>
          <a:stretch>
            <a:fillRect/>
          </a:stretch>
        </p:blipFill>
        <p:spPr>
          <a:xfrm>
            <a:off x="8551926" y="4254246"/>
            <a:ext cx="388620" cy="388620"/>
          </a:xfrm>
          <a:prstGeom prst="rect">
            <a:avLst/>
          </a:prstGeom>
        </p:spPr>
      </p:pic>
      <p:sp>
        <p:nvSpPr>
          <p:cNvPr id="32" name="Text 24"/>
          <p:cNvSpPr/>
          <p:nvPr/>
        </p:nvSpPr>
        <p:spPr>
          <a:xfrm>
            <a:off x="9272016" y="4087368"/>
            <a:ext cx="2194560" cy="685800"/>
          </a:xfrm>
          <a:prstGeom prst="rect">
            <a:avLst/>
          </a:prstGeom>
          <a:noFill/>
          <a:ln/>
        </p:spPr>
        <p:txBody>
          <a:bodyPr wrap="square" lIns="0" tIns="0" rIns="0" bIns="0" rtlCol="0" anchor="ctr"/>
          <a:lstStyle/>
          <a:p>
            <a:pPr indent="0" marL="0">
              <a:buNone/>
            </a:pPr>
            <a:r>
              <a:rPr lang="en-US" sz="1550" b="1" dirty="0">
                <a:solidFill>
                  <a:srgbClr val="1A1A1A"/>
                </a:solidFill>
                <a:latin typeface="Calibri" pitchFamily="34" charset="0"/>
                <a:ea typeface="Calibri" pitchFamily="34" charset="-122"/>
                <a:cs typeface="Calibri" pitchFamily="34" charset="-120"/>
              </a:rPr>
              <a:t>Mode clair / sombre</a:t>
            </a:r>
            <a:endParaRPr lang="en-US" sz="1550" dirty="0"/>
          </a:p>
        </p:txBody>
      </p:sp>
      <p:sp>
        <p:nvSpPr>
          <p:cNvPr id="33" name="Text 25"/>
          <p:cNvSpPr/>
          <p:nvPr/>
        </p:nvSpPr>
        <p:spPr>
          <a:xfrm>
            <a:off x="8357616" y="4910328"/>
            <a:ext cx="3017520" cy="640080"/>
          </a:xfrm>
          <a:prstGeom prst="rect">
            <a:avLst/>
          </a:prstGeom>
          <a:noFill/>
          <a:ln/>
        </p:spPr>
        <p:txBody>
          <a:bodyPr wrap="square" lIns="0" tIns="0" rIns="0" bIns="0" rtlCol="0" anchor="ctr"/>
          <a:lstStyle/>
          <a:p>
            <a:pPr indent="0" marL="0">
              <a:buNone/>
            </a:pPr>
            <a:r>
              <a:rPr lang="en-US" sz="1200" dirty="0">
                <a:solidFill>
                  <a:srgbClr val="6B6F6A"/>
                </a:solidFill>
                <a:latin typeface="Calibri" pitchFamily="34" charset="0"/>
                <a:ea typeface="Calibri" pitchFamily="34" charset="-122"/>
                <a:cs typeface="Calibri" pitchFamily="34" charset="-120"/>
              </a:rPr>
              <a:t>Confort de lecture et préférence d'affichage, fidèles à la charte graphique.</a:t>
            </a:r>
            <a:endParaRPr lang="en-US" sz="1200" dirty="0"/>
          </a:p>
        </p:txBody>
      </p:sp>
      <p:pic>
        <p:nvPicPr>
          <p:cNvPr id="34" name="Image 6" descr="img/leaf_green.png">    </p:cNvPr>
          <p:cNvPicPr>
            <a:picLocks noChangeAspect="1"/>
          </p:cNvPicPr>
          <p:nvPr/>
        </p:nvPicPr>
        <p:blipFill>
          <a:blip r:embed="rId7"/>
          <a:stretch>
            <a:fillRect/>
          </a:stretch>
        </p:blipFill>
        <p:spPr>
          <a:xfrm>
            <a:off x="502920" y="6437376"/>
            <a:ext cx="182880" cy="182880"/>
          </a:xfrm>
          <a:prstGeom prst="rect">
            <a:avLst/>
          </a:prstGeom>
        </p:spPr>
      </p:pic>
      <p:sp>
        <p:nvSpPr>
          <p:cNvPr id="35" name="Text 26"/>
          <p:cNvSpPr/>
          <p:nvPr/>
        </p:nvSpPr>
        <p:spPr>
          <a:xfrm>
            <a:off x="731520" y="6364224"/>
            <a:ext cx="1828800" cy="320040"/>
          </a:xfrm>
          <a:prstGeom prst="rect">
            <a:avLst/>
          </a:prstGeom>
          <a:noFill/>
          <a:ln/>
        </p:spPr>
        <p:txBody>
          <a:bodyPr wrap="square" rtlCol="0" anchor="ctr"/>
          <a:lstStyle/>
          <a:p>
            <a:pPr indent="0" marL="0">
              <a:buNone/>
            </a:pPr>
            <a:r>
              <a:rPr lang="en-US" sz="1100" b="1" dirty="0">
                <a:solidFill>
                  <a:srgbClr val="6B6F6A"/>
                </a:solidFill>
                <a:latin typeface="Calibri" pitchFamily="34" charset="0"/>
                <a:ea typeface="Calibri" pitchFamily="34" charset="-122"/>
                <a:cs typeface="Calibri" pitchFamily="34" charset="-120"/>
              </a:rPr>
              <a:t>EcoTrack</a:t>
            </a:r>
            <a:endParaRPr lang="en-US" sz="1100" dirty="0"/>
          </a:p>
        </p:txBody>
      </p:sp>
      <p:sp>
        <p:nvSpPr>
          <p:cNvPr id="36" name="Text 27"/>
          <p:cNvSpPr/>
          <p:nvPr/>
        </p:nvSpPr>
        <p:spPr>
          <a:xfrm>
            <a:off x="11183112" y="6364224"/>
            <a:ext cx="502920" cy="320040"/>
          </a:xfrm>
          <a:prstGeom prst="rect">
            <a:avLst/>
          </a:prstGeom>
          <a:noFill/>
          <a:ln/>
        </p:spPr>
        <p:txBody>
          <a:bodyPr wrap="square" rtlCol="0" anchor="ctr"/>
          <a:lstStyle/>
          <a:p>
            <a:pPr algn="r" indent="0" marL="0">
              <a:buNone/>
            </a:pPr>
            <a:r>
              <a:rPr lang="en-US" sz="1100" dirty="0">
                <a:solidFill>
                  <a:srgbClr val="6B6F6A"/>
                </a:solidFill>
                <a:latin typeface="Calibri" pitchFamily="34" charset="0"/>
                <a:ea typeface="Calibri" pitchFamily="34" charset="-122"/>
                <a:cs typeface="Calibri"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CF9"/>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indent="0" marL="0">
              <a:buNone/>
            </a:pPr>
            <a:r>
              <a:rPr lang="en-US" sz="1300" b="1" spc="200" kern="0" dirty="0">
                <a:solidFill>
                  <a:srgbClr val="008A48"/>
                </a:solidFill>
                <a:latin typeface="Calibri" pitchFamily="34" charset="0"/>
                <a:ea typeface="Calibri" pitchFamily="34" charset="-122"/>
                <a:cs typeface="Calibri" pitchFamily="34" charset="-120"/>
              </a:rPr>
              <a:t>04 · MÉCANIQUE CENTRALE</a:t>
            </a:r>
            <a:endParaRPr lang="en-US" sz="1300" dirty="0"/>
          </a:p>
        </p:txBody>
      </p:sp>
      <p:sp>
        <p:nvSpPr>
          <p:cNvPr id="3" name="Text 1"/>
          <p:cNvSpPr/>
          <p:nvPr/>
        </p:nvSpPr>
        <p:spPr>
          <a:xfrm>
            <a:off x="530352" y="658368"/>
            <a:ext cx="11064240" cy="685800"/>
          </a:xfrm>
          <a:prstGeom prst="rect">
            <a:avLst/>
          </a:prstGeom>
          <a:noFill/>
          <a:ln/>
        </p:spPr>
        <p:txBody>
          <a:bodyPr wrap="square" lIns="0" tIns="0" rIns="0" bIns="0" rtlCol="0" anchor="ctr"/>
          <a:lstStyle/>
          <a:p>
            <a:pPr indent="0" marL="0">
              <a:buNone/>
            </a:pPr>
            <a:r>
              <a:rPr lang="en-US" sz="3000" b="1" dirty="0">
                <a:solidFill>
                  <a:srgbClr val="1A1A1A"/>
                </a:solidFill>
                <a:latin typeface="Calibri" pitchFamily="34" charset="0"/>
                <a:ea typeface="Calibri" pitchFamily="34" charset="-122"/>
                <a:cs typeface="Calibri" pitchFamily="34" charset="-120"/>
              </a:rPr>
              <a:t>Le calcul de l'empreinte en 3 étapes</a:t>
            </a:r>
            <a:endParaRPr lang="en-US" sz="3000" dirty="0"/>
          </a:p>
        </p:txBody>
      </p:sp>
      <p:sp>
        <p:nvSpPr>
          <p:cNvPr id="4" name="Shape 2"/>
          <p:cNvSpPr/>
          <p:nvPr/>
        </p:nvSpPr>
        <p:spPr>
          <a:xfrm>
            <a:off x="548640" y="1691640"/>
            <a:ext cx="3383280" cy="2468880"/>
          </a:xfrm>
          <a:prstGeom prst="roundRect">
            <a:avLst>
              <a:gd name="adj" fmla="val 4444"/>
            </a:avLst>
          </a:prstGeom>
          <a:solidFill>
            <a:srgbClr val="FFFFFF"/>
          </a:solidFill>
          <a:ln w="12700">
            <a:solidFill>
              <a:srgbClr val="E4E7E2"/>
            </a:solidFill>
            <a:prstDash val="solid"/>
          </a:ln>
          <a:effectLst>
            <a:outerShdw sx="100000" sy="100000" kx="0" ky="0" algn="bl" rotWithShape="0" blurRad="127000" dist="38100" dir="5400000">
              <a:srgbClr val="1A1A1A">
                <a:alpha val="10000"/>
              </a:srgbClr>
            </a:outerShdw>
          </a:effectLst>
        </p:spPr>
      </p:sp>
      <p:sp>
        <p:nvSpPr>
          <p:cNvPr id="5" name="Shape 3"/>
          <p:cNvSpPr/>
          <p:nvPr/>
        </p:nvSpPr>
        <p:spPr>
          <a:xfrm>
            <a:off x="1737360" y="1965960"/>
            <a:ext cx="1005840" cy="1005840"/>
          </a:xfrm>
          <a:prstGeom prst="ellipse">
            <a:avLst/>
          </a:prstGeom>
          <a:solidFill>
            <a:srgbClr val="008A48"/>
          </a:solidFill>
          <a:ln/>
          <a:effectLst>
            <a:outerShdw sx="100000" sy="100000" kx="0" ky="0" algn="bl" rotWithShape="0" blurRad="88900" dist="25400" dir="5400000">
              <a:srgbClr val="06402A">
                <a:alpha val="16000"/>
              </a:srgbClr>
            </a:outerShdw>
          </a:effectLst>
        </p:spPr>
      </p:sp>
      <p:pic>
        <p:nvPicPr>
          <p:cNvPr id="6" name="Image 0" descr="img/clip_white.png">    </p:cNvPr>
          <p:cNvPicPr>
            <a:picLocks noChangeAspect="1"/>
          </p:cNvPicPr>
          <p:nvPr/>
        </p:nvPicPr>
        <p:blipFill>
          <a:blip r:embed="rId1"/>
          <a:stretch>
            <a:fillRect/>
          </a:stretch>
        </p:blipFill>
        <p:spPr>
          <a:xfrm>
            <a:off x="2008937" y="2237537"/>
            <a:ext cx="462686" cy="462686"/>
          </a:xfrm>
          <a:prstGeom prst="rect">
            <a:avLst/>
          </a:prstGeom>
        </p:spPr>
      </p:pic>
      <p:sp>
        <p:nvSpPr>
          <p:cNvPr id="7" name="Shape 4"/>
          <p:cNvSpPr/>
          <p:nvPr/>
        </p:nvSpPr>
        <p:spPr>
          <a:xfrm>
            <a:off x="2286000" y="2560320"/>
            <a:ext cx="457200" cy="457200"/>
          </a:xfrm>
          <a:prstGeom prst="ellipse">
            <a:avLst/>
          </a:prstGeom>
          <a:solidFill>
            <a:srgbClr val="E6A700"/>
          </a:solidFill>
          <a:ln/>
        </p:spPr>
      </p:sp>
      <p:sp>
        <p:nvSpPr>
          <p:cNvPr id="8" name="Text 5"/>
          <p:cNvSpPr/>
          <p:nvPr/>
        </p:nvSpPr>
        <p:spPr>
          <a:xfrm>
            <a:off x="2286000" y="25603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9" name="Text 6"/>
          <p:cNvSpPr/>
          <p:nvPr/>
        </p:nvSpPr>
        <p:spPr>
          <a:xfrm>
            <a:off x="731520" y="3108960"/>
            <a:ext cx="3017520" cy="411480"/>
          </a:xfrm>
          <a:prstGeom prst="rect">
            <a:avLst/>
          </a:prstGeom>
          <a:noFill/>
          <a:ln/>
        </p:spPr>
        <p:txBody>
          <a:bodyPr wrap="square" lIns="0" tIns="0" rIns="0" bIns="0" rtlCol="0" anchor="ctr"/>
          <a:lstStyle/>
          <a:p>
            <a:pPr algn="ctr" indent="0" marL="0">
              <a:buNone/>
            </a:pPr>
            <a:r>
              <a:rPr lang="en-US" sz="1650" b="1" dirty="0">
                <a:solidFill>
                  <a:srgbClr val="1A1A1A"/>
                </a:solidFill>
                <a:latin typeface="Calibri" pitchFamily="34" charset="0"/>
                <a:ea typeface="Calibri" pitchFamily="34" charset="-122"/>
                <a:cs typeface="Calibri" pitchFamily="34" charset="-120"/>
              </a:rPr>
              <a:t>Questionnaire</a:t>
            </a:r>
            <a:endParaRPr lang="en-US" sz="1650" dirty="0"/>
          </a:p>
        </p:txBody>
      </p:sp>
      <p:sp>
        <p:nvSpPr>
          <p:cNvPr id="10" name="Text 7"/>
          <p:cNvSpPr/>
          <p:nvPr/>
        </p:nvSpPr>
        <p:spPr>
          <a:xfrm>
            <a:off x="777240" y="3520440"/>
            <a:ext cx="2926080" cy="594360"/>
          </a:xfrm>
          <a:prstGeom prst="rect">
            <a:avLst/>
          </a:prstGeom>
          <a:noFill/>
          <a:ln/>
        </p:spPr>
        <p:txBody>
          <a:bodyPr wrap="square" lIns="0" tIns="0" rIns="0" bIns="0" rtlCol="0" anchor="ctr"/>
          <a:lstStyle/>
          <a:p>
            <a:pPr algn="ctr" indent="0" marL="0">
              <a:buNone/>
            </a:pPr>
            <a:r>
              <a:rPr lang="en-US" sz="1200" dirty="0">
                <a:solidFill>
                  <a:srgbClr val="6B6F6A"/>
                </a:solidFill>
                <a:latin typeface="Calibri" pitchFamily="34" charset="0"/>
                <a:ea typeface="Calibri" pitchFamily="34" charset="-122"/>
                <a:cs typeface="Calibri" pitchFamily="34" charset="-120"/>
              </a:rPr>
              <a:t>L'utilisateur répond (curseurs &amp; choix) sur 4 catégories du quotidien.</a:t>
            </a:r>
            <a:endParaRPr lang="en-US" sz="1200" dirty="0"/>
          </a:p>
        </p:txBody>
      </p:sp>
      <p:pic>
        <p:nvPicPr>
          <p:cNvPr id="11" name="Image 1" descr="img/arrow_green.png">    </p:cNvPr>
          <p:cNvPicPr>
            <a:picLocks noChangeAspect="1"/>
          </p:cNvPicPr>
          <p:nvPr/>
        </p:nvPicPr>
        <p:blipFill>
          <a:blip r:embed="rId2"/>
          <a:stretch>
            <a:fillRect/>
          </a:stretch>
        </p:blipFill>
        <p:spPr>
          <a:xfrm>
            <a:off x="4096512" y="2651760"/>
            <a:ext cx="457200" cy="457200"/>
          </a:xfrm>
          <a:prstGeom prst="rect">
            <a:avLst/>
          </a:prstGeom>
        </p:spPr>
      </p:pic>
      <p:sp>
        <p:nvSpPr>
          <p:cNvPr id="12" name="Shape 8"/>
          <p:cNvSpPr/>
          <p:nvPr/>
        </p:nvSpPr>
        <p:spPr>
          <a:xfrm>
            <a:off x="4498848" y="1691640"/>
            <a:ext cx="3383280" cy="2468880"/>
          </a:xfrm>
          <a:prstGeom prst="roundRect">
            <a:avLst>
              <a:gd name="adj" fmla="val 4444"/>
            </a:avLst>
          </a:prstGeom>
          <a:solidFill>
            <a:srgbClr val="FFFFFF"/>
          </a:solidFill>
          <a:ln w="12700">
            <a:solidFill>
              <a:srgbClr val="E4E7E2"/>
            </a:solidFill>
            <a:prstDash val="solid"/>
          </a:ln>
          <a:effectLst>
            <a:outerShdw sx="100000" sy="100000" kx="0" ky="0" algn="bl" rotWithShape="0" blurRad="127000" dist="38100" dir="5400000">
              <a:srgbClr val="1A1A1A">
                <a:alpha val="10000"/>
              </a:srgbClr>
            </a:outerShdw>
          </a:effectLst>
        </p:spPr>
      </p:sp>
      <p:sp>
        <p:nvSpPr>
          <p:cNvPr id="13" name="Shape 9"/>
          <p:cNvSpPr/>
          <p:nvPr/>
        </p:nvSpPr>
        <p:spPr>
          <a:xfrm>
            <a:off x="5687568" y="1965960"/>
            <a:ext cx="1005840" cy="1005840"/>
          </a:xfrm>
          <a:prstGeom prst="ellipse">
            <a:avLst/>
          </a:prstGeom>
          <a:solidFill>
            <a:srgbClr val="008A48"/>
          </a:solidFill>
          <a:ln/>
          <a:effectLst>
            <a:outerShdw sx="100000" sy="100000" kx="0" ky="0" algn="bl" rotWithShape="0" blurRad="88900" dist="25400" dir="5400000">
              <a:srgbClr val="06402A">
                <a:alpha val="16000"/>
              </a:srgbClr>
            </a:outerShdw>
          </a:effectLst>
        </p:spPr>
      </p:sp>
      <p:pic>
        <p:nvPicPr>
          <p:cNvPr id="14" name="Image 2" descr="img/leaf_white.png">    </p:cNvPr>
          <p:cNvPicPr>
            <a:picLocks noChangeAspect="1"/>
          </p:cNvPicPr>
          <p:nvPr/>
        </p:nvPicPr>
        <p:blipFill>
          <a:blip r:embed="rId3"/>
          <a:stretch>
            <a:fillRect/>
          </a:stretch>
        </p:blipFill>
        <p:spPr>
          <a:xfrm>
            <a:off x="5959145" y="2237537"/>
            <a:ext cx="462686" cy="462686"/>
          </a:xfrm>
          <a:prstGeom prst="rect">
            <a:avLst/>
          </a:prstGeom>
        </p:spPr>
      </p:pic>
      <p:sp>
        <p:nvSpPr>
          <p:cNvPr id="15" name="Shape 10"/>
          <p:cNvSpPr/>
          <p:nvPr/>
        </p:nvSpPr>
        <p:spPr>
          <a:xfrm>
            <a:off x="6236208" y="2560320"/>
            <a:ext cx="457200" cy="457200"/>
          </a:xfrm>
          <a:prstGeom prst="ellipse">
            <a:avLst/>
          </a:prstGeom>
          <a:solidFill>
            <a:srgbClr val="E6A700"/>
          </a:solidFill>
          <a:ln/>
        </p:spPr>
      </p:sp>
      <p:sp>
        <p:nvSpPr>
          <p:cNvPr id="16" name="Text 11"/>
          <p:cNvSpPr/>
          <p:nvPr/>
        </p:nvSpPr>
        <p:spPr>
          <a:xfrm>
            <a:off x="6236208" y="25603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7" name="Text 12"/>
          <p:cNvSpPr/>
          <p:nvPr/>
        </p:nvSpPr>
        <p:spPr>
          <a:xfrm>
            <a:off x="4681728" y="3108960"/>
            <a:ext cx="3017520" cy="411480"/>
          </a:xfrm>
          <a:prstGeom prst="rect">
            <a:avLst/>
          </a:prstGeom>
          <a:noFill/>
          <a:ln/>
        </p:spPr>
        <p:txBody>
          <a:bodyPr wrap="square" lIns="0" tIns="0" rIns="0" bIns="0" rtlCol="0" anchor="ctr"/>
          <a:lstStyle/>
          <a:p>
            <a:pPr algn="ctr" indent="0" marL="0">
              <a:buNone/>
            </a:pPr>
            <a:r>
              <a:rPr lang="en-US" sz="1650" b="1" dirty="0">
                <a:solidFill>
                  <a:srgbClr val="1A1A1A"/>
                </a:solidFill>
                <a:latin typeface="Calibri" pitchFamily="34" charset="0"/>
                <a:ea typeface="Calibri" pitchFamily="34" charset="-122"/>
                <a:cs typeface="Calibri" pitchFamily="34" charset="-120"/>
              </a:rPr>
              <a:t>Conversion en CO2</a:t>
            </a:r>
            <a:endParaRPr lang="en-US" sz="1650" dirty="0"/>
          </a:p>
        </p:txBody>
      </p:sp>
      <p:sp>
        <p:nvSpPr>
          <p:cNvPr id="18" name="Text 13"/>
          <p:cNvSpPr/>
          <p:nvPr/>
        </p:nvSpPr>
        <p:spPr>
          <a:xfrm>
            <a:off x="4727448" y="3520440"/>
            <a:ext cx="2926080" cy="594360"/>
          </a:xfrm>
          <a:prstGeom prst="rect">
            <a:avLst/>
          </a:prstGeom>
          <a:noFill/>
          <a:ln/>
        </p:spPr>
        <p:txBody>
          <a:bodyPr wrap="square" lIns="0" tIns="0" rIns="0" bIns="0" rtlCol="0" anchor="ctr"/>
          <a:lstStyle/>
          <a:p>
            <a:pPr algn="ctr" indent="0" marL="0">
              <a:buNone/>
            </a:pPr>
            <a:r>
              <a:rPr lang="en-US" sz="1200" dirty="0">
                <a:solidFill>
                  <a:srgbClr val="6B6F6A"/>
                </a:solidFill>
                <a:latin typeface="Calibri" pitchFamily="34" charset="0"/>
                <a:ea typeface="Calibri" pitchFamily="34" charset="-122"/>
                <a:cs typeface="Calibri" pitchFamily="34" charset="-120"/>
              </a:rPr>
              <a:t>Chaque réponse est convertie ; l'appli agrège le total annuel et le détail par poste.</a:t>
            </a:r>
            <a:endParaRPr lang="en-US" sz="1200" dirty="0"/>
          </a:p>
        </p:txBody>
      </p:sp>
      <p:pic>
        <p:nvPicPr>
          <p:cNvPr id="19" name="Image 3" descr="img/arrow_green.png">    </p:cNvPr>
          <p:cNvPicPr>
            <a:picLocks noChangeAspect="1"/>
          </p:cNvPicPr>
          <p:nvPr/>
        </p:nvPicPr>
        <p:blipFill>
          <a:blip r:embed="rId4"/>
          <a:stretch>
            <a:fillRect/>
          </a:stretch>
        </p:blipFill>
        <p:spPr>
          <a:xfrm>
            <a:off x="8046720" y="2651760"/>
            <a:ext cx="457200" cy="457200"/>
          </a:xfrm>
          <a:prstGeom prst="rect">
            <a:avLst/>
          </a:prstGeom>
        </p:spPr>
      </p:pic>
      <p:sp>
        <p:nvSpPr>
          <p:cNvPr id="20" name="Shape 14"/>
          <p:cNvSpPr/>
          <p:nvPr/>
        </p:nvSpPr>
        <p:spPr>
          <a:xfrm>
            <a:off x="8449056" y="1691640"/>
            <a:ext cx="3383280" cy="2468880"/>
          </a:xfrm>
          <a:prstGeom prst="roundRect">
            <a:avLst>
              <a:gd name="adj" fmla="val 4444"/>
            </a:avLst>
          </a:prstGeom>
          <a:solidFill>
            <a:srgbClr val="FFFFFF"/>
          </a:solidFill>
          <a:ln w="12700">
            <a:solidFill>
              <a:srgbClr val="E4E7E2"/>
            </a:solidFill>
            <a:prstDash val="solid"/>
          </a:ln>
          <a:effectLst>
            <a:outerShdw sx="100000" sy="100000" kx="0" ky="0" algn="bl" rotWithShape="0" blurRad="127000" dist="38100" dir="5400000">
              <a:srgbClr val="1A1A1A">
                <a:alpha val="10000"/>
              </a:srgbClr>
            </a:outerShdw>
          </a:effectLst>
        </p:spPr>
      </p:sp>
      <p:sp>
        <p:nvSpPr>
          <p:cNvPr id="21" name="Shape 15"/>
          <p:cNvSpPr/>
          <p:nvPr/>
        </p:nvSpPr>
        <p:spPr>
          <a:xfrm>
            <a:off x="9637776" y="1965960"/>
            <a:ext cx="1005840" cy="1005840"/>
          </a:xfrm>
          <a:prstGeom prst="ellipse">
            <a:avLst/>
          </a:prstGeom>
          <a:solidFill>
            <a:srgbClr val="008A48"/>
          </a:solidFill>
          <a:ln/>
          <a:effectLst>
            <a:outerShdw sx="100000" sy="100000" kx="0" ky="0" algn="bl" rotWithShape="0" blurRad="88900" dist="25400" dir="5400000">
              <a:srgbClr val="06402A">
                <a:alpha val="16000"/>
              </a:srgbClr>
            </a:outerShdw>
          </a:effectLst>
        </p:spPr>
      </p:sp>
      <p:pic>
        <p:nvPicPr>
          <p:cNvPr id="22" name="Image 4" descr="img/target_white.png">    </p:cNvPr>
          <p:cNvPicPr>
            <a:picLocks noChangeAspect="1"/>
          </p:cNvPicPr>
          <p:nvPr/>
        </p:nvPicPr>
        <p:blipFill>
          <a:blip r:embed="rId5"/>
          <a:stretch>
            <a:fillRect/>
          </a:stretch>
        </p:blipFill>
        <p:spPr>
          <a:xfrm>
            <a:off x="9909353" y="2237537"/>
            <a:ext cx="462686" cy="462686"/>
          </a:xfrm>
          <a:prstGeom prst="rect">
            <a:avLst/>
          </a:prstGeom>
        </p:spPr>
      </p:pic>
      <p:sp>
        <p:nvSpPr>
          <p:cNvPr id="23" name="Shape 16"/>
          <p:cNvSpPr/>
          <p:nvPr/>
        </p:nvSpPr>
        <p:spPr>
          <a:xfrm>
            <a:off x="10186416" y="2560320"/>
            <a:ext cx="457200" cy="457200"/>
          </a:xfrm>
          <a:prstGeom prst="ellipse">
            <a:avLst/>
          </a:prstGeom>
          <a:solidFill>
            <a:srgbClr val="E6A700"/>
          </a:solidFill>
          <a:ln/>
        </p:spPr>
      </p:sp>
      <p:sp>
        <p:nvSpPr>
          <p:cNvPr id="24" name="Text 17"/>
          <p:cNvSpPr/>
          <p:nvPr/>
        </p:nvSpPr>
        <p:spPr>
          <a:xfrm>
            <a:off x="10186416" y="25603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Text 18"/>
          <p:cNvSpPr/>
          <p:nvPr/>
        </p:nvSpPr>
        <p:spPr>
          <a:xfrm>
            <a:off x="8631936" y="3108960"/>
            <a:ext cx="3017520" cy="411480"/>
          </a:xfrm>
          <a:prstGeom prst="rect">
            <a:avLst/>
          </a:prstGeom>
          <a:noFill/>
          <a:ln/>
        </p:spPr>
        <p:txBody>
          <a:bodyPr wrap="square" lIns="0" tIns="0" rIns="0" bIns="0" rtlCol="0" anchor="ctr"/>
          <a:lstStyle/>
          <a:p>
            <a:pPr algn="ctr" indent="0" marL="0">
              <a:buNone/>
            </a:pPr>
            <a:r>
              <a:rPr lang="en-US" sz="1650" b="1" dirty="0">
                <a:solidFill>
                  <a:srgbClr val="1A1A1A"/>
                </a:solidFill>
                <a:latin typeface="Calibri" pitchFamily="34" charset="0"/>
                <a:ea typeface="Calibri" pitchFamily="34" charset="-122"/>
                <a:cs typeface="Calibri" pitchFamily="34" charset="-120"/>
              </a:rPr>
              <a:t>Défis ciblés</a:t>
            </a:r>
            <a:endParaRPr lang="en-US" sz="1650" dirty="0"/>
          </a:p>
        </p:txBody>
      </p:sp>
      <p:sp>
        <p:nvSpPr>
          <p:cNvPr id="26" name="Text 19"/>
          <p:cNvSpPr/>
          <p:nvPr/>
        </p:nvSpPr>
        <p:spPr>
          <a:xfrm>
            <a:off x="8677656" y="3520440"/>
            <a:ext cx="2926080" cy="594360"/>
          </a:xfrm>
          <a:prstGeom prst="rect">
            <a:avLst/>
          </a:prstGeom>
          <a:noFill/>
          <a:ln/>
        </p:spPr>
        <p:txBody>
          <a:bodyPr wrap="square" lIns="0" tIns="0" rIns="0" bIns="0" rtlCol="0" anchor="ctr"/>
          <a:lstStyle/>
          <a:p>
            <a:pPr algn="ctr" indent="0" marL="0">
              <a:buNone/>
            </a:pPr>
            <a:r>
              <a:rPr lang="en-US" sz="1200" dirty="0">
                <a:solidFill>
                  <a:srgbClr val="6B6F6A"/>
                </a:solidFill>
                <a:latin typeface="Calibri" pitchFamily="34" charset="0"/>
                <a:ea typeface="Calibri" pitchFamily="34" charset="-122"/>
                <a:cs typeface="Calibri" pitchFamily="34" charset="-120"/>
              </a:rPr>
              <a:t>Le poste le plus émetteur détermine les défis proposés les jours suivants.</a:t>
            </a:r>
            <a:endParaRPr lang="en-US" sz="1200" dirty="0"/>
          </a:p>
        </p:txBody>
      </p:sp>
      <p:sp>
        <p:nvSpPr>
          <p:cNvPr id="27" name="Text 20"/>
          <p:cNvSpPr/>
          <p:nvPr/>
        </p:nvSpPr>
        <p:spPr>
          <a:xfrm>
            <a:off x="548640" y="4434840"/>
            <a:ext cx="5486400" cy="320040"/>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Les 4 catégories mesurées</a:t>
            </a:r>
            <a:endParaRPr lang="en-US" sz="1400" dirty="0"/>
          </a:p>
        </p:txBody>
      </p:sp>
      <p:sp>
        <p:nvSpPr>
          <p:cNvPr id="28" name="Shape 21"/>
          <p:cNvSpPr/>
          <p:nvPr/>
        </p:nvSpPr>
        <p:spPr>
          <a:xfrm>
            <a:off x="548640" y="4846320"/>
            <a:ext cx="2651760" cy="777240"/>
          </a:xfrm>
          <a:prstGeom prst="roundRect">
            <a:avLst>
              <a:gd name="adj" fmla="val 16471"/>
            </a:avLst>
          </a:prstGeom>
          <a:solidFill>
            <a:srgbClr val="EDF8F0"/>
          </a:solidFill>
          <a:ln/>
        </p:spPr>
      </p:sp>
      <p:pic>
        <p:nvPicPr>
          <p:cNvPr id="29" name="Image 5" descr="img/velo_green.png">    </p:cNvPr>
          <p:cNvPicPr>
            <a:picLocks noChangeAspect="1"/>
          </p:cNvPicPr>
          <p:nvPr/>
        </p:nvPicPr>
        <p:blipFill>
          <a:blip r:embed="rId6"/>
          <a:stretch>
            <a:fillRect/>
          </a:stretch>
        </p:blipFill>
        <p:spPr>
          <a:xfrm>
            <a:off x="777240" y="5029200"/>
            <a:ext cx="411480" cy="411480"/>
          </a:xfrm>
          <a:prstGeom prst="rect">
            <a:avLst/>
          </a:prstGeom>
        </p:spPr>
      </p:pic>
      <p:sp>
        <p:nvSpPr>
          <p:cNvPr id="30" name="Text 22"/>
          <p:cNvSpPr/>
          <p:nvPr/>
        </p:nvSpPr>
        <p:spPr>
          <a:xfrm>
            <a:off x="1325880" y="4846320"/>
            <a:ext cx="1828800" cy="777240"/>
          </a:xfrm>
          <a:prstGeom prst="rect">
            <a:avLst/>
          </a:prstGeom>
          <a:noFill/>
          <a:ln/>
        </p:spPr>
        <p:txBody>
          <a:bodyPr wrap="square" lIns="0" tIns="0" rIns="0" bIns="0" rtlCol="0" anchor="ctr"/>
          <a:lstStyle/>
          <a:p>
            <a:pPr indent="0" marL="0">
              <a:buNone/>
            </a:pPr>
            <a:r>
              <a:rPr lang="en-US" sz="1350" b="1" dirty="0">
                <a:solidFill>
                  <a:srgbClr val="007040"/>
                </a:solidFill>
                <a:latin typeface="Calibri" pitchFamily="34" charset="0"/>
                <a:ea typeface="Calibri" pitchFamily="34" charset="-122"/>
                <a:cs typeface="Calibri" pitchFamily="34" charset="-120"/>
              </a:rPr>
              <a:t>Transport</a:t>
            </a:r>
            <a:endParaRPr lang="en-US" sz="1350" dirty="0"/>
          </a:p>
        </p:txBody>
      </p:sp>
      <p:sp>
        <p:nvSpPr>
          <p:cNvPr id="31" name="Shape 23"/>
          <p:cNvSpPr/>
          <p:nvPr/>
        </p:nvSpPr>
        <p:spPr>
          <a:xfrm>
            <a:off x="3383280" y="4846320"/>
            <a:ext cx="2651760" cy="777240"/>
          </a:xfrm>
          <a:prstGeom prst="roundRect">
            <a:avLst>
              <a:gd name="adj" fmla="val 16471"/>
            </a:avLst>
          </a:prstGeom>
          <a:solidFill>
            <a:srgbClr val="EDF8F0"/>
          </a:solidFill>
          <a:ln/>
        </p:spPr>
      </p:sp>
      <p:pic>
        <p:nvPicPr>
          <p:cNvPr id="32" name="Image 6" descr="img/home_green.png">    </p:cNvPr>
          <p:cNvPicPr>
            <a:picLocks noChangeAspect="1"/>
          </p:cNvPicPr>
          <p:nvPr/>
        </p:nvPicPr>
        <p:blipFill>
          <a:blip r:embed="rId7"/>
          <a:stretch>
            <a:fillRect/>
          </a:stretch>
        </p:blipFill>
        <p:spPr>
          <a:xfrm>
            <a:off x="3611880" y="5029200"/>
            <a:ext cx="411480" cy="411480"/>
          </a:xfrm>
          <a:prstGeom prst="rect">
            <a:avLst/>
          </a:prstGeom>
        </p:spPr>
      </p:pic>
      <p:sp>
        <p:nvSpPr>
          <p:cNvPr id="33" name="Text 24"/>
          <p:cNvSpPr/>
          <p:nvPr/>
        </p:nvSpPr>
        <p:spPr>
          <a:xfrm>
            <a:off x="4160520" y="4846320"/>
            <a:ext cx="1828800" cy="777240"/>
          </a:xfrm>
          <a:prstGeom prst="rect">
            <a:avLst/>
          </a:prstGeom>
          <a:noFill/>
          <a:ln/>
        </p:spPr>
        <p:txBody>
          <a:bodyPr wrap="square" lIns="0" tIns="0" rIns="0" bIns="0" rtlCol="0" anchor="ctr"/>
          <a:lstStyle/>
          <a:p>
            <a:pPr indent="0" marL="0">
              <a:buNone/>
            </a:pPr>
            <a:r>
              <a:rPr lang="en-US" sz="1350" b="1" dirty="0">
                <a:solidFill>
                  <a:srgbClr val="007040"/>
                </a:solidFill>
                <a:latin typeface="Calibri" pitchFamily="34" charset="0"/>
                <a:ea typeface="Calibri" pitchFamily="34" charset="-122"/>
                <a:cs typeface="Calibri" pitchFamily="34" charset="-120"/>
              </a:rPr>
              <a:t>Logement</a:t>
            </a:r>
            <a:endParaRPr lang="en-US" sz="1350" dirty="0"/>
          </a:p>
        </p:txBody>
      </p:sp>
      <p:sp>
        <p:nvSpPr>
          <p:cNvPr id="34" name="Shape 25"/>
          <p:cNvSpPr/>
          <p:nvPr/>
        </p:nvSpPr>
        <p:spPr>
          <a:xfrm>
            <a:off x="6217920" y="4846320"/>
            <a:ext cx="2651760" cy="777240"/>
          </a:xfrm>
          <a:prstGeom prst="roundRect">
            <a:avLst>
              <a:gd name="adj" fmla="val 16471"/>
            </a:avLst>
          </a:prstGeom>
          <a:solidFill>
            <a:srgbClr val="EDF8F0"/>
          </a:solidFill>
          <a:ln/>
        </p:spPr>
      </p:sp>
      <p:pic>
        <p:nvPicPr>
          <p:cNvPr id="35" name="Image 7" descr="img/food_green.png">    </p:cNvPr>
          <p:cNvPicPr>
            <a:picLocks noChangeAspect="1"/>
          </p:cNvPicPr>
          <p:nvPr/>
        </p:nvPicPr>
        <p:blipFill>
          <a:blip r:embed="rId8"/>
          <a:stretch>
            <a:fillRect/>
          </a:stretch>
        </p:blipFill>
        <p:spPr>
          <a:xfrm>
            <a:off x="6446520" y="5029200"/>
            <a:ext cx="411480" cy="411480"/>
          </a:xfrm>
          <a:prstGeom prst="rect">
            <a:avLst/>
          </a:prstGeom>
        </p:spPr>
      </p:pic>
      <p:sp>
        <p:nvSpPr>
          <p:cNvPr id="36" name="Text 26"/>
          <p:cNvSpPr/>
          <p:nvPr/>
        </p:nvSpPr>
        <p:spPr>
          <a:xfrm>
            <a:off x="6995160" y="4846320"/>
            <a:ext cx="1828800" cy="777240"/>
          </a:xfrm>
          <a:prstGeom prst="rect">
            <a:avLst/>
          </a:prstGeom>
          <a:noFill/>
          <a:ln/>
        </p:spPr>
        <p:txBody>
          <a:bodyPr wrap="square" lIns="0" tIns="0" rIns="0" bIns="0" rtlCol="0" anchor="ctr"/>
          <a:lstStyle/>
          <a:p>
            <a:pPr indent="0" marL="0">
              <a:buNone/>
            </a:pPr>
            <a:r>
              <a:rPr lang="en-US" sz="1350" b="1" dirty="0">
                <a:solidFill>
                  <a:srgbClr val="007040"/>
                </a:solidFill>
                <a:latin typeface="Calibri" pitchFamily="34" charset="0"/>
                <a:ea typeface="Calibri" pitchFamily="34" charset="-122"/>
                <a:cs typeface="Calibri" pitchFamily="34" charset="-120"/>
              </a:rPr>
              <a:t>Alimentation</a:t>
            </a:r>
            <a:endParaRPr lang="en-US" sz="1350" dirty="0"/>
          </a:p>
        </p:txBody>
      </p:sp>
      <p:sp>
        <p:nvSpPr>
          <p:cNvPr id="37" name="Shape 27"/>
          <p:cNvSpPr/>
          <p:nvPr/>
        </p:nvSpPr>
        <p:spPr>
          <a:xfrm>
            <a:off x="9052560" y="4846320"/>
            <a:ext cx="2651760" cy="777240"/>
          </a:xfrm>
          <a:prstGeom prst="roundRect">
            <a:avLst>
              <a:gd name="adj" fmla="val 16471"/>
            </a:avLst>
          </a:prstGeom>
          <a:solidFill>
            <a:srgbClr val="EDF8F0"/>
          </a:solidFill>
          <a:ln/>
        </p:spPr>
      </p:sp>
      <p:pic>
        <p:nvPicPr>
          <p:cNvPr id="38" name="Image 8" descr="img/screen_green.png">    </p:cNvPr>
          <p:cNvPicPr>
            <a:picLocks noChangeAspect="1"/>
          </p:cNvPicPr>
          <p:nvPr/>
        </p:nvPicPr>
        <p:blipFill>
          <a:blip r:embed="rId9"/>
          <a:stretch>
            <a:fillRect/>
          </a:stretch>
        </p:blipFill>
        <p:spPr>
          <a:xfrm>
            <a:off x="9281160" y="5029200"/>
            <a:ext cx="411480" cy="411480"/>
          </a:xfrm>
          <a:prstGeom prst="rect">
            <a:avLst/>
          </a:prstGeom>
        </p:spPr>
      </p:pic>
      <p:sp>
        <p:nvSpPr>
          <p:cNvPr id="39" name="Text 28"/>
          <p:cNvSpPr/>
          <p:nvPr/>
        </p:nvSpPr>
        <p:spPr>
          <a:xfrm>
            <a:off x="9829800" y="4846320"/>
            <a:ext cx="1828800" cy="777240"/>
          </a:xfrm>
          <a:prstGeom prst="rect">
            <a:avLst/>
          </a:prstGeom>
          <a:noFill/>
          <a:ln/>
        </p:spPr>
        <p:txBody>
          <a:bodyPr wrap="square" lIns="0" tIns="0" rIns="0" bIns="0" rtlCol="0" anchor="ctr"/>
          <a:lstStyle/>
          <a:p>
            <a:pPr indent="0" marL="0">
              <a:buNone/>
            </a:pPr>
            <a:r>
              <a:rPr lang="en-US" sz="1350" b="1" dirty="0">
                <a:solidFill>
                  <a:srgbClr val="007040"/>
                </a:solidFill>
                <a:latin typeface="Calibri" pitchFamily="34" charset="0"/>
                <a:ea typeface="Calibri" pitchFamily="34" charset="-122"/>
                <a:cs typeface="Calibri" pitchFamily="34" charset="-120"/>
              </a:rPr>
              <a:t>Achats &amp; numérique</a:t>
            </a:r>
            <a:endParaRPr lang="en-US" sz="1350" dirty="0"/>
          </a:p>
        </p:txBody>
      </p:sp>
      <p:pic>
        <p:nvPicPr>
          <p:cNvPr id="40" name="Image 9" descr="img/leaf_green.png">    </p:cNvPr>
          <p:cNvPicPr>
            <a:picLocks noChangeAspect="1"/>
          </p:cNvPicPr>
          <p:nvPr/>
        </p:nvPicPr>
        <p:blipFill>
          <a:blip r:embed="rId10"/>
          <a:stretch>
            <a:fillRect/>
          </a:stretch>
        </p:blipFill>
        <p:spPr>
          <a:xfrm>
            <a:off x="502920" y="6437376"/>
            <a:ext cx="182880" cy="182880"/>
          </a:xfrm>
          <a:prstGeom prst="rect">
            <a:avLst/>
          </a:prstGeom>
        </p:spPr>
      </p:pic>
      <p:sp>
        <p:nvSpPr>
          <p:cNvPr id="41" name="Text 29"/>
          <p:cNvSpPr/>
          <p:nvPr/>
        </p:nvSpPr>
        <p:spPr>
          <a:xfrm>
            <a:off x="731520" y="6364224"/>
            <a:ext cx="1828800" cy="320040"/>
          </a:xfrm>
          <a:prstGeom prst="rect">
            <a:avLst/>
          </a:prstGeom>
          <a:noFill/>
          <a:ln/>
        </p:spPr>
        <p:txBody>
          <a:bodyPr wrap="square" rtlCol="0" anchor="ctr"/>
          <a:lstStyle/>
          <a:p>
            <a:pPr indent="0" marL="0">
              <a:buNone/>
            </a:pPr>
            <a:r>
              <a:rPr lang="en-US" sz="1100" b="1" dirty="0">
                <a:solidFill>
                  <a:srgbClr val="6B6F6A"/>
                </a:solidFill>
                <a:latin typeface="Calibri" pitchFamily="34" charset="0"/>
                <a:ea typeface="Calibri" pitchFamily="34" charset="-122"/>
                <a:cs typeface="Calibri" pitchFamily="34" charset="-120"/>
              </a:rPr>
              <a:t>EcoTrack</a:t>
            </a:r>
            <a:endParaRPr lang="en-US" sz="1100" dirty="0"/>
          </a:p>
        </p:txBody>
      </p:sp>
      <p:sp>
        <p:nvSpPr>
          <p:cNvPr id="42" name="Text 30"/>
          <p:cNvSpPr/>
          <p:nvPr/>
        </p:nvSpPr>
        <p:spPr>
          <a:xfrm>
            <a:off x="11183112" y="6364224"/>
            <a:ext cx="502920" cy="320040"/>
          </a:xfrm>
          <a:prstGeom prst="rect">
            <a:avLst/>
          </a:prstGeom>
          <a:noFill/>
          <a:ln/>
        </p:spPr>
        <p:txBody>
          <a:bodyPr wrap="square" rtlCol="0" anchor="ctr"/>
          <a:lstStyle/>
          <a:p>
            <a:pPr algn="r" indent="0" marL="0">
              <a:buNone/>
            </a:pPr>
            <a:r>
              <a:rPr lang="en-US" sz="1100" dirty="0">
                <a:solidFill>
                  <a:srgbClr val="6B6F6A"/>
                </a:solidFill>
                <a:latin typeface="Calibri" pitchFamily="34" charset="0"/>
                <a:ea typeface="Calibri" pitchFamily="34" charset="-122"/>
                <a:cs typeface="Calibri"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CF9"/>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indent="0" marL="0">
              <a:buNone/>
            </a:pPr>
            <a:r>
              <a:rPr lang="en-US" sz="1300" b="1" spc="200" kern="0" dirty="0">
                <a:solidFill>
                  <a:srgbClr val="008A48"/>
                </a:solidFill>
                <a:latin typeface="Calibri" pitchFamily="34" charset="0"/>
                <a:ea typeface="Calibri" pitchFamily="34" charset="-122"/>
                <a:cs typeface="Calibri" pitchFamily="34" charset="-120"/>
              </a:rPr>
              <a:t>04 · PÉRIMÈTRE &amp; OBJECTIFS</a:t>
            </a:r>
            <a:endParaRPr lang="en-US" sz="1300" dirty="0"/>
          </a:p>
        </p:txBody>
      </p:sp>
      <p:sp>
        <p:nvSpPr>
          <p:cNvPr id="3" name="Text 1"/>
          <p:cNvSpPr/>
          <p:nvPr/>
        </p:nvSpPr>
        <p:spPr>
          <a:xfrm>
            <a:off x="530352" y="658368"/>
            <a:ext cx="11064240" cy="685800"/>
          </a:xfrm>
          <a:prstGeom prst="rect">
            <a:avLst/>
          </a:prstGeom>
          <a:noFill/>
          <a:ln/>
        </p:spPr>
        <p:txBody>
          <a:bodyPr wrap="square" lIns="0" tIns="0" rIns="0" bIns="0" rtlCol="0" anchor="ctr"/>
          <a:lstStyle/>
          <a:p>
            <a:pPr indent="0" marL="0">
              <a:buNone/>
            </a:pPr>
            <a:r>
              <a:rPr lang="en-US" sz="3000" b="1" dirty="0">
                <a:solidFill>
                  <a:srgbClr val="1A1A1A"/>
                </a:solidFill>
                <a:latin typeface="Calibri" pitchFamily="34" charset="0"/>
                <a:ea typeface="Calibri" pitchFamily="34" charset="-122"/>
                <a:cs typeface="Calibri" pitchFamily="34" charset="-120"/>
              </a:rPr>
              <a:t>Un MVP volontairement resserré</a:t>
            </a:r>
            <a:endParaRPr lang="en-US" sz="3000" dirty="0"/>
          </a:p>
        </p:txBody>
      </p:sp>
      <p:sp>
        <p:nvSpPr>
          <p:cNvPr id="4" name="Text 2"/>
          <p:cNvSpPr/>
          <p:nvPr/>
        </p:nvSpPr>
        <p:spPr>
          <a:xfrm>
            <a:off x="548640" y="1371600"/>
            <a:ext cx="11064240" cy="365760"/>
          </a:xfrm>
          <a:prstGeom prst="rect">
            <a:avLst/>
          </a:prstGeom>
          <a:noFill/>
          <a:ln/>
        </p:spPr>
        <p:txBody>
          <a:bodyPr wrap="square" lIns="0" tIns="0" rIns="0" bIns="0" rtlCol="0" anchor="ctr"/>
          <a:lstStyle/>
          <a:p>
            <a:pPr indent="0" marL="0">
              <a:buNone/>
            </a:pPr>
            <a:r>
              <a:rPr lang="en-US" sz="1400" i="1" dirty="0">
                <a:solidFill>
                  <a:srgbClr val="007040"/>
                </a:solidFill>
                <a:latin typeface="Calibri" pitchFamily="34" charset="0"/>
                <a:ea typeface="Calibri" pitchFamily="34" charset="-122"/>
                <a:cs typeface="Calibri" pitchFamily="34" charset="-120"/>
              </a:rPr>
              <a:t>Périmètre concentré sur l'essentiel pour livrer un produit fonctionnel ; le confort et la communauté sont reportés.</a:t>
            </a:r>
            <a:endParaRPr lang="en-US" sz="1400" dirty="0"/>
          </a:p>
        </p:txBody>
      </p:sp>
      <p:sp>
        <p:nvSpPr>
          <p:cNvPr id="5" name="Shape 3"/>
          <p:cNvSpPr/>
          <p:nvPr/>
        </p:nvSpPr>
        <p:spPr>
          <a:xfrm>
            <a:off x="548640" y="1874520"/>
            <a:ext cx="5532120" cy="3977640"/>
          </a:xfrm>
          <a:prstGeom prst="roundRect">
            <a:avLst>
              <a:gd name="adj" fmla="val 2759"/>
            </a:avLst>
          </a:prstGeom>
          <a:solidFill>
            <a:srgbClr val="FFFFFF"/>
          </a:solidFill>
          <a:ln w="12700">
            <a:solidFill>
              <a:srgbClr val="E4E7E2"/>
            </a:solidFill>
            <a:prstDash val="solid"/>
          </a:ln>
          <a:effectLst>
            <a:outerShdw sx="100000" sy="100000" kx="0" ky="0" algn="bl" rotWithShape="0" blurRad="127000" dist="38100" dir="5400000">
              <a:srgbClr val="1A1A1A">
                <a:alpha val="10000"/>
              </a:srgbClr>
            </a:outerShdw>
          </a:effectLst>
        </p:spPr>
      </p:sp>
      <p:sp>
        <p:nvSpPr>
          <p:cNvPr id="6" name="Shape 4"/>
          <p:cNvSpPr/>
          <p:nvPr/>
        </p:nvSpPr>
        <p:spPr>
          <a:xfrm>
            <a:off x="868680" y="2148840"/>
            <a:ext cx="566928" cy="566928"/>
          </a:xfrm>
          <a:prstGeom prst="ellipse">
            <a:avLst/>
          </a:prstGeom>
          <a:solidFill>
            <a:srgbClr val="008A48"/>
          </a:solidFill>
          <a:ln/>
          <a:effectLst>
            <a:outerShdw sx="100000" sy="100000" kx="0" ky="0" algn="bl" rotWithShape="0" blurRad="88900" dist="25400" dir="5400000">
              <a:srgbClr val="06402A">
                <a:alpha val="16000"/>
              </a:srgbClr>
            </a:outerShdw>
          </a:effectLst>
        </p:spPr>
      </p:sp>
      <p:pic>
        <p:nvPicPr>
          <p:cNvPr id="7" name="Image 0" descr="img/check_white.png">    </p:cNvPr>
          <p:cNvPicPr>
            <a:picLocks noChangeAspect="1"/>
          </p:cNvPicPr>
          <p:nvPr/>
        </p:nvPicPr>
        <p:blipFill>
          <a:blip r:embed="rId1"/>
          <a:stretch>
            <a:fillRect/>
          </a:stretch>
        </p:blipFill>
        <p:spPr>
          <a:xfrm>
            <a:off x="1010412" y="2290572"/>
            <a:ext cx="283464" cy="283464"/>
          </a:xfrm>
          <a:prstGeom prst="rect">
            <a:avLst/>
          </a:prstGeom>
        </p:spPr>
      </p:pic>
      <p:sp>
        <p:nvSpPr>
          <p:cNvPr id="8" name="Text 5"/>
          <p:cNvSpPr/>
          <p:nvPr/>
        </p:nvSpPr>
        <p:spPr>
          <a:xfrm>
            <a:off x="1600200" y="2176272"/>
            <a:ext cx="4114800" cy="502920"/>
          </a:xfrm>
          <a:prstGeom prst="rect">
            <a:avLst/>
          </a:prstGeom>
          <a:noFill/>
          <a:ln/>
        </p:spPr>
        <p:txBody>
          <a:bodyPr wrap="square" lIns="0" tIns="0" rIns="0" bIns="0" rtlCol="0" anchor="ctr"/>
          <a:lstStyle/>
          <a:p>
            <a:pPr indent="0" marL="0">
              <a:buNone/>
            </a:pPr>
            <a:r>
              <a:rPr lang="en-US" sz="1800" b="1" dirty="0">
                <a:solidFill>
                  <a:srgbClr val="1A1A1A"/>
                </a:solidFill>
                <a:latin typeface="Calibri" pitchFamily="34" charset="0"/>
                <a:ea typeface="Calibri" pitchFamily="34" charset="-122"/>
                <a:cs typeface="Calibri" pitchFamily="34" charset="-120"/>
              </a:rPr>
              <a:t>Inclus dans le MVP</a:t>
            </a:r>
            <a:endParaRPr lang="en-US" sz="1800" dirty="0"/>
          </a:p>
        </p:txBody>
      </p:sp>
      <p:pic>
        <p:nvPicPr>
          <p:cNvPr id="9" name="Image 1" descr="img/check_green.png">    </p:cNvPr>
          <p:cNvPicPr>
            <a:picLocks noChangeAspect="1"/>
          </p:cNvPicPr>
          <p:nvPr/>
        </p:nvPicPr>
        <p:blipFill>
          <a:blip r:embed="rId2"/>
          <a:stretch>
            <a:fillRect/>
          </a:stretch>
        </p:blipFill>
        <p:spPr>
          <a:xfrm>
            <a:off x="914400" y="2916936"/>
            <a:ext cx="256032" cy="256032"/>
          </a:xfrm>
          <a:prstGeom prst="rect">
            <a:avLst/>
          </a:prstGeom>
        </p:spPr>
      </p:pic>
      <p:sp>
        <p:nvSpPr>
          <p:cNvPr id="10" name="Text 6"/>
          <p:cNvSpPr/>
          <p:nvPr/>
        </p:nvSpPr>
        <p:spPr>
          <a:xfrm>
            <a:off x="1325880" y="2834640"/>
            <a:ext cx="4526280" cy="50292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Authentification (inscription, connexion, mot de passe oublié)</a:t>
            </a:r>
            <a:endParaRPr lang="en-US" sz="1300" dirty="0"/>
          </a:p>
        </p:txBody>
      </p:sp>
      <p:pic>
        <p:nvPicPr>
          <p:cNvPr id="11" name="Image 2" descr="img/check_green.png">    </p:cNvPr>
          <p:cNvPicPr>
            <a:picLocks noChangeAspect="1"/>
          </p:cNvPicPr>
          <p:nvPr/>
        </p:nvPicPr>
        <p:blipFill>
          <a:blip r:embed="rId3"/>
          <a:stretch>
            <a:fillRect/>
          </a:stretch>
        </p:blipFill>
        <p:spPr>
          <a:xfrm>
            <a:off x="914400" y="3493008"/>
            <a:ext cx="256032" cy="256032"/>
          </a:xfrm>
          <a:prstGeom prst="rect">
            <a:avLst/>
          </a:prstGeom>
        </p:spPr>
      </p:pic>
      <p:sp>
        <p:nvSpPr>
          <p:cNvPr id="12" name="Text 7"/>
          <p:cNvSpPr/>
          <p:nvPr/>
        </p:nvSpPr>
        <p:spPr>
          <a:xfrm>
            <a:off x="1325880" y="3410712"/>
            <a:ext cx="4526280" cy="50292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Calculateur d'empreinte multi-catégories</a:t>
            </a:r>
            <a:endParaRPr lang="en-US" sz="1300" dirty="0"/>
          </a:p>
        </p:txBody>
      </p:sp>
      <p:pic>
        <p:nvPicPr>
          <p:cNvPr id="13" name="Image 3" descr="img/check_green.png">    </p:cNvPr>
          <p:cNvPicPr>
            <a:picLocks noChangeAspect="1"/>
          </p:cNvPicPr>
          <p:nvPr/>
        </p:nvPicPr>
        <p:blipFill>
          <a:blip r:embed="rId4"/>
          <a:stretch>
            <a:fillRect/>
          </a:stretch>
        </p:blipFill>
        <p:spPr>
          <a:xfrm>
            <a:off x="914400" y="4069080"/>
            <a:ext cx="256032" cy="256032"/>
          </a:xfrm>
          <a:prstGeom prst="rect">
            <a:avLst/>
          </a:prstGeom>
        </p:spPr>
      </p:pic>
      <p:sp>
        <p:nvSpPr>
          <p:cNvPr id="14" name="Text 8"/>
          <p:cNvSpPr/>
          <p:nvPr/>
        </p:nvSpPr>
        <p:spPr>
          <a:xfrm>
            <a:off x="1325880" y="3986784"/>
            <a:ext cx="4526280" cy="50292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Défis quotidiens personnalisés + validation</a:t>
            </a:r>
            <a:endParaRPr lang="en-US" sz="1300" dirty="0"/>
          </a:p>
        </p:txBody>
      </p:sp>
      <p:pic>
        <p:nvPicPr>
          <p:cNvPr id="15" name="Image 4" descr="img/check_green.png">    </p:cNvPr>
          <p:cNvPicPr>
            <a:picLocks noChangeAspect="1"/>
          </p:cNvPicPr>
          <p:nvPr/>
        </p:nvPicPr>
        <p:blipFill>
          <a:blip r:embed="rId5"/>
          <a:stretch>
            <a:fillRect/>
          </a:stretch>
        </p:blipFill>
        <p:spPr>
          <a:xfrm>
            <a:off x="914400" y="4645152"/>
            <a:ext cx="256032" cy="256032"/>
          </a:xfrm>
          <a:prstGeom prst="rect">
            <a:avLst/>
          </a:prstGeom>
        </p:spPr>
      </p:pic>
      <p:sp>
        <p:nvSpPr>
          <p:cNvPr id="16" name="Text 9"/>
          <p:cNvSpPr/>
          <p:nvPr/>
        </p:nvSpPr>
        <p:spPr>
          <a:xfrm>
            <a:off x="1325880" y="4562856"/>
            <a:ext cx="4526280" cy="50292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Tableau de bord (points, défis complétés)</a:t>
            </a:r>
            <a:endParaRPr lang="en-US" sz="1300" dirty="0"/>
          </a:p>
        </p:txBody>
      </p:sp>
      <p:pic>
        <p:nvPicPr>
          <p:cNvPr id="17" name="Image 5" descr="img/check_green.png">    </p:cNvPr>
          <p:cNvPicPr>
            <a:picLocks noChangeAspect="1"/>
          </p:cNvPicPr>
          <p:nvPr/>
        </p:nvPicPr>
        <p:blipFill>
          <a:blip r:embed="rId6"/>
          <a:stretch>
            <a:fillRect/>
          </a:stretch>
        </p:blipFill>
        <p:spPr>
          <a:xfrm>
            <a:off x="914400" y="5221224"/>
            <a:ext cx="256032" cy="256032"/>
          </a:xfrm>
          <a:prstGeom prst="rect">
            <a:avLst/>
          </a:prstGeom>
        </p:spPr>
      </p:pic>
      <p:sp>
        <p:nvSpPr>
          <p:cNvPr id="18" name="Text 10"/>
          <p:cNvSpPr/>
          <p:nvPr/>
        </p:nvSpPr>
        <p:spPr>
          <a:xfrm>
            <a:off x="1325880" y="5138928"/>
            <a:ext cx="4526280" cy="50292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Mode clair / sombre</a:t>
            </a:r>
            <a:endParaRPr lang="en-US" sz="1300" dirty="0"/>
          </a:p>
        </p:txBody>
      </p:sp>
      <p:sp>
        <p:nvSpPr>
          <p:cNvPr id="19" name="Shape 11"/>
          <p:cNvSpPr/>
          <p:nvPr/>
        </p:nvSpPr>
        <p:spPr>
          <a:xfrm>
            <a:off x="6309360" y="1874520"/>
            <a:ext cx="5349240" cy="3977640"/>
          </a:xfrm>
          <a:prstGeom prst="roundRect">
            <a:avLst>
              <a:gd name="adj" fmla="val 2759"/>
            </a:avLst>
          </a:prstGeom>
          <a:solidFill>
            <a:srgbClr val="F2F3F0"/>
          </a:solidFill>
          <a:ln w="12700">
            <a:solidFill>
              <a:srgbClr val="E4E7E2"/>
            </a:solidFill>
            <a:prstDash val="solid"/>
          </a:ln>
          <a:effectLst>
            <a:outerShdw sx="100000" sy="100000" kx="0" ky="0" algn="bl" rotWithShape="0" blurRad="127000" dist="38100" dir="5400000">
              <a:srgbClr val="1A1A1A">
                <a:alpha val="10000"/>
              </a:srgbClr>
            </a:outerShdw>
          </a:effectLst>
        </p:spPr>
      </p:sp>
      <p:sp>
        <p:nvSpPr>
          <p:cNvPr id="20" name="Shape 12"/>
          <p:cNvSpPr/>
          <p:nvPr/>
        </p:nvSpPr>
        <p:spPr>
          <a:xfrm>
            <a:off x="6629400" y="2148840"/>
            <a:ext cx="566928" cy="566928"/>
          </a:xfrm>
          <a:prstGeom prst="ellipse">
            <a:avLst/>
          </a:prstGeom>
          <a:solidFill>
            <a:srgbClr val="6B6F6A"/>
          </a:solidFill>
          <a:ln/>
          <a:effectLst>
            <a:outerShdw sx="100000" sy="100000" kx="0" ky="0" algn="bl" rotWithShape="0" blurRad="88900" dist="25400" dir="5400000">
              <a:srgbClr val="06402A">
                <a:alpha val="16000"/>
              </a:srgbClr>
            </a:outerShdw>
          </a:effectLst>
        </p:spPr>
      </p:sp>
      <p:pic>
        <p:nvPicPr>
          <p:cNvPr id="21" name="Image 6" descr="img/sync_white.png">    </p:cNvPr>
          <p:cNvPicPr>
            <a:picLocks noChangeAspect="1"/>
          </p:cNvPicPr>
          <p:nvPr/>
        </p:nvPicPr>
        <p:blipFill>
          <a:blip r:embed="rId7"/>
          <a:stretch>
            <a:fillRect/>
          </a:stretch>
        </p:blipFill>
        <p:spPr>
          <a:xfrm>
            <a:off x="6771132" y="2290572"/>
            <a:ext cx="283464" cy="283464"/>
          </a:xfrm>
          <a:prstGeom prst="rect">
            <a:avLst/>
          </a:prstGeom>
        </p:spPr>
      </p:pic>
      <p:sp>
        <p:nvSpPr>
          <p:cNvPr id="22" name="Text 13"/>
          <p:cNvSpPr/>
          <p:nvPr/>
        </p:nvSpPr>
        <p:spPr>
          <a:xfrm>
            <a:off x="7360920" y="2176272"/>
            <a:ext cx="4114800" cy="502920"/>
          </a:xfrm>
          <a:prstGeom prst="rect">
            <a:avLst/>
          </a:prstGeom>
          <a:noFill/>
          <a:ln/>
        </p:spPr>
        <p:txBody>
          <a:bodyPr wrap="square" lIns="0" tIns="0" rIns="0" bIns="0" rtlCol="0" anchor="ctr"/>
          <a:lstStyle/>
          <a:p>
            <a:pPr indent="0" marL="0">
              <a:buNone/>
            </a:pPr>
            <a:r>
              <a:rPr lang="en-US" sz="1800" b="1" dirty="0">
                <a:solidFill>
                  <a:srgbClr val="1A1A1A"/>
                </a:solidFill>
                <a:latin typeface="Calibri" pitchFamily="34" charset="0"/>
                <a:ea typeface="Calibri" pitchFamily="34" charset="-122"/>
                <a:cs typeface="Calibri" pitchFamily="34" charset="-120"/>
              </a:rPr>
              <a:t>Reporté (versions ultérieures)</a:t>
            </a:r>
            <a:endParaRPr lang="en-US" sz="1800" dirty="0"/>
          </a:p>
        </p:txBody>
      </p:sp>
      <p:pic>
        <p:nvPicPr>
          <p:cNvPr id="23" name="Image 7" descr="img/arrow_green.png">    </p:cNvPr>
          <p:cNvPicPr>
            <a:picLocks noChangeAspect="1"/>
          </p:cNvPicPr>
          <p:nvPr/>
        </p:nvPicPr>
        <p:blipFill>
          <a:blip r:embed="rId8"/>
          <a:stretch>
            <a:fillRect/>
          </a:stretch>
        </p:blipFill>
        <p:spPr>
          <a:xfrm>
            <a:off x="6675120" y="2926080"/>
            <a:ext cx="237744" cy="237744"/>
          </a:xfrm>
          <a:prstGeom prst="rect">
            <a:avLst/>
          </a:prstGeom>
        </p:spPr>
      </p:pic>
      <p:sp>
        <p:nvSpPr>
          <p:cNvPr id="24" name="Text 14"/>
          <p:cNvSpPr/>
          <p:nvPr/>
        </p:nvSpPr>
        <p:spPr>
          <a:xfrm>
            <a:off x="7086600" y="2834640"/>
            <a:ext cx="4434840" cy="50292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Badges et classements entre amis</a:t>
            </a:r>
            <a:endParaRPr lang="en-US" sz="1300" dirty="0"/>
          </a:p>
        </p:txBody>
      </p:sp>
      <p:pic>
        <p:nvPicPr>
          <p:cNvPr id="25" name="Image 8" descr="img/arrow_green.png">    </p:cNvPr>
          <p:cNvPicPr>
            <a:picLocks noChangeAspect="1"/>
          </p:cNvPicPr>
          <p:nvPr/>
        </p:nvPicPr>
        <p:blipFill>
          <a:blip r:embed="rId9"/>
          <a:stretch>
            <a:fillRect/>
          </a:stretch>
        </p:blipFill>
        <p:spPr>
          <a:xfrm>
            <a:off x="6675120" y="3502152"/>
            <a:ext cx="237744" cy="237744"/>
          </a:xfrm>
          <a:prstGeom prst="rect">
            <a:avLst/>
          </a:prstGeom>
        </p:spPr>
      </p:pic>
      <p:sp>
        <p:nvSpPr>
          <p:cNvPr id="26" name="Text 15"/>
          <p:cNvSpPr/>
          <p:nvPr/>
        </p:nvSpPr>
        <p:spPr>
          <a:xfrm>
            <a:off x="7086600" y="3410712"/>
            <a:ext cx="4434840" cy="50292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Courbes d'évolution et historique détaillé</a:t>
            </a:r>
            <a:endParaRPr lang="en-US" sz="1300" dirty="0"/>
          </a:p>
        </p:txBody>
      </p:sp>
      <p:pic>
        <p:nvPicPr>
          <p:cNvPr id="27" name="Image 9" descr="img/arrow_green.png">    </p:cNvPr>
          <p:cNvPicPr>
            <a:picLocks noChangeAspect="1"/>
          </p:cNvPicPr>
          <p:nvPr/>
        </p:nvPicPr>
        <p:blipFill>
          <a:blip r:embed="rId10"/>
          <a:stretch>
            <a:fillRect/>
          </a:stretch>
        </p:blipFill>
        <p:spPr>
          <a:xfrm>
            <a:off x="6675120" y="4078224"/>
            <a:ext cx="237744" cy="237744"/>
          </a:xfrm>
          <a:prstGeom prst="rect">
            <a:avLst/>
          </a:prstGeom>
        </p:spPr>
      </p:pic>
      <p:sp>
        <p:nvSpPr>
          <p:cNvPr id="28" name="Text 16"/>
          <p:cNvSpPr/>
          <p:nvPr/>
        </p:nvSpPr>
        <p:spPr>
          <a:xfrm>
            <a:off x="7086600" y="3986784"/>
            <a:ext cx="4434840" cy="50292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Espace entreprise / RSE</a:t>
            </a:r>
            <a:endParaRPr lang="en-US" sz="1300" dirty="0"/>
          </a:p>
        </p:txBody>
      </p:sp>
      <p:pic>
        <p:nvPicPr>
          <p:cNvPr id="29" name="Image 10" descr="img/arrow_green.png">    </p:cNvPr>
          <p:cNvPicPr>
            <a:picLocks noChangeAspect="1"/>
          </p:cNvPicPr>
          <p:nvPr/>
        </p:nvPicPr>
        <p:blipFill>
          <a:blip r:embed="rId11"/>
          <a:stretch>
            <a:fillRect/>
          </a:stretch>
        </p:blipFill>
        <p:spPr>
          <a:xfrm>
            <a:off x="6675120" y="4654296"/>
            <a:ext cx="237744" cy="237744"/>
          </a:xfrm>
          <a:prstGeom prst="rect">
            <a:avLst/>
          </a:prstGeom>
        </p:spPr>
      </p:pic>
      <p:sp>
        <p:nvSpPr>
          <p:cNvPr id="30" name="Text 17"/>
          <p:cNvSpPr/>
          <p:nvPr/>
        </p:nvSpPr>
        <p:spPr>
          <a:xfrm>
            <a:off x="7086600" y="4562856"/>
            <a:ext cx="4434840" cy="50292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Application mobile native</a:t>
            </a:r>
            <a:endParaRPr lang="en-US" sz="1300" dirty="0"/>
          </a:p>
        </p:txBody>
      </p:sp>
      <p:pic>
        <p:nvPicPr>
          <p:cNvPr id="31" name="Image 11" descr="img/arrow_green.png">    </p:cNvPr>
          <p:cNvPicPr>
            <a:picLocks noChangeAspect="1"/>
          </p:cNvPicPr>
          <p:nvPr/>
        </p:nvPicPr>
        <p:blipFill>
          <a:blip r:embed="rId12"/>
          <a:stretch>
            <a:fillRect/>
          </a:stretch>
        </p:blipFill>
        <p:spPr>
          <a:xfrm>
            <a:off x="6675120" y="5230368"/>
            <a:ext cx="237744" cy="237744"/>
          </a:xfrm>
          <a:prstGeom prst="rect">
            <a:avLst/>
          </a:prstGeom>
        </p:spPr>
      </p:pic>
      <p:sp>
        <p:nvSpPr>
          <p:cNvPr id="32" name="Text 18"/>
          <p:cNvSpPr/>
          <p:nvPr/>
        </p:nvSpPr>
        <p:spPr>
          <a:xfrm>
            <a:off x="7086600" y="5138928"/>
            <a:ext cx="4434840" cy="50292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Articles et conseils éco-responsables</a:t>
            </a:r>
            <a:endParaRPr lang="en-US" sz="1300" dirty="0"/>
          </a:p>
        </p:txBody>
      </p:sp>
      <p:pic>
        <p:nvPicPr>
          <p:cNvPr id="33" name="Image 12" descr="img/leaf_green.png">    </p:cNvPr>
          <p:cNvPicPr>
            <a:picLocks noChangeAspect="1"/>
          </p:cNvPicPr>
          <p:nvPr/>
        </p:nvPicPr>
        <p:blipFill>
          <a:blip r:embed="rId13"/>
          <a:stretch>
            <a:fillRect/>
          </a:stretch>
        </p:blipFill>
        <p:spPr>
          <a:xfrm>
            <a:off x="502920" y="6437376"/>
            <a:ext cx="182880" cy="182880"/>
          </a:xfrm>
          <a:prstGeom prst="rect">
            <a:avLst/>
          </a:prstGeom>
        </p:spPr>
      </p:pic>
      <p:sp>
        <p:nvSpPr>
          <p:cNvPr id="34" name="Text 19"/>
          <p:cNvSpPr/>
          <p:nvPr/>
        </p:nvSpPr>
        <p:spPr>
          <a:xfrm>
            <a:off x="731520" y="6364224"/>
            <a:ext cx="1828800" cy="320040"/>
          </a:xfrm>
          <a:prstGeom prst="rect">
            <a:avLst/>
          </a:prstGeom>
          <a:noFill/>
          <a:ln/>
        </p:spPr>
        <p:txBody>
          <a:bodyPr wrap="square" rtlCol="0" anchor="ctr"/>
          <a:lstStyle/>
          <a:p>
            <a:pPr indent="0" marL="0">
              <a:buNone/>
            </a:pPr>
            <a:r>
              <a:rPr lang="en-US" sz="1100" b="1" dirty="0">
                <a:solidFill>
                  <a:srgbClr val="6B6F6A"/>
                </a:solidFill>
                <a:latin typeface="Calibri" pitchFamily="34" charset="0"/>
                <a:ea typeface="Calibri" pitchFamily="34" charset="-122"/>
                <a:cs typeface="Calibri" pitchFamily="34" charset="-120"/>
              </a:rPr>
              <a:t>EcoTrack</a:t>
            </a:r>
            <a:endParaRPr lang="en-US" sz="1100" dirty="0"/>
          </a:p>
        </p:txBody>
      </p:sp>
      <p:sp>
        <p:nvSpPr>
          <p:cNvPr id="35" name="Text 20"/>
          <p:cNvSpPr/>
          <p:nvPr/>
        </p:nvSpPr>
        <p:spPr>
          <a:xfrm>
            <a:off x="11183112" y="6364224"/>
            <a:ext cx="502920" cy="320040"/>
          </a:xfrm>
          <a:prstGeom prst="rect">
            <a:avLst/>
          </a:prstGeom>
          <a:noFill/>
          <a:ln/>
        </p:spPr>
        <p:txBody>
          <a:bodyPr wrap="square" rtlCol="0" anchor="ctr"/>
          <a:lstStyle/>
          <a:p>
            <a:pPr algn="r" indent="0" marL="0">
              <a:buNone/>
            </a:pPr>
            <a:r>
              <a:rPr lang="en-US" sz="1100" dirty="0">
                <a:solidFill>
                  <a:srgbClr val="6B6F6A"/>
                </a:solidFill>
                <a:latin typeface="Calibri" pitchFamily="34" charset="0"/>
                <a:ea typeface="Calibri" pitchFamily="34" charset="-122"/>
                <a:cs typeface="Calibri"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CF9"/>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indent="0" marL="0">
              <a:buNone/>
            </a:pPr>
            <a:r>
              <a:rPr lang="en-US" sz="1300" b="1" spc="200" kern="0" dirty="0">
                <a:solidFill>
                  <a:srgbClr val="008A48"/>
                </a:solidFill>
                <a:latin typeface="Calibri" pitchFamily="34" charset="0"/>
                <a:ea typeface="Calibri" pitchFamily="34" charset="-122"/>
                <a:cs typeface="Calibri" pitchFamily="34" charset="-120"/>
              </a:rPr>
              <a:t>05 · CONCEPTION</a:t>
            </a:r>
            <a:endParaRPr lang="en-US" sz="1300" dirty="0"/>
          </a:p>
        </p:txBody>
      </p:sp>
      <p:sp>
        <p:nvSpPr>
          <p:cNvPr id="3" name="Text 1"/>
          <p:cNvSpPr/>
          <p:nvPr/>
        </p:nvSpPr>
        <p:spPr>
          <a:xfrm>
            <a:off x="530352" y="658368"/>
            <a:ext cx="11064240" cy="685800"/>
          </a:xfrm>
          <a:prstGeom prst="rect">
            <a:avLst/>
          </a:prstGeom>
          <a:noFill/>
          <a:ln/>
        </p:spPr>
        <p:txBody>
          <a:bodyPr wrap="square" lIns="0" tIns="0" rIns="0" bIns="0" rtlCol="0" anchor="ctr"/>
          <a:lstStyle/>
          <a:p>
            <a:pPr indent="0" marL="0">
              <a:buNone/>
            </a:pPr>
            <a:r>
              <a:rPr lang="en-US" sz="3000" b="1" dirty="0">
                <a:solidFill>
                  <a:srgbClr val="1A1A1A"/>
                </a:solidFill>
                <a:latin typeface="Calibri" pitchFamily="34" charset="0"/>
                <a:ea typeface="Calibri" pitchFamily="34" charset="-122"/>
                <a:cs typeface="Calibri" pitchFamily="34" charset="-120"/>
              </a:rPr>
              <a:t>Identité visuelle &amp; maquettes</a:t>
            </a:r>
            <a:endParaRPr lang="en-US" sz="3000" dirty="0"/>
          </a:p>
        </p:txBody>
      </p:sp>
      <p:sp>
        <p:nvSpPr>
          <p:cNvPr id="4" name="Shape 2"/>
          <p:cNvSpPr/>
          <p:nvPr/>
        </p:nvSpPr>
        <p:spPr>
          <a:xfrm>
            <a:off x="548640" y="1645920"/>
            <a:ext cx="5532120" cy="2331720"/>
          </a:xfrm>
          <a:prstGeom prst="roundRect">
            <a:avLst>
              <a:gd name="adj" fmla="val 4706"/>
            </a:avLst>
          </a:prstGeom>
          <a:solidFill>
            <a:srgbClr val="FFFFFF"/>
          </a:solidFill>
          <a:ln w="12700">
            <a:solidFill>
              <a:srgbClr val="E4E7E2"/>
            </a:solidFill>
            <a:prstDash val="solid"/>
          </a:ln>
          <a:effectLst>
            <a:outerShdw sx="100000" sy="100000" kx="0" ky="0" algn="bl" rotWithShape="0" blurRad="127000" dist="38100" dir="5400000">
              <a:srgbClr val="1A1A1A">
                <a:alpha val="10000"/>
              </a:srgbClr>
            </a:outerShdw>
          </a:effectLst>
        </p:spPr>
      </p:sp>
      <p:sp>
        <p:nvSpPr>
          <p:cNvPr id="5" name="Text 3"/>
          <p:cNvSpPr/>
          <p:nvPr/>
        </p:nvSpPr>
        <p:spPr>
          <a:xfrm>
            <a:off x="822960" y="1828800"/>
            <a:ext cx="4572000" cy="365760"/>
          </a:xfrm>
          <a:prstGeom prst="rect">
            <a:avLst/>
          </a:prstGeom>
          <a:noFill/>
          <a:ln/>
        </p:spPr>
        <p:txBody>
          <a:bodyPr wrap="square" lIns="0" tIns="0" rIns="0" bIns="0"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Charte graphique</a:t>
            </a:r>
            <a:endParaRPr lang="en-US" sz="1600" dirty="0"/>
          </a:p>
        </p:txBody>
      </p:sp>
      <p:sp>
        <p:nvSpPr>
          <p:cNvPr id="6" name="Shape 4"/>
          <p:cNvSpPr/>
          <p:nvPr/>
        </p:nvSpPr>
        <p:spPr>
          <a:xfrm>
            <a:off x="822960" y="2331720"/>
            <a:ext cx="1097280" cy="914400"/>
          </a:xfrm>
          <a:prstGeom prst="roundRect">
            <a:avLst>
              <a:gd name="adj" fmla="val 10000"/>
            </a:avLst>
          </a:prstGeom>
          <a:solidFill>
            <a:srgbClr val="008A48"/>
          </a:solidFill>
          <a:ln w="12700">
            <a:solidFill>
              <a:srgbClr val="E4E7E2"/>
            </a:solidFill>
            <a:prstDash val="solid"/>
          </a:ln>
        </p:spPr>
      </p:sp>
      <p:sp>
        <p:nvSpPr>
          <p:cNvPr id="7" name="Text 5"/>
          <p:cNvSpPr/>
          <p:nvPr/>
        </p:nvSpPr>
        <p:spPr>
          <a:xfrm>
            <a:off x="822960" y="3291840"/>
            <a:ext cx="1097280" cy="274320"/>
          </a:xfrm>
          <a:prstGeom prst="rect">
            <a:avLst/>
          </a:prstGeom>
          <a:noFill/>
          <a:ln/>
        </p:spPr>
        <p:txBody>
          <a:bodyPr wrap="square" lIns="0" tIns="0" rIns="0" bIns="0" rtlCol="0" anchor="ctr"/>
          <a:lstStyle/>
          <a:p>
            <a:pPr algn="ctr" indent="0" marL="0">
              <a:buNone/>
            </a:pPr>
            <a:r>
              <a:rPr lang="en-US" sz="1100" b="1" dirty="0">
                <a:solidFill>
                  <a:srgbClr val="1A1A1A"/>
                </a:solidFill>
                <a:latin typeface="Calibri" pitchFamily="34" charset="0"/>
                <a:ea typeface="Calibri" pitchFamily="34" charset="-122"/>
                <a:cs typeface="Calibri" pitchFamily="34" charset="-120"/>
              </a:rPr>
              <a:t>Vert</a:t>
            </a:r>
            <a:endParaRPr lang="en-US" sz="1100" dirty="0"/>
          </a:p>
        </p:txBody>
      </p:sp>
      <p:sp>
        <p:nvSpPr>
          <p:cNvPr id="8" name="Text 6"/>
          <p:cNvSpPr/>
          <p:nvPr/>
        </p:nvSpPr>
        <p:spPr>
          <a:xfrm>
            <a:off x="822960" y="3520440"/>
            <a:ext cx="1097280" cy="274320"/>
          </a:xfrm>
          <a:prstGeom prst="rect">
            <a:avLst/>
          </a:prstGeom>
          <a:noFill/>
          <a:ln/>
        </p:spPr>
        <p:txBody>
          <a:bodyPr wrap="square" lIns="0" tIns="0" rIns="0" bIns="0" rtlCol="0" anchor="ctr"/>
          <a:lstStyle/>
          <a:p>
            <a:pPr algn="ctr" indent="0" marL="0">
              <a:buNone/>
            </a:pPr>
            <a:r>
              <a:rPr lang="en-US" sz="900" dirty="0">
                <a:solidFill>
                  <a:srgbClr val="6B6F6A"/>
                </a:solidFill>
                <a:latin typeface="Calibri" pitchFamily="34" charset="0"/>
                <a:ea typeface="Calibri" pitchFamily="34" charset="-122"/>
                <a:cs typeface="Calibri" pitchFamily="34" charset="-120"/>
              </a:rPr>
              <a:t>#008A48</a:t>
            </a:r>
            <a:endParaRPr lang="en-US" sz="900" dirty="0"/>
          </a:p>
        </p:txBody>
      </p:sp>
      <p:sp>
        <p:nvSpPr>
          <p:cNvPr id="9" name="Shape 7"/>
          <p:cNvSpPr/>
          <p:nvPr/>
        </p:nvSpPr>
        <p:spPr>
          <a:xfrm>
            <a:off x="2121408" y="2331720"/>
            <a:ext cx="1097280" cy="914400"/>
          </a:xfrm>
          <a:prstGeom prst="roundRect">
            <a:avLst>
              <a:gd name="adj" fmla="val 10000"/>
            </a:avLst>
          </a:prstGeom>
          <a:solidFill>
            <a:srgbClr val="EDF8F0"/>
          </a:solidFill>
          <a:ln w="12700">
            <a:solidFill>
              <a:srgbClr val="E4E7E2"/>
            </a:solidFill>
            <a:prstDash val="solid"/>
          </a:ln>
        </p:spPr>
      </p:sp>
      <p:sp>
        <p:nvSpPr>
          <p:cNvPr id="10" name="Text 8"/>
          <p:cNvSpPr/>
          <p:nvPr/>
        </p:nvSpPr>
        <p:spPr>
          <a:xfrm>
            <a:off x="2121408" y="3291840"/>
            <a:ext cx="1097280" cy="274320"/>
          </a:xfrm>
          <a:prstGeom prst="rect">
            <a:avLst/>
          </a:prstGeom>
          <a:noFill/>
          <a:ln/>
        </p:spPr>
        <p:txBody>
          <a:bodyPr wrap="square" lIns="0" tIns="0" rIns="0" bIns="0" rtlCol="0" anchor="ctr"/>
          <a:lstStyle/>
          <a:p>
            <a:pPr algn="ctr" indent="0" marL="0">
              <a:buNone/>
            </a:pPr>
            <a:r>
              <a:rPr lang="en-US" sz="1100" b="1" dirty="0">
                <a:solidFill>
                  <a:srgbClr val="1A1A1A"/>
                </a:solidFill>
                <a:latin typeface="Calibri" pitchFamily="34" charset="0"/>
                <a:ea typeface="Calibri" pitchFamily="34" charset="-122"/>
                <a:cs typeface="Calibri" pitchFamily="34" charset="-120"/>
              </a:rPr>
              <a:t>Menthe</a:t>
            </a:r>
            <a:endParaRPr lang="en-US" sz="1100" dirty="0"/>
          </a:p>
        </p:txBody>
      </p:sp>
      <p:sp>
        <p:nvSpPr>
          <p:cNvPr id="11" name="Text 9"/>
          <p:cNvSpPr/>
          <p:nvPr/>
        </p:nvSpPr>
        <p:spPr>
          <a:xfrm>
            <a:off x="2121408" y="3520440"/>
            <a:ext cx="1097280" cy="274320"/>
          </a:xfrm>
          <a:prstGeom prst="rect">
            <a:avLst/>
          </a:prstGeom>
          <a:noFill/>
          <a:ln/>
        </p:spPr>
        <p:txBody>
          <a:bodyPr wrap="square" lIns="0" tIns="0" rIns="0" bIns="0" rtlCol="0" anchor="ctr"/>
          <a:lstStyle/>
          <a:p>
            <a:pPr algn="ctr" indent="0" marL="0">
              <a:buNone/>
            </a:pPr>
            <a:r>
              <a:rPr lang="en-US" sz="900" dirty="0">
                <a:solidFill>
                  <a:srgbClr val="6B6F6A"/>
                </a:solidFill>
                <a:latin typeface="Calibri" pitchFamily="34" charset="0"/>
                <a:ea typeface="Calibri" pitchFamily="34" charset="-122"/>
                <a:cs typeface="Calibri" pitchFamily="34" charset="-120"/>
              </a:rPr>
              <a:t>#EDF8F0</a:t>
            </a:r>
            <a:endParaRPr lang="en-US" sz="900" dirty="0"/>
          </a:p>
        </p:txBody>
      </p:sp>
      <p:sp>
        <p:nvSpPr>
          <p:cNvPr id="12" name="Shape 10"/>
          <p:cNvSpPr/>
          <p:nvPr/>
        </p:nvSpPr>
        <p:spPr>
          <a:xfrm>
            <a:off x="3419856" y="2331720"/>
            <a:ext cx="1097280" cy="914400"/>
          </a:xfrm>
          <a:prstGeom prst="roundRect">
            <a:avLst>
              <a:gd name="adj" fmla="val 10000"/>
            </a:avLst>
          </a:prstGeom>
          <a:solidFill>
            <a:srgbClr val="FBFCF9"/>
          </a:solidFill>
          <a:ln w="12700">
            <a:solidFill>
              <a:srgbClr val="E4E7E2"/>
            </a:solidFill>
            <a:prstDash val="solid"/>
          </a:ln>
        </p:spPr>
      </p:sp>
      <p:sp>
        <p:nvSpPr>
          <p:cNvPr id="13" name="Text 11"/>
          <p:cNvSpPr/>
          <p:nvPr/>
        </p:nvSpPr>
        <p:spPr>
          <a:xfrm>
            <a:off x="3419856" y="3291840"/>
            <a:ext cx="1097280" cy="274320"/>
          </a:xfrm>
          <a:prstGeom prst="rect">
            <a:avLst/>
          </a:prstGeom>
          <a:noFill/>
          <a:ln/>
        </p:spPr>
        <p:txBody>
          <a:bodyPr wrap="square" lIns="0" tIns="0" rIns="0" bIns="0" rtlCol="0" anchor="ctr"/>
          <a:lstStyle/>
          <a:p>
            <a:pPr algn="ctr" indent="0" marL="0">
              <a:buNone/>
            </a:pPr>
            <a:r>
              <a:rPr lang="en-US" sz="1100" b="1" dirty="0">
                <a:solidFill>
                  <a:srgbClr val="1A1A1A"/>
                </a:solidFill>
                <a:latin typeface="Calibri" pitchFamily="34" charset="0"/>
                <a:ea typeface="Calibri" pitchFamily="34" charset="-122"/>
                <a:cs typeface="Calibri" pitchFamily="34" charset="-120"/>
              </a:rPr>
              <a:t>Fond</a:t>
            </a:r>
            <a:endParaRPr lang="en-US" sz="1100" dirty="0"/>
          </a:p>
        </p:txBody>
      </p:sp>
      <p:sp>
        <p:nvSpPr>
          <p:cNvPr id="14" name="Text 12"/>
          <p:cNvSpPr/>
          <p:nvPr/>
        </p:nvSpPr>
        <p:spPr>
          <a:xfrm>
            <a:off x="3419856" y="3520440"/>
            <a:ext cx="1097280" cy="274320"/>
          </a:xfrm>
          <a:prstGeom prst="rect">
            <a:avLst/>
          </a:prstGeom>
          <a:noFill/>
          <a:ln/>
        </p:spPr>
        <p:txBody>
          <a:bodyPr wrap="square" lIns="0" tIns="0" rIns="0" bIns="0" rtlCol="0" anchor="ctr"/>
          <a:lstStyle/>
          <a:p>
            <a:pPr algn="ctr" indent="0" marL="0">
              <a:buNone/>
            </a:pPr>
            <a:r>
              <a:rPr lang="en-US" sz="900" dirty="0">
                <a:solidFill>
                  <a:srgbClr val="6B6F6A"/>
                </a:solidFill>
                <a:latin typeface="Calibri" pitchFamily="34" charset="0"/>
                <a:ea typeface="Calibri" pitchFamily="34" charset="-122"/>
                <a:cs typeface="Calibri" pitchFamily="34" charset="-120"/>
              </a:rPr>
              <a:t>#FBFCF9</a:t>
            </a:r>
            <a:endParaRPr lang="en-US" sz="900" dirty="0"/>
          </a:p>
        </p:txBody>
      </p:sp>
      <p:sp>
        <p:nvSpPr>
          <p:cNvPr id="15" name="Shape 13"/>
          <p:cNvSpPr/>
          <p:nvPr/>
        </p:nvSpPr>
        <p:spPr>
          <a:xfrm>
            <a:off x="4718304" y="2331720"/>
            <a:ext cx="1097280" cy="914400"/>
          </a:xfrm>
          <a:prstGeom prst="roundRect">
            <a:avLst>
              <a:gd name="adj" fmla="val 10000"/>
            </a:avLst>
          </a:prstGeom>
          <a:solidFill>
            <a:srgbClr val="1A1A1A"/>
          </a:solidFill>
          <a:ln w="12700">
            <a:solidFill>
              <a:srgbClr val="E4E7E2"/>
            </a:solidFill>
            <a:prstDash val="solid"/>
          </a:ln>
        </p:spPr>
      </p:sp>
      <p:sp>
        <p:nvSpPr>
          <p:cNvPr id="16" name="Text 14"/>
          <p:cNvSpPr/>
          <p:nvPr/>
        </p:nvSpPr>
        <p:spPr>
          <a:xfrm>
            <a:off x="4718304" y="3291840"/>
            <a:ext cx="1097280" cy="274320"/>
          </a:xfrm>
          <a:prstGeom prst="rect">
            <a:avLst/>
          </a:prstGeom>
          <a:noFill/>
          <a:ln/>
        </p:spPr>
        <p:txBody>
          <a:bodyPr wrap="square" lIns="0" tIns="0" rIns="0" bIns="0" rtlCol="0" anchor="ctr"/>
          <a:lstStyle/>
          <a:p>
            <a:pPr algn="ctr" indent="0" marL="0">
              <a:buNone/>
            </a:pPr>
            <a:r>
              <a:rPr lang="en-US" sz="1100" b="1" dirty="0">
                <a:solidFill>
                  <a:srgbClr val="1A1A1A"/>
                </a:solidFill>
                <a:latin typeface="Calibri" pitchFamily="34" charset="0"/>
                <a:ea typeface="Calibri" pitchFamily="34" charset="-122"/>
                <a:cs typeface="Calibri" pitchFamily="34" charset="-120"/>
              </a:rPr>
              <a:t>Encre</a:t>
            </a:r>
            <a:endParaRPr lang="en-US" sz="1100" dirty="0"/>
          </a:p>
        </p:txBody>
      </p:sp>
      <p:sp>
        <p:nvSpPr>
          <p:cNvPr id="17" name="Text 15"/>
          <p:cNvSpPr/>
          <p:nvPr/>
        </p:nvSpPr>
        <p:spPr>
          <a:xfrm>
            <a:off x="4718304" y="3520440"/>
            <a:ext cx="1097280" cy="274320"/>
          </a:xfrm>
          <a:prstGeom prst="rect">
            <a:avLst/>
          </a:prstGeom>
          <a:noFill/>
          <a:ln/>
        </p:spPr>
        <p:txBody>
          <a:bodyPr wrap="square" lIns="0" tIns="0" rIns="0" bIns="0" rtlCol="0" anchor="ctr"/>
          <a:lstStyle/>
          <a:p>
            <a:pPr algn="ctr" indent="0" marL="0">
              <a:buNone/>
            </a:pPr>
            <a:r>
              <a:rPr lang="en-US" sz="900" dirty="0">
                <a:solidFill>
                  <a:srgbClr val="6B6F6A"/>
                </a:solidFill>
                <a:latin typeface="Calibri" pitchFamily="34" charset="0"/>
                <a:ea typeface="Calibri" pitchFamily="34" charset="-122"/>
                <a:cs typeface="Calibri" pitchFamily="34" charset="-120"/>
              </a:rPr>
              <a:t>#1A1A1A</a:t>
            </a:r>
            <a:endParaRPr lang="en-US" sz="900" dirty="0"/>
          </a:p>
        </p:txBody>
      </p:sp>
      <p:sp>
        <p:nvSpPr>
          <p:cNvPr id="18" name="Shape 16"/>
          <p:cNvSpPr/>
          <p:nvPr/>
        </p:nvSpPr>
        <p:spPr>
          <a:xfrm>
            <a:off x="6309360" y="1645920"/>
            <a:ext cx="5349240" cy="2331720"/>
          </a:xfrm>
          <a:prstGeom prst="roundRect">
            <a:avLst>
              <a:gd name="adj" fmla="val 4706"/>
            </a:avLst>
          </a:prstGeom>
          <a:solidFill>
            <a:srgbClr val="FFFFFF"/>
          </a:solidFill>
          <a:ln w="12700">
            <a:solidFill>
              <a:srgbClr val="E4E7E2"/>
            </a:solidFill>
            <a:prstDash val="solid"/>
          </a:ln>
          <a:effectLst>
            <a:outerShdw sx="100000" sy="100000" kx="0" ky="0" algn="bl" rotWithShape="0" blurRad="127000" dist="38100" dir="5400000">
              <a:srgbClr val="1A1A1A">
                <a:alpha val="10000"/>
              </a:srgbClr>
            </a:outerShdw>
          </a:effectLst>
        </p:spPr>
      </p:sp>
      <p:sp>
        <p:nvSpPr>
          <p:cNvPr id="19" name="Text 17"/>
          <p:cNvSpPr/>
          <p:nvPr/>
        </p:nvSpPr>
        <p:spPr>
          <a:xfrm>
            <a:off x="6583680" y="1828800"/>
            <a:ext cx="4846320" cy="365760"/>
          </a:xfrm>
          <a:prstGeom prst="rect">
            <a:avLst/>
          </a:prstGeom>
          <a:noFill/>
          <a:ln/>
        </p:spPr>
        <p:txBody>
          <a:bodyPr wrap="square" lIns="0" tIns="0" rIns="0" bIns="0"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Thème clair &amp; thème sombre</a:t>
            </a:r>
            <a:endParaRPr lang="en-US" sz="1600" dirty="0"/>
          </a:p>
        </p:txBody>
      </p:sp>
      <p:sp>
        <p:nvSpPr>
          <p:cNvPr id="20" name="Shape 18"/>
          <p:cNvSpPr/>
          <p:nvPr/>
        </p:nvSpPr>
        <p:spPr>
          <a:xfrm>
            <a:off x="6583680" y="2331720"/>
            <a:ext cx="2331720" cy="1417320"/>
          </a:xfrm>
          <a:prstGeom prst="roundRect">
            <a:avLst>
              <a:gd name="adj" fmla="val 7742"/>
            </a:avLst>
          </a:prstGeom>
          <a:solidFill>
            <a:srgbClr val="FBFCF9"/>
          </a:solidFill>
          <a:ln w="12700">
            <a:solidFill>
              <a:srgbClr val="E4E7E2"/>
            </a:solidFill>
            <a:prstDash val="solid"/>
          </a:ln>
        </p:spPr>
      </p:sp>
      <p:pic>
        <p:nvPicPr>
          <p:cNvPr id="21" name="Image 0" descr="img/sun.png">    </p:cNvPr>
          <p:cNvPicPr>
            <a:picLocks noChangeAspect="1"/>
          </p:cNvPicPr>
          <p:nvPr/>
        </p:nvPicPr>
        <p:blipFill>
          <a:blip r:embed="rId1"/>
          <a:stretch>
            <a:fillRect/>
          </a:stretch>
        </p:blipFill>
        <p:spPr>
          <a:xfrm>
            <a:off x="6812280" y="2514600"/>
            <a:ext cx="365760" cy="365760"/>
          </a:xfrm>
          <a:prstGeom prst="rect">
            <a:avLst/>
          </a:prstGeom>
        </p:spPr>
      </p:pic>
      <p:sp>
        <p:nvSpPr>
          <p:cNvPr id="22" name="Text 19"/>
          <p:cNvSpPr/>
          <p:nvPr/>
        </p:nvSpPr>
        <p:spPr>
          <a:xfrm>
            <a:off x="7269480" y="2487168"/>
            <a:ext cx="1371600" cy="411480"/>
          </a:xfrm>
          <a:prstGeom prst="rect">
            <a:avLst/>
          </a:prstGeom>
          <a:noFill/>
          <a:ln/>
        </p:spPr>
        <p:txBody>
          <a:bodyPr wrap="square" lIns="0" tIns="0" rIns="0" bIns="0" rtlCol="0" anchor="ctr"/>
          <a:lstStyle/>
          <a:p>
            <a:pPr indent="0" marL="0">
              <a:buNone/>
            </a:pPr>
            <a:r>
              <a:rPr lang="en-US" sz="1300" b="1" dirty="0">
                <a:solidFill>
                  <a:srgbClr val="1A1A1A"/>
                </a:solidFill>
                <a:latin typeface="Calibri" pitchFamily="34" charset="0"/>
                <a:ea typeface="Calibri" pitchFamily="34" charset="-122"/>
                <a:cs typeface="Calibri" pitchFamily="34" charset="-120"/>
              </a:rPr>
              <a:t>Clair</a:t>
            </a:r>
            <a:endParaRPr lang="en-US" sz="1300" dirty="0"/>
          </a:p>
        </p:txBody>
      </p:sp>
      <p:sp>
        <p:nvSpPr>
          <p:cNvPr id="23" name="Shape 20"/>
          <p:cNvSpPr/>
          <p:nvPr/>
        </p:nvSpPr>
        <p:spPr>
          <a:xfrm>
            <a:off x="6812280" y="3063240"/>
            <a:ext cx="1874520" cy="411480"/>
          </a:xfrm>
          <a:prstGeom prst="roundRect">
            <a:avLst>
              <a:gd name="adj" fmla="val 48889"/>
            </a:avLst>
          </a:prstGeom>
          <a:solidFill>
            <a:srgbClr val="008A48"/>
          </a:solidFill>
          <a:ln/>
        </p:spPr>
      </p:sp>
      <p:sp>
        <p:nvSpPr>
          <p:cNvPr id="24" name="Text 21"/>
          <p:cNvSpPr/>
          <p:nvPr/>
        </p:nvSpPr>
        <p:spPr>
          <a:xfrm>
            <a:off x="6812280" y="3063240"/>
            <a:ext cx="187452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Bouton / accent</a:t>
            </a:r>
            <a:endParaRPr lang="en-US" sz="1050" dirty="0"/>
          </a:p>
        </p:txBody>
      </p:sp>
      <p:sp>
        <p:nvSpPr>
          <p:cNvPr id="25" name="Shape 22"/>
          <p:cNvSpPr/>
          <p:nvPr/>
        </p:nvSpPr>
        <p:spPr>
          <a:xfrm>
            <a:off x="9144000" y="2331720"/>
            <a:ext cx="2331720" cy="1417320"/>
          </a:xfrm>
          <a:prstGeom prst="roundRect">
            <a:avLst>
              <a:gd name="adj" fmla="val 7742"/>
            </a:avLst>
          </a:prstGeom>
          <a:solidFill>
            <a:srgbClr val="0F1411"/>
          </a:solidFill>
          <a:ln w="12700">
            <a:solidFill>
              <a:srgbClr val="2C332E"/>
            </a:solidFill>
            <a:prstDash val="solid"/>
          </a:ln>
        </p:spPr>
      </p:sp>
      <p:pic>
        <p:nvPicPr>
          <p:cNvPr id="26" name="Image 1" descr="img/moon.png">    </p:cNvPr>
          <p:cNvPicPr>
            <a:picLocks noChangeAspect="1"/>
          </p:cNvPicPr>
          <p:nvPr/>
        </p:nvPicPr>
        <p:blipFill>
          <a:blip r:embed="rId2"/>
          <a:stretch>
            <a:fillRect/>
          </a:stretch>
        </p:blipFill>
        <p:spPr>
          <a:xfrm>
            <a:off x="9372600" y="2514600"/>
            <a:ext cx="365760" cy="365760"/>
          </a:xfrm>
          <a:prstGeom prst="rect">
            <a:avLst/>
          </a:prstGeom>
        </p:spPr>
      </p:pic>
      <p:sp>
        <p:nvSpPr>
          <p:cNvPr id="27" name="Text 23"/>
          <p:cNvSpPr/>
          <p:nvPr/>
        </p:nvSpPr>
        <p:spPr>
          <a:xfrm>
            <a:off x="9829800" y="2487168"/>
            <a:ext cx="146304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Sombre</a:t>
            </a:r>
            <a:endParaRPr lang="en-US" sz="1300" dirty="0"/>
          </a:p>
        </p:txBody>
      </p:sp>
      <p:sp>
        <p:nvSpPr>
          <p:cNvPr id="28" name="Shape 24"/>
          <p:cNvSpPr/>
          <p:nvPr/>
        </p:nvSpPr>
        <p:spPr>
          <a:xfrm>
            <a:off x="9372600" y="3063240"/>
            <a:ext cx="1874520" cy="411480"/>
          </a:xfrm>
          <a:prstGeom prst="roundRect">
            <a:avLst>
              <a:gd name="adj" fmla="val 48889"/>
            </a:avLst>
          </a:prstGeom>
          <a:solidFill>
            <a:srgbClr val="1FAF6A"/>
          </a:solidFill>
          <a:ln/>
        </p:spPr>
      </p:sp>
      <p:sp>
        <p:nvSpPr>
          <p:cNvPr id="29" name="Text 25"/>
          <p:cNvSpPr/>
          <p:nvPr/>
        </p:nvSpPr>
        <p:spPr>
          <a:xfrm>
            <a:off x="9372600" y="3063240"/>
            <a:ext cx="1874520" cy="411480"/>
          </a:xfrm>
          <a:prstGeom prst="rect">
            <a:avLst/>
          </a:prstGeom>
          <a:noFill/>
          <a:ln/>
        </p:spPr>
        <p:txBody>
          <a:bodyPr wrap="square" lIns="0" tIns="0" rIns="0" bIns="0" rtlCol="0" anchor="ctr"/>
          <a:lstStyle/>
          <a:p>
            <a:pPr algn="ctr" indent="0" marL="0">
              <a:buNone/>
            </a:pPr>
            <a:r>
              <a:rPr lang="en-US" sz="1050" b="1" dirty="0">
                <a:solidFill>
                  <a:srgbClr val="0F1411"/>
                </a:solidFill>
                <a:latin typeface="Calibri" pitchFamily="34" charset="0"/>
                <a:ea typeface="Calibri" pitchFamily="34" charset="-122"/>
                <a:cs typeface="Calibri" pitchFamily="34" charset="-120"/>
              </a:rPr>
              <a:t>Bouton / accent</a:t>
            </a:r>
            <a:endParaRPr lang="en-US" sz="1050" dirty="0"/>
          </a:p>
        </p:txBody>
      </p:sp>
      <p:sp>
        <p:nvSpPr>
          <p:cNvPr id="30" name="Shape 26"/>
          <p:cNvSpPr/>
          <p:nvPr/>
        </p:nvSpPr>
        <p:spPr>
          <a:xfrm>
            <a:off x="548640" y="4206240"/>
            <a:ext cx="11109960" cy="1508760"/>
          </a:xfrm>
          <a:prstGeom prst="roundRect">
            <a:avLst>
              <a:gd name="adj" fmla="val 7273"/>
            </a:avLst>
          </a:prstGeom>
          <a:solidFill>
            <a:srgbClr val="EDF8F0"/>
          </a:solidFill>
          <a:ln w="12700">
            <a:solidFill>
              <a:srgbClr val="E4E7E2"/>
            </a:solidFill>
            <a:prstDash val="solid"/>
          </a:ln>
          <a:effectLst>
            <a:outerShdw sx="100000" sy="100000" kx="0" ky="0" algn="bl" rotWithShape="0" blurRad="127000" dist="38100" dir="5400000">
              <a:srgbClr val="1A1A1A">
                <a:alpha val="10000"/>
              </a:srgbClr>
            </a:outerShdw>
          </a:effectLst>
        </p:spPr>
      </p:sp>
      <p:sp>
        <p:nvSpPr>
          <p:cNvPr id="31" name="Shape 27"/>
          <p:cNvSpPr/>
          <p:nvPr/>
        </p:nvSpPr>
        <p:spPr>
          <a:xfrm>
            <a:off x="868680" y="4526280"/>
            <a:ext cx="822960" cy="822960"/>
          </a:xfrm>
          <a:prstGeom prst="ellipse">
            <a:avLst/>
          </a:prstGeom>
          <a:solidFill>
            <a:srgbClr val="008A48"/>
          </a:solidFill>
          <a:ln/>
          <a:effectLst>
            <a:outerShdw sx="100000" sy="100000" kx="0" ky="0" algn="bl" rotWithShape="0" blurRad="88900" dist="25400" dir="5400000">
              <a:srgbClr val="06402A">
                <a:alpha val="16000"/>
              </a:srgbClr>
            </a:outerShdw>
          </a:effectLst>
        </p:spPr>
      </p:sp>
      <p:pic>
        <p:nvPicPr>
          <p:cNvPr id="32" name="Image 2" descr="img/layers_white.png">    </p:cNvPr>
          <p:cNvPicPr>
            <a:picLocks noChangeAspect="1"/>
          </p:cNvPicPr>
          <p:nvPr/>
        </p:nvPicPr>
        <p:blipFill>
          <a:blip r:embed="rId3"/>
          <a:stretch>
            <a:fillRect/>
          </a:stretch>
        </p:blipFill>
        <p:spPr>
          <a:xfrm>
            <a:off x="1074420" y="4732020"/>
            <a:ext cx="411480" cy="411480"/>
          </a:xfrm>
          <a:prstGeom prst="rect">
            <a:avLst/>
          </a:prstGeom>
        </p:spPr>
      </p:pic>
      <p:sp>
        <p:nvSpPr>
          <p:cNvPr id="33" name="Text 28"/>
          <p:cNvSpPr/>
          <p:nvPr/>
        </p:nvSpPr>
        <p:spPr>
          <a:xfrm>
            <a:off x="1920240" y="4434840"/>
            <a:ext cx="4572000" cy="365760"/>
          </a:xfrm>
          <a:prstGeom prst="rect">
            <a:avLst/>
          </a:prstGeom>
          <a:noFill/>
          <a:ln/>
        </p:spPr>
        <p:txBody>
          <a:bodyPr wrap="square" lIns="0" tIns="0" rIns="0" bIns="0" rtlCol="0" anchor="ctr"/>
          <a:lstStyle/>
          <a:p>
            <a:pPr indent="0" marL="0">
              <a:buNone/>
            </a:pPr>
            <a:r>
              <a:rPr lang="en-US" sz="1600" b="1" dirty="0">
                <a:solidFill>
                  <a:srgbClr val="007040"/>
                </a:solidFill>
                <a:latin typeface="Calibri" pitchFamily="34" charset="0"/>
                <a:ea typeface="Calibri" pitchFamily="34" charset="-122"/>
                <a:cs typeface="Calibri" pitchFamily="34" charset="-120"/>
              </a:rPr>
              <a:t>Maquettes &amp; wireframes</a:t>
            </a:r>
            <a:endParaRPr lang="en-US" sz="1600" dirty="0"/>
          </a:p>
        </p:txBody>
      </p:sp>
      <p:sp>
        <p:nvSpPr>
          <p:cNvPr id="34" name="Text 29"/>
          <p:cNvSpPr/>
          <p:nvPr/>
        </p:nvSpPr>
        <p:spPr>
          <a:xfrm>
            <a:off x="1920240" y="4800600"/>
            <a:ext cx="9509760" cy="77724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Parcours et écrans conçus sur Figma (wireframes puis maquettes haute-fidélité) avant le développement, sous la responsabilité du Product owner / designer.</a:t>
            </a:r>
            <a:endParaRPr lang="en-US" sz="1300" dirty="0"/>
          </a:p>
        </p:txBody>
      </p:sp>
      <p:pic>
        <p:nvPicPr>
          <p:cNvPr id="35" name="Image 3" descr="img/leaf_green.png">    </p:cNvPr>
          <p:cNvPicPr>
            <a:picLocks noChangeAspect="1"/>
          </p:cNvPicPr>
          <p:nvPr/>
        </p:nvPicPr>
        <p:blipFill>
          <a:blip r:embed="rId4"/>
          <a:stretch>
            <a:fillRect/>
          </a:stretch>
        </p:blipFill>
        <p:spPr>
          <a:xfrm>
            <a:off x="502920" y="6437376"/>
            <a:ext cx="182880" cy="182880"/>
          </a:xfrm>
          <a:prstGeom prst="rect">
            <a:avLst/>
          </a:prstGeom>
        </p:spPr>
      </p:pic>
      <p:sp>
        <p:nvSpPr>
          <p:cNvPr id="36" name="Text 30"/>
          <p:cNvSpPr/>
          <p:nvPr/>
        </p:nvSpPr>
        <p:spPr>
          <a:xfrm>
            <a:off x="731520" y="6364224"/>
            <a:ext cx="1828800" cy="320040"/>
          </a:xfrm>
          <a:prstGeom prst="rect">
            <a:avLst/>
          </a:prstGeom>
          <a:noFill/>
          <a:ln/>
        </p:spPr>
        <p:txBody>
          <a:bodyPr wrap="square" rtlCol="0" anchor="ctr"/>
          <a:lstStyle/>
          <a:p>
            <a:pPr indent="0" marL="0">
              <a:buNone/>
            </a:pPr>
            <a:r>
              <a:rPr lang="en-US" sz="1100" b="1" dirty="0">
                <a:solidFill>
                  <a:srgbClr val="6B6F6A"/>
                </a:solidFill>
                <a:latin typeface="Calibri" pitchFamily="34" charset="0"/>
                <a:ea typeface="Calibri" pitchFamily="34" charset="-122"/>
                <a:cs typeface="Calibri" pitchFamily="34" charset="-120"/>
              </a:rPr>
              <a:t>EcoTrack</a:t>
            </a:r>
            <a:endParaRPr lang="en-US" sz="1100" dirty="0"/>
          </a:p>
        </p:txBody>
      </p:sp>
      <p:sp>
        <p:nvSpPr>
          <p:cNvPr id="37" name="Text 31"/>
          <p:cNvSpPr/>
          <p:nvPr/>
        </p:nvSpPr>
        <p:spPr>
          <a:xfrm>
            <a:off x="11183112" y="6364224"/>
            <a:ext cx="502920" cy="320040"/>
          </a:xfrm>
          <a:prstGeom prst="rect">
            <a:avLst/>
          </a:prstGeom>
          <a:noFill/>
          <a:ln/>
        </p:spPr>
        <p:txBody>
          <a:bodyPr wrap="square" rtlCol="0" anchor="ctr"/>
          <a:lstStyle/>
          <a:p>
            <a:pPr algn="r" indent="0" marL="0">
              <a:buNone/>
            </a:pPr>
            <a:r>
              <a:rPr lang="en-US" sz="1100" dirty="0">
                <a:solidFill>
                  <a:srgbClr val="6B6F6A"/>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CF9"/>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indent="0" marL="0">
              <a:buNone/>
            </a:pPr>
            <a:r>
              <a:rPr lang="en-US" sz="1300" b="1" spc="200" kern="0" dirty="0">
                <a:solidFill>
                  <a:srgbClr val="008A48"/>
                </a:solidFill>
                <a:latin typeface="Calibri" pitchFamily="34" charset="0"/>
                <a:ea typeface="Calibri" pitchFamily="34" charset="-122"/>
                <a:cs typeface="Calibri" pitchFamily="34" charset="-120"/>
              </a:rPr>
              <a:t>06 · ARCHITECTURE TECHNIQUE</a:t>
            </a:r>
            <a:endParaRPr lang="en-US" sz="1300" dirty="0"/>
          </a:p>
        </p:txBody>
      </p:sp>
      <p:sp>
        <p:nvSpPr>
          <p:cNvPr id="3" name="Text 1"/>
          <p:cNvSpPr/>
          <p:nvPr/>
        </p:nvSpPr>
        <p:spPr>
          <a:xfrm>
            <a:off x="530352" y="658368"/>
            <a:ext cx="11064240" cy="685800"/>
          </a:xfrm>
          <a:prstGeom prst="rect">
            <a:avLst/>
          </a:prstGeom>
          <a:noFill/>
          <a:ln/>
        </p:spPr>
        <p:txBody>
          <a:bodyPr wrap="square" lIns="0" tIns="0" rIns="0" bIns="0" rtlCol="0" anchor="ctr"/>
          <a:lstStyle/>
          <a:p>
            <a:pPr indent="0" marL="0">
              <a:buNone/>
            </a:pPr>
            <a:r>
              <a:rPr lang="en-US" sz="3000" b="1" dirty="0">
                <a:solidFill>
                  <a:srgbClr val="1A1A1A"/>
                </a:solidFill>
                <a:latin typeface="Calibri" pitchFamily="34" charset="0"/>
                <a:ea typeface="Calibri" pitchFamily="34" charset="-122"/>
                <a:cs typeface="Calibri" pitchFamily="34" charset="-120"/>
              </a:rPr>
              <a:t>Stack &amp; organisation du code</a:t>
            </a:r>
            <a:endParaRPr lang="en-US" sz="3000" dirty="0"/>
          </a:p>
        </p:txBody>
      </p:sp>
      <p:sp>
        <p:nvSpPr>
          <p:cNvPr id="4" name="Text 2"/>
          <p:cNvSpPr/>
          <p:nvPr/>
        </p:nvSpPr>
        <p:spPr>
          <a:xfrm>
            <a:off x="548640" y="1508760"/>
            <a:ext cx="4572000" cy="365760"/>
          </a:xfrm>
          <a:prstGeom prst="rect">
            <a:avLst/>
          </a:prstGeom>
          <a:noFill/>
          <a:ln/>
        </p:spPr>
        <p:txBody>
          <a:bodyPr wrap="square" lIns="0" tIns="0" rIns="0" bIns="0"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Stack technique</a:t>
            </a:r>
            <a:endParaRPr lang="en-US" sz="1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5532120" cy="914400"/>
        </p:xfrm>
        <a:graphic>
          <a:graphicData uri="http://schemas.openxmlformats.org/drawingml/2006/table">
            <a:tbl>
              <a:tblPr/>
              <a:tblGrid>
                <a:gridCol w="1737360"/>
                <a:gridCol w="3794760"/>
              </a:tblGrid>
              <a:tr h="420624">
                <a:tc>
                  <a:txBody>
                    <a:bodyPr/>
                    <a:lstStyle/>
                    <a:p>
                      <a:pPr indent="0" marL="0">
                        <a:buNone/>
                      </a:pPr>
                      <a:r>
                        <a:rPr lang="en-US" sz="1250" b="1" dirty="0">
                          <a:solidFill>
                            <a:srgbClr val="007040"/>
                          </a:solidFill>
                          <a:latin typeface="Calibri" pitchFamily="34" charset="0"/>
                          <a:ea typeface="Calibri" pitchFamily="34" charset="-122"/>
                          <a:cs typeface="Calibri" pitchFamily="34" charset="-120"/>
                        </a:rPr>
                        <a:t>Langage</a:t>
                      </a:r>
                      <a:endParaRPr lang="en-US" sz="1250" dirty="0">
                        <a:latin typeface="Calibri" charset="0"/>
                        <a:ea typeface="Calibri" charset="0"/>
                        <a:cs typeface="Calibri" charset="0"/>
                      </a:endParaRPr>
                    </a:p>
                  </a:txBody>
                  <a:tcPr marL="101600" marR="76200" marT="50800" marB="50800" anchor="ctr">
                    <a:lnL w="12700" cap="flat" cmpd="sng" algn="ctr">
                      <a:solidFill>
                        <a:srgbClr val="E4E7E2"/>
                      </a:solidFill>
                      <a:prstDash val="solid"/>
                      <a:round/>
                      <a:headEnd type="none" w="med" len="med"/>
                      <a:tailEnd type="none" w="med" len="med"/>
                    </a:lnL>
                    <a:lnR w="12700" cap="flat" cmpd="sng" algn="ctr">
                      <a:solidFill>
                        <a:srgbClr val="E4E7E2"/>
                      </a:solidFill>
                      <a:prstDash val="solid"/>
                      <a:round/>
                      <a:headEnd type="none" w="med" len="med"/>
                      <a:tailEnd type="none" w="med" len="med"/>
                    </a:lnR>
                    <a:lnT w="12700" cap="flat" cmpd="sng" algn="ctr">
                      <a:solidFill>
                        <a:srgbClr val="E4E7E2"/>
                      </a:solidFill>
                      <a:prstDash val="solid"/>
                      <a:round/>
                      <a:headEnd type="none" w="med" len="med"/>
                      <a:tailEnd type="none" w="med" len="med"/>
                    </a:lnT>
                    <a:lnB w="12700" cap="flat" cmpd="sng" algn="ctr">
                      <a:solidFill>
                        <a:srgbClr val="E4E7E2"/>
                      </a:solidFill>
                      <a:prstDash val="solid"/>
                      <a:round/>
                      <a:headEnd type="none" w="med" len="med"/>
                      <a:tailEnd type="none" w="med" len="med"/>
                    </a:lnB>
                    <a:solidFill>
                      <a:srgbClr val="EDF8F0"/>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PHP 8.3+</a:t>
                      </a:r>
                      <a:endParaRPr lang="en-US" sz="1250" dirty="0">
                        <a:latin typeface="Calibri" charset="0"/>
                        <a:ea typeface="Calibri" charset="0"/>
                        <a:cs typeface="Calibri" charset="0"/>
                      </a:endParaRPr>
                    </a:p>
                  </a:txBody>
                  <a:tcPr marL="101600" marR="76200" marT="50800" marB="50800" anchor="ctr">
                    <a:lnL w="12700" cap="flat" cmpd="sng" algn="ctr">
                      <a:solidFill>
                        <a:srgbClr val="E4E7E2"/>
                      </a:solidFill>
                      <a:prstDash val="solid"/>
                      <a:round/>
                      <a:headEnd type="none" w="med" len="med"/>
                      <a:tailEnd type="none" w="med" len="med"/>
                    </a:lnL>
                    <a:lnR w="12700" cap="flat" cmpd="sng" algn="ctr">
                      <a:solidFill>
                        <a:srgbClr val="E4E7E2"/>
                      </a:solidFill>
                      <a:prstDash val="solid"/>
                      <a:round/>
                      <a:headEnd type="none" w="med" len="med"/>
                      <a:tailEnd type="none" w="med" len="med"/>
                    </a:lnR>
                    <a:lnT w="12700" cap="flat" cmpd="sng" algn="ctr">
                      <a:solidFill>
                        <a:srgbClr val="E4E7E2"/>
                      </a:solidFill>
                      <a:prstDash val="solid"/>
                      <a:round/>
                      <a:headEnd type="none" w="med" len="med"/>
                      <a:tailEnd type="none" w="med" len="med"/>
                    </a:lnT>
                    <a:lnB w="12700" cap="flat" cmpd="sng" algn="ctr">
                      <a:solidFill>
                        <a:srgbClr val="E4E7E2"/>
                      </a:solidFill>
                      <a:prstDash val="solid"/>
                      <a:round/>
                      <a:headEnd type="none" w="med" len="med"/>
                      <a:tailEnd type="none" w="med" len="med"/>
                    </a:lnB>
                    <a:solidFill>
                      <a:srgbClr val="EDF8F0"/>
                    </a:solidFill>
                  </a:tcPr>
                </a:tc>
              </a:tr>
              <a:tr h="420624">
                <a:tc>
                  <a:txBody>
                    <a:bodyPr/>
                    <a:lstStyle/>
                    <a:p>
                      <a:pPr indent="0" marL="0">
                        <a:buNone/>
                      </a:pPr>
                      <a:r>
                        <a:rPr lang="en-US" sz="1250" b="1" dirty="0">
                          <a:solidFill>
                            <a:srgbClr val="007040"/>
                          </a:solidFill>
                          <a:latin typeface="Calibri" pitchFamily="34" charset="0"/>
                          <a:ea typeface="Calibri" pitchFamily="34" charset="-122"/>
                          <a:cs typeface="Calibri" pitchFamily="34" charset="-120"/>
                        </a:rPr>
                        <a:t>Architecture</a:t>
                      </a:r>
                      <a:endParaRPr lang="en-US" sz="1250" dirty="0">
                        <a:latin typeface="Calibri" charset="0"/>
                        <a:ea typeface="Calibri" charset="0"/>
                        <a:cs typeface="Calibri" charset="0"/>
                      </a:endParaRPr>
                    </a:p>
                  </a:txBody>
                  <a:tcPr marL="101600" marR="76200" marT="50800" marB="50800" anchor="ctr">
                    <a:lnL w="12700" cap="flat" cmpd="sng" algn="ctr">
                      <a:solidFill>
                        <a:srgbClr val="E4E7E2"/>
                      </a:solidFill>
                      <a:prstDash val="solid"/>
                      <a:round/>
                      <a:headEnd type="none" w="med" len="med"/>
                      <a:tailEnd type="none" w="med" len="med"/>
                    </a:lnL>
                    <a:lnR w="12700" cap="flat" cmpd="sng" algn="ctr">
                      <a:solidFill>
                        <a:srgbClr val="E4E7E2"/>
                      </a:solidFill>
                      <a:prstDash val="solid"/>
                      <a:round/>
                      <a:headEnd type="none" w="med" len="med"/>
                      <a:tailEnd type="none" w="med" len="med"/>
                    </a:lnR>
                    <a:lnT w="12700" cap="flat" cmpd="sng" algn="ctr">
                      <a:solidFill>
                        <a:srgbClr val="E4E7E2"/>
                      </a:solidFill>
                      <a:prstDash val="solid"/>
                      <a:round/>
                      <a:headEnd type="none" w="med" len="med"/>
                      <a:tailEnd type="none" w="med" len="med"/>
                    </a:lnT>
                    <a:lnB w="12700" cap="flat" cmpd="sng" algn="ctr">
                      <a:solidFill>
                        <a:srgbClr val="E4E7E2"/>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MVC personnalisé (sans framework)</a:t>
                      </a:r>
                      <a:endParaRPr lang="en-US" sz="1250" dirty="0">
                        <a:latin typeface="Calibri" charset="0"/>
                        <a:ea typeface="Calibri" charset="0"/>
                        <a:cs typeface="Calibri" charset="0"/>
                      </a:endParaRPr>
                    </a:p>
                  </a:txBody>
                  <a:tcPr marL="101600" marR="76200" marT="50800" marB="50800" anchor="ctr">
                    <a:lnL w="12700" cap="flat" cmpd="sng" algn="ctr">
                      <a:solidFill>
                        <a:srgbClr val="E4E7E2"/>
                      </a:solidFill>
                      <a:prstDash val="solid"/>
                      <a:round/>
                      <a:headEnd type="none" w="med" len="med"/>
                      <a:tailEnd type="none" w="med" len="med"/>
                    </a:lnL>
                    <a:lnR w="12700" cap="flat" cmpd="sng" algn="ctr">
                      <a:solidFill>
                        <a:srgbClr val="E4E7E2"/>
                      </a:solidFill>
                      <a:prstDash val="solid"/>
                      <a:round/>
                      <a:headEnd type="none" w="med" len="med"/>
                      <a:tailEnd type="none" w="med" len="med"/>
                    </a:lnR>
                    <a:lnT w="12700" cap="flat" cmpd="sng" algn="ctr">
                      <a:solidFill>
                        <a:srgbClr val="E4E7E2"/>
                      </a:solidFill>
                      <a:prstDash val="solid"/>
                      <a:round/>
                      <a:headEnd type="none" w="med" len="med"/>
                      <a:tailEnd type="none" w="med" len="med"/>
                    </a:lnT>
                    <a:lnB w="12700" cap="flat" cmpd="sng" algn="ctr">
                      <a:solidFill>
                        <a:srgbClr val="E4E7E2"/>
                      </a:solidFill>
                      <a:prstDash val="solid"/>
                      <a:round/>
                      <a:headEnd type="none" w="med" len="med"/>
                      <a:tailEnd type="none" w="med" len="med"/>
                    </a:lnB>
                    <a:solidFill>
                      <a:srgbClr val="FFFFFF"/>
                    </a:solidFill>
                  </a:tcPr>
                </a:tc>
              </a:tr>
              <a:tr h="420624">
                <a:tc>
                  <a:txBody>
                    <a:bodyPr/>
                    <a:lstStyle/>
                    <a:p>
                      <a:pPr indent="0" marL="0">
                        <a:buNone/>
                      </a:pPr>
                      <a:r>
                        <a:rPr lang="en-US" sz="1250" b="1" dirty="0">
                          <a:solidFill>
                            <a:srgbClr val="007040"/>
                          </a:solidFill>
                          <a:latin typeface="Calibri" pitchFamily="34" charset="0"/>
                          <a:ea typeface="Calibri" pitchFamily="34" charset="-122"/>
                          <a:cs typeface="Calibri" pitchFamily="34" charset="-120"/>
                        </a:rPr>
                        <a:t>Base de données</a:t>
                      </a:r>
                      <a:endParaRPr lang="en-US" sz="1250" dirty="0">
                        <a:latin typeface="Calibri" charset="0"/>
                        <a:ea typeface="Calibri" charset="0"/>
                        <a:cs typeface="Calibri" charset="0"/>
                      </a:endParaRPr>
                    </a:p>
                  </a:txBody>
                  <a:tcPr marL="101600" marR="76200" marT="50800" marB="50800" anchor="ctr">
                    <a:lnL w="12700" cap="flat" cmpd="sng" algn="ctr">
                      <a:solidFill>
                        <a:srgbClr val="E4E7E2"/>
                      </a:solidFill>
                      <a:prstDash val="solid"/>
                      <a:round/>
                      <a:headEnd type="none" w="med" len="med"/>
                      <a:tailEnd type="none" w="med" len="med"/>
                    </a:lnL>
                    <a:lnR w="12700" cap="flat" cmpd="sng" algn="ctr">
                      <a:solidFill>
                        <a:srgbClr val="E4E7E2"/>
                      </a:solidFill>
                      <a:prstDash val="solid"/>
                      <a:round/>
                      <a:headEnd type="none" w="med" len="med"/>
                      <a:tailEnd type="none" w="med" len="med"/>
                    </a:lnR>
                    <a:lnT w="12700" cap="flat" cmpd="sng" algn="ctr">
                      <a:solidFill>
                        <a:srgbClr val="E4E7E2"/>
                      </a:solidFill>
                      <a:prstDash val="solid"/>
                      <a:round/>
                      <a:headEnd type="none" w="med" len="med"/>
                      <a:tailEnd type="none" w="med" len="med"/>
                    </a:lnT>
                    <a:lnB w="12700" cap="flat" cmpd="sng" algn="ctr">
                      <a:solidFill>
                        <a:srgbClr val="E4E7E2"/>
                      </a:solidFill>
                      <a:prstDash val="solid"/>
                      <a:round/>
                      <a:headEnd type="none" w="med" len="med"/>
                      <a:tailEnd type="none" w="med" len="med"/>
                    </a:lnB>
                    <a:solidFill>
                      <a:srgbClr val="EDF8F0"/>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MySQL 8.4+ via PDO</a:t>
                      </a:r>
                      <a:endParaRPr lang="en-US" sz="1250" dirty="0">
                        <a:latin typeface="Calibri" charset="0"/>
                        <a:ea typeface="Calibri" charset="0"/>
                        <a:cs typeface="Calibri" charset="0"/>
                      </a:endParaRPr>
                    </a:p>
                  </a:txBody>
                  <a:tcPr marL="101600" marR="76200" marT="50800" marB="50800" anchor="ctr">
                    <a:lnL w="12700" cap="flat" cmpd="sng" algn="ctr">
                      <a:solidFill>
                        <a:srgbClr val="E4E7E2"/>
                      </a:solidFill>
                      <a:prstDash val="solid"/>
                      <a:round/>
                      <a:headEnd type="none" w="med" len="med"/>
                      <a:tailEnd type="none" w="med" len="med"/>
                    </a:lnL>
                    <a:lnR w="12700" cap="flat" cmpd="sng" algn="ctr">
                      <a:solidFill>
                        <a:srgbClr val="E4E7E2"/>
                      </a:solidFill>
                      <a:prstDash val="solid"/>
                      <a:round/>
                      <a:headEnd type="none" w="med" len="med"/>
                      <a:tailEnd type="none" w="med" len="med"/>
                    </a:lnR>
                    <a:lnT w="12700" cap="flat" cmpd="sng" algn="ctr">
                      <a:solidFill>
                        <a:srgbClr val="E4E7E2"/>
                      </a:solidFill>
                      <a:prstDash val="solid"/>
                      <a:round/>
                      <a:headEnd type="none" w="med" len="med"/>
                      <a:tailEnd type="none" w="med" len="med"/>
                    </a:lnT>
                    <a:lnB w="12700" cap="flat" cmpd="sng" algn="ctr">
                      <a:solidFill>
                        <a:srgbClr val="E4E7E2"/>
                      </a:solidFill>
                      <a:prstDash val="solid"/>
                      <a:round/>
                      <a:headEnd type="none" w="med" len="med"/>
                      <a:tailEnd type="none" w="med" len="med"/>
                    </a:lnB>
                    <a:solidFill>
                      <a:srgbClr val="EDF8F0"/>
                    </a:solidFill>
                  </a:tcPr>
                </a:tc>
              </a:tr>
              <a:tr h="420624">
                <a:tc>
                  <a:txBody>
                    <a:bodyPr/>
                    <a:lstStyle/>
                    <a:p>
                      <a:pPr indent="0" marL="0">
                        <a:buNone/>
                      </a:pPr>
                      <a:r>
                        <a:rPr lang="en-US" sz="1250" b="1" dirty="0">
                          <a:solidFill>
                            <a:srgbClr val="007040"/>
                          </a:solidFill>
                          <a:latin typeface="Calibri" pitchFamily="34" charset="0"/>
                          <a:ea typeface="Calibri" pitchFamily="34" charset="-122"/>
                          <a:cs typeface="Calibri" pitchFamily="34" charset="-120"/>
                        </a:rPr>
                        <a:t>Frontend</a:t>
                      </a:r>
                      <a:endParaRPr lang="en-US" sz="1250" dirty="0">
                        <a:latin typeface="Calibri" charset="0"/>
                        <a:ea typeface="Calibri" charset="0"/>
                        <a:cs typeface="Calibri" charset="0"/>
                      </a:endParaRPr>
                    </a:p>
                  </a:txBody>
                  <a:tcPr marL="101600" marR="76200" marT="50800" marB="50800" anchor="ctr">
                    <a:lnL w="12700" cap="flat" cmpd="sng" algn="ctr">
                      <a:solidFill>
                        <a:srgbClr val="E4E7E2"/>
                      </a:solidFill>
                      <a:prstDash val="solid"/>
                      <a:round/>
                      <a:headEnd type="none" w="med" len="med"/>
                      <a:tailEnd type="none" w="med" len="med"/>
                    </a:lnL>
                    <a:lnR w="12700" cap="flat" cmpd="sng" algn="ctr">
                      <a:solidFill>
                        <a:srgbClr val="E4E7E2"/>
                      </a:solidFill>
                      <a:prstDash val="solid"/>
                      <a:round/>
                      <a:headEnd type="none" w="med" len="med"/>
                      <a:tailEnd type="none" w="med" len="med"/>
                    </a:lnR>
                    <a:lnT w="12700" cap="flat" cmpd="sng" algn="ctr">
                      <a:solidFill>
                        <a:srgbClr val="E4E7E2"/>
                      </a:solidFill>
                      <a:prstDash val="solid"/>
                      <a:round/>
                      <a:headEnd type="none" w="med" len="med"/>
                      <a:tailEnd type="none" w="med" len="med"/>
                    </a:lnT>
                    <a:lnB w="12700" cap="flat" cmpd="sng" algn="ctr">
                      <a:solidFill>
                        <a:srgbClr val="E4E7E2"/>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HTML5, CSS3, JavaScript vanilla</a:t>
                      </a:r>
                      <a:endParaRPr lang="en-US" sz="1250" dirty="0">
                        <a:latin typeface="Calibri" charset="0"/>
                        <a:ea typeface="Calibri" charset="0"/>
                        <a:cs typeface="Calibri" charset="0"/>
                      </a:endParaRPr>
                    </a:p>
                  </a:txBody>
                  <a:tcPr marL="101600" marR="76200" marT="50800" marB="50800" anchor="ctr">
                    <a:lnL w="12700" cap="flat" cmpd="sng" algn="ctr">
                      <a:solidFill>
                        <a:srgbClr val="E4E7E2"/>
                      </a:solidFill>
                      <a:prstDash val="solid"/>
                      <a:round/>
                      <a:headEnd type="none" w="med" len="med"/>
                      <a:tailEnd type="none" w="med" len="med"/>
                    </a:lnL>
                    <a:lnR w="12700" cap="flat" cmpd="sng" algn="ctr">
                      <a:solidFill>
                        <a:srgbClr val="E4E7E2"/>
                      </a:solidFill>
                      <a:prstDash val="solid"/>
                      <a:round/>
                      <a:headEnd type="none" w="med" len="med"/>
                      <a:tailEnd type="none" w="med" len="med"/>
                    </a:lnR>
                    <a:lnT w="12700" cap="flat" cmpd="sng" algn="ctr">
                      <a:solidFill>
                        <a:srgbClr val="E4E7E2"/>
                      </a:solidFill>
                      <a:prstDash val="solid"/>
                      <a:round/>
                      <a:headEnd type="none" w="med" len="med"/>
                      <a:tailEnd type="none" w="med" len="med"/>
                    </a:lnT>
                    <a:lnB w="12700" cap="flat" cmpd="sng" algn="ctr">
                      <a:solidFill>
                        <a:srgbClr val="E4E7E2"/>
                      </a:solidFill>
                      <a:prstDash val="solid"/>
                      <a:round/>
                      <a:headEnd type="none" w="med" len="med"/>
                      <a:tailEnd type="none" w="med" len="med"/>
                    </a:lnB>
                    <a:solidFill>
                      <a:srgbClr val="FFFFFF"/>
                    </a:solidFill>
                  </a:tcPr>
                </a:tc>
              </a:tr>
              <a:tr h="420624">
                <a:tc>
                  <a:txBody>
                    <a:bodyPr/>
                    <a:lstStyle/>
                    <a:p>
                      <a:pPr indent="0" marL="0">
                        <a:buNone/>
                      </a:pPr>
                      <a:r>
                        <a:rPr lang="en-US" sz="1250" b="1" dirty="0">
                          <a:solidFill>
                            <a:srgbClr val="007040"/>
                          </a:solidFill>
                          <a:latin typeface="Calibri" pitchFamily="34" charset="0"/>
                          <a:ea typeface="Calibri" pitchFamily="34" charset="-122"/>
                          <a:cs typeface="Calibri" pitchFamily="34" charset="-120"/>
                        </a:rPr>
                        <a:t>Emails</a:t>
                      </a:r>
                      <a:endParaRPr lang="en-US" sz="1250" dirty="0">
                        <a:latin typeface="Calibri" charset="0"/>
                        <a:ea typeface="Calibri" charset="0"/>
                        <a:cs typeface="Calibri" charset="0"/>
                      </a:endParaRPr>
                    </a:p>
                  </a:txBody>
                  <a:tcPr marL="101600" marR="76200" marT="50800" marB="50800" anchor="ctr">
                    <a:lnL w="12700" cap="flat" cmpd="sng" algn="ctr">
                      <a:solidFill>
                        <a:srgbClr val="E4E7E2"/>
                      </a:solidFill>
                      <a:prstDash val="solid"/>
                      <a:round/>
                      <a:headEnd type="none" w="med" len="med"/>
                      <a:tailEnd type="none" w="med" len="med"/>
                    </a:lnL>
                    <a:lnR w="12700" cap="flat" cmpd="sng" algn="ctr">
                      <a:solidFill>
                        <a:srgbClr val="E4E7E2"/>
                      </a:solidFill>
                      <a:prstDash val="solid"/>
                      <a:round/>
                      <a:headEnd type="none" w="med" len="med"/>
                      <a:tailEnd type="none" w="med" len="med"/>
                    </a:lnR>
                    <a:lnT w="12700" cap="flat" cmpd="sng" algn="ctr">
                      <a:solidFill>
                        <a:srgbClr val="E4E7E2"/>
                      </a:solidFill>
                      <a:prstDash val="solid"/>
                      <a:round/>
                      <a:headEnd type="none" w="med" len="med"/>
                      <a:tailEnd type="none" w="med" len="med"/>
                    </a:lnT>
                    <a:lnB w="12700" cap="flat" cmpd="sng" algn="ctr">
                      <a:solidFill>
                        <a:srgbClr val="E4E7E2"/>
                      </a:solidFill>
                      <a:prstDash val="solid"/>
                      <a:round/>
                      <a:headEnd type="none" w="med" len="med"/>
                      <a:tailEnd type="none" w="med" len="med"/>
                    </a:lnB>
                    <a:solidFill>
                      <a:srgbClr val="EDF8F0"/>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PHPMailer (SMTP Gmail)</a:t>
                      </a:r>
                      <a:endParaRPr lang="en-US" sz="1250" dirty="0">
                        <a:latin typeface="Calibri" charset="0"/>
                        <a:ea typeface="Calibri" charset="0"/>
                        <a:cs typeface="Calibri" charset="0"/>
                      </a:endParaRPr>
                    </a:p>
                  </a:txBody>
                  <a:tcPr marL="101600" marR="76200" marT="50800" marB="50800" anchor="ctr">
                    <a:lnL w="12700" cap="flat" cmpd="sng" algn="ctr">
                      <a:solidFill>
                        <a:srgbClr val="E4E7E2"/>
                      </a:solidFill>
                      <a:prstDash val="solid"/>
                      <a:round/>
                      <a:headEnd type="none" w="med" len="med"/>
                      <a:tailEnd type="none" w="med" len="med"/>
                    </a:lnL>
                    <a:lnR w="12700" cap="flat" cmpd="sng" algn="ctr">
                      <a:solidFill>
                        <a:srgbClr val="E4E7E2"/>
                      </a:solidFill>
                      <a:prstDash val="solid"/>
                      <a:round/>
                      <a:headEnd type="none" w="med" len="med"/>
                      <a:tailEnd type="none" w="med" len="med"/>
                    </a:lnR>
                    <a:lnT w="12700" cap="flat" cmpd="sng" algn="ctr">
                      <a:solidFill>
                        <a:srgbClr val="E4E7E2"/>
                      </a:solidFill>
                      <a:prstDash val="solid"/>
                      <a:round/>
                      <a:headEnd type="none" w="med" len="med"/>
                      <a:tailEnd type="none" w="med" len="med"/>
                    </a:lnT>
                    <a:lnB w="12700" cap="flat" cmpd="sng" algn="ctr">
                      <a:solidFill>
                        <a:srgbClr val="E4E7E2"/>
                      </a:solidFill>
                      <a:prstDash val="solid"/>
                      <a:round/>
                      <a:headEnd type="none" w="med" len="med"/>
                      <a:tailEnd type="none" w="med" len="med"/>
                    </a:lnB>
                    <a:solidFill>
                      <a:srgbClr val="EDF8F0"/>
                    </a:solidFill>
                  </a:tcPr>
                </a:tc>
              </a:tr>
              <a:tr h="420624">
                <a:tc>
                  <a:txBody>
                    <a:bodyPr/>
                    <a:lstStyle/>
                    <a:p>
                      <a:pPr indent="0" marL="0">
                        <a:buNone/>
                      </a:pPr>
                      <a:r>
                        <a:rPr lang="en-US" sz="1250" b="1" dirty="0">
                          <a:solidFill>
                            <a:srgbClr val="007040"/>
                          </a:solidFill>
                          <a:latin typeface="Calibri" pitchFamily="34" charset="0"/>
                          <a:ea typeface="Calibri" pitchFamily="34" charset="-122"/>
                          <a:cs typeface="Calibri" pitchFamily="34" charset="-120"/>
                        </a:rPr>
                        <a:t>Tests</a:t>
                      </a:r>
                      <a:endParaRPr lang="en-US" sz="1250" dirty="0">
                        <a:latin typeface="Calibri" charset="0"/>
                        <a:ea typeface="Calibri" charset="0"/>
                        <a:cs typeface="Calibri" charset="0"/>
                      </a:endParaRPr>
                    </a:p>
                  </a:txBody>
                  <a:tcPr marL="101600" marR="76200" marT="50800" marB="50800" anchor="ctr">
                    <a:lnL w="12700" cap="flat" cmpd="sng" algn="ctr">
                      <a:solidFill>
                        <a:srgbClr val="E4E7E2"/>
                      </a:solidFill>
                      <a:prstDash val="solid"/>
                      <a:round/>
                      <a:headEnd type="none" w="med" len="med"/>
                      <a:tailEnd type="none" w="med" len="med"/>
                    </a:lnL>
                    <a:lnR w="12700" cap="flat" cmpd="sng" algn="ctr">
                      <a:solidFill>
                        <a:srgbClr val="E4E7E2"/>
                      </a:solidFill>
                      <a:prstDash val="solid"/>
                      <a:round/>
                      <a:headEnd type="none" w="med" len="med"/>
                      <a:tailEnd type="none" w="med" len="med"/>
                    </a:lnR>
                    <a:lnT w="12700" cap="flat" cmpd="sng" algn="ctr">
                      <a:solidFill>
                        <a:srgbClr val="E4E7E2"/>
                      </a:solidFill>
                      <a:prstDash val="solid"/>
                      <a:round/>
                      <a:headEnd type="none" w="med" len="med"/>
                      <a:tailEnd type="none" w="med" len="med"/>
                    </a:lnT>
                    <a:lnB w="12700" cap="flat" cmpd="sng" algn="ctr">
                      <a:solidFill>
                        <a:srgbClr val="E4E7E2"/>
                      </a:solidFill>
                      <a:prstDash val="solid"/>
                      <a:round/>
                      <a:headEnd type="none" w="med" len="med"/>
                      <a:tailEnd type="none" w="med" len="med"/>
                    </a:lnB>
                    <a:solidFill>
                      <a:srgbClr val="FFFFFF"/>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PHPUnit, php-invoker</a:t>
                      </a:r>
                      <a:endParaRPr lang="en-US" sz="1250" dirty="0">
                        <a:latin typeface="Calibri" charset="0"/>
                        <a:ea typeface="Calibri" charset="0"/>
                        <a:cs typeface="Calibri" charset="0"/>
                      </a:endParaRPr>
                    </a:p>
                  </a:txBody>
                  <a:tcPr marL="101600" marR="76200" marT="50800" marB="50800" anchor="ctr">
                    <a:lnL w="12700" cap="flat" cmpd="sng" algn="ctr">
                      <a:solidFill>
                        <a:srgbClr val="E4E7E2"/>
                      </a:solidFill>
                      <a:prstDash val="solid"/>
                      <a:round/>
                      <a:headEnd type="none" w="med" len="med"/>
                      <a:tailEnd type="none" w="med" len="med"/>
                    </a:lnL>
                    <a:lnR w="12700" cap="flat" cmpd="sng" algn="ctr">
                      <a:solidFill>
                        <a:srgbClr val="E4E7E2"/>
                      </a:solidFill>
                      <a:prstDash val="solid"/>
                      <a:round/>
                      <a:headEnd type="none" w="med" len="med"/>
                      <a:tailEnd type="none" w="med" len="med"/>
                    </a:lnR>
                    <a:lnT w="12700" cap="flat" cmpd="sng" algn="ctr">
                      <a:solidFill>
                        <a:srgbClr val="E4E7E2"/>
                      </a:solidFill>
                      <a:prstDash val="solid"/>
                      <a:round/>
                      <a:headEnd type="none" w="med" len="med"/>
                      <a:tailEnd type="none" w="med" len="med"/>
                    </a:lnT>
                    <a:lnB w="12700" cap="flat" cmpd="sng" algn="ctr">
                      <a:solidFill>
                        <a:srgbClr val="E4E7E2"/>
                      </a:solidFill>
                      <a:prstDash val="solid"/>
                      <a:round/>
                      <a:headEnd type="none" w="med" len="med"/>
                      <a:tailEnd type="none" w="med" len="med"/>
                    </a:lnB>
                    <a:solidFill>
                      <a:srgbClr val="FFFFFF"/>
                    </a:solidFill>
                  </a:tcPr>
                </a:tc>
              </a:tr>
              <a:tr h="420624">
                <a:tc>
                  <a:txBody>
                    <a:bodyPr/>
                    <a:lstStyle/>
                    <a:p>
                      <a:pPr indent="0" marL="0">
                        <a:buNone/>
                      </a:pPr>
                      <a:r>
                        <a:rPr lang="en-US" sz="1250" b="1" dirty="0">
                          <a:solidFill>
                            <a:srgbClr val="007040"/>
                          </a:solidFill>
                          <a:latin typeface="Calibri" pitchFamily="34" charset="0"/>
                          <a:ea typeface="Calibri" pitchFamily="34" charset="-122"/>
                          <a:cs typeface="Calibri" pitchFamily="34" charset="-120"/>
                        </a:rPr>
                        <a:t>Dépendances</a:t>
                      </a:r>
                      <a:endParaRPr lang="en-US" sz="1250" dirty="0">
                        <a:latin typeface="Calibri" charset="0"/>
                        <a:ea typeface="Calibri" charset="0"/>
                        <a:cs typeface="Calibri" charset="0"/>
                      </a:endParaRPr>
                    </a:p>
                  </a:txBody>
                  <a:tcPr marL="101600" marR="76200" marT="50800" marB="50800" anchor="ctr">
                    <a:lnL w="12700" cap="flat" cmpd="sng" algn="ctr">
                      <a:solidFill>
                        <a:srgbClr val="E4E7E2"/>
                      </a:solidFill>
                      <a:prstDash val="solid"/>
                      <a:round/>
                      <a:headEnd type="none" w="med" len="med"/>
                      <a:tailEnd type="none" w="med" len="med"/>
                    </a:lnL>
                    <a:lnR w="12700" cap="flat" cmpd="sng" algn="ctr">
                      <a:solidFill>
                        <a:srgbClr val="E4E7E2"/>
                      </a:solidFill>
                      <a:prstDash val="solid"/>
                      <a:round/>
                      <a:headEnd type="none" w="med" len="med"/>
                      <a:tailEnd type="none" w="med" len="med"/>
                    </a:lnR>
                    <a:lnT w="12700" cap="flat" cmpd="sng" algn="ctr">
                      <a:solidFill>
                        <a:srgbClr val="E4E7E2"/>
                      </a:solidFill>
                      <a:prstDash val="solid"/>
                      <a:round/>
                      <a:headEnd type="none" w="med" len="med"/>
                      <a:tailEnd type="none" w="med" len="med"/>
                    </a:lnT>
                    <a:lnB w="12700" cap="flat" cmpd="sng" algn="ctr">
                      <a:solidFill>
                        <a:srgbClr val="E4E7E2"/>
                      </a:solidFill>
                      <a:prstDash val="solid"/>
                      <a:round/>
                      <a:headEnd type="none" w="med" len="med"/>
                      <a:tailEnd type="none" w="med" len="med"/>
                    </a:lnB>
                    <a:solidFill>
                      <a:srgbClr val="EDF8F0"/>
                    </a:solidFill>
                  </a:tcPr>
                </a:tc>
                <a:tc>
                  <a:txBody>
                    <a:bodyPr/>
                    <a:lstStyle/>
                    <a:p>
                      <a:pPr indent="0" marL="0">
                        <a:buNone/>
                      </a:pPr>
                      <a:r>
                        <a:rPr lang="en-US" sz="1250" dirty="0">
                          <a:solidFill>
                            <a:srgbClr val="1A1A1A"/>
                          </a:solidFill>
                          <a:latin typeface="Calibri" pitchFamily="34" charset="0"/>
                          <a:ea typeface="Calibri" pitchFamily="34" charset="-122"/>
                          <a:cs typeface="Calibri" pitchFamily="34" charset="-120"/>
                        </a:rPr>
                        <a:t>Composer (autoload PSR-4)</a:t>
                      </a:r>
                      <a:endParaRPr lang="en-US" sz="1250" dirty="0">
                        <a:latin typeface="Calibri" charset="0"/>
                        <a:ea typeface="Calibri" charset="0"/>
                        <a:cs typeface="Calibri" charset="0"/>
                      </a:endParaRPr>
                    </a:p>
                  </a:txBody>
                  <a:tcPr marL="101600" marR="76200" marT="50800" marB="50800" anchor="ctr">
                    <a:lnL w="12700" cap="flat" cmpd="sng" algn="ctr">
                      <a:solidFill>
                        <a:srgbClr val="E4E7E2"/>
                      </a:solidFill>
                      <a:prstDash val="solid"/>
                      <a:round/>
                      <a:headEnd type="none" w="med" len="med"/>
                      <a:tailEnd type="none" w="med" len="med"/>
                    </a:lnL>
                    <a:lnR w="12700" cap="flat" cmpd="sng" algn="ctr">
                      <a:solidFill>
                        <a:srgbClr val="E4E7E2"/>
                      </a:solidFill>
                      <a:prstDash val="solid"/>
                      <a:round/>
                      <a:headEnd type="none" w="med" len="med"/>
                      <a:tailEnd type="none" w="med" len="med"/>
                    </a:lnR>
                    <a:lnT w="12700" cap="flat" cmpd="sng" algn="ctr">
                      <a:solidFill>
                        <a:srgbClr val="E4E7E2"/>
                      </a:solidFill>
                      <a:prstDash val="solid"/>
                      <a:round/>
                      <a:headEnd type="none" w="med" len="med"/>
                      <a:tailEnd type="none" w="med" len="med"/>
                    </a:lnT>
                    <a:lnB w="12700" cap="flat" cmpd="sng" algn="ctr">
                      <a:solidFill>
                        <a:srgbClr val="E4E7E2"/>
                      </a:solidFill>
                      <a:prstDash val="solid"/>
                      <a:round/>
                      <a:headEnd type="none" w="med" len="med"/>
                      <a:tailEnd type="none" w="med" len="med"/>
                    </a:lnB>
                    <a:solidFill>
                      <a:srgbClr val="EDF8F0"/>
                    </a:solidFill>
                  </a:tcPr>
                </a:tc>
              </a:tr>
            </a:tbl>
          </a:graphicData>
        </a:graphic>
      </p:graphicFrame>
      <p:sp>
        <p:nvSpPr>
          <p:cNvPr id="6" name="Shape 3"/>
          <p:cNvSpPr/>
          <p:nvPr/>
        </p:nvSpPr>
        <p:spPr>
          <a:xfrm>
            <a:off x="6355080" y="1508760"/>
            <a:ext cx="5303520" cy="4343400"/>
          </a:xfrm>
          <a:prstGeom prst="roundRect">
            <a:avLst>
              <a:gd name="adj" fmla="val 2526"/>
            </a:avLst>
          </a:prstGeom>
          <a:solidFill>
            <a:srgbClr val="FFFFFF"/>
          </a:solidFill>
          <a:ln w="12700">
            <a:solidFill>
              <a:srgbClr val="E4E7E2"/>
            </a:solidFill>
            <a:prstDash val="solid"/>
          </a:ln>
          <a:effectLst>
            <a:outerShdw sx="100000" sy="100000" kx="0" ky="0" algn="bl" rotWithShape="0" blurRad="127000" dist="38100" dir="5400000">
              <a:srgbClr val="1A1A1A">
                <a:alpha val="10000"/>
              </a:srgbClr>
            </a:outerShdw>
          </a:effectLst>
        </p:spPr>
      </p:sp>
      <p:sp>
        <p:nvSpPr>
          <p:cNvPr id="7" name="Shape 4"/>
          <p:cNvSpPr/>
          <p:nvPr/>
        </p:nvSpPr>
        <p:spPr>
          <a:xfrm>
            <a:off x="6629400" y="1783080"/>
            <a:ext cx="566928" cy="566928"/>
          </a:xfrm>
          <a:prstGeom prst="ellipse">
            <a:avLst/>
          </a:prstGeom>
          <a:solidFill>
            <a:srgbClr val="008A48"/>
          </a:solidFill>
          <a:ln/>
          <a:effectLst>
            <a:outerShdw sx="100000" sy="100000" kx="0" ky="0" algn="bl" rotWithShape="0" blurRad="88900" dist="25400" dir="5400000">
              <a:srgbClr val="06402A">
                <a:alpha val="16000"/>
              </a:srgbClr>
            </a:outerShdw>
          </a:effectLst>
        </p:spPr>
      </p:sp>
      <p:pic>
        <p:nvPicPr>
          <p:cNvPr id="8" name="Image 0" descr="img/code_white.png">    </p:cNvPr>
          <p:cNvPicPr>
            <a:picLocks noChangeAspect="1"/>
          </p:cNvPicPr>
          <p:nvPr/>
        </p:nvPicPr>
        <p:blipFill>
          <a:blip r:embed="rId1"/>
          <a:stretch>
            <a:fillRect/>
          </a:stretch>
        </p:blipFill>
        <p:spPr>
          <a:xfrm>
            <a:off x="6771132" y="1924812"/>
            <a:ext cx="283464" cy="283464"/>
          </a:xfrm>
          <a:prstGeom prst="rect">
            <a:avLst/>
          </a:prstGeom>
        </p:spPr>
      </p:pic>
      <p:sp>
        <p:nvSpPr>
          <p:cNvPr id="9" name="Text 5"/>
          <p:cNvSpPr/>
          <p:nvPr/>
        </p:nvSpPr>
        <p:spPr>
          <a:xfrm>
            <a:off x="7360920" y="1810512"/>
            <a:ext cx="4114800" cy="502920"/>
          </a:xfrm>
          <a:prstGeom prst="rect">
            <a:avLst/>
          </a:prstGeom>
          <a:noFill/>
          <a:ln/>
        </p:spPr>
        <p:txBody>
          <a:bodyPr wrap="square" lIns="0" tIns="0" rIns="0" bIns="0"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Organisation MVC</a:t>
            </a:r>
            <a:endParaRPr lang="en-US" sz="1600" dirty="0"/>
          </a:p>
        </p:txBody>
      </p:sp>
      <p:sp>
        <p:nvSpPr>
          <p:cNvPr id="10" name="Text 6"/>
          <p:cNvSpPr/>
          <p:nvPr/>
        </p:nvSpPr>
        <p:spPr>
          <a:xfrm>
            <a:off x="6629400" y="2468880"/>
            <a:ext cx="1737360" cy="502920"/>
          </a:xfrm>
          <a:prstGeom prst="rect">
            <a:avLst/>
          </a:prstGeom>
          <a:noFill/>
          <a:ln/>
        </p:spPr>
        <p:txBody>
          <a:bodyPr wrap="square" lIns="0" tIns="0" rIns="0" bIns="0" rtlCol="0" anchor="ctr"/>
          <a:lstStyle/>
          <a:p>
            <a:pPr indent="0" marL="0">
              <a:buNone/>
            </a:pPr>
            <a:r>
              <a:rPr lang="en-US" sz="1150" b="1" dirty="0">
                <a:solidFill>
                  <a:srgbClr val="007040"/>
                </a:solidFill>
                <a:latin typeface="Courier New" pitchFamily="34" charset="0"/>
                <a:ea typeface="Courier New" pitchFamily="34" charset="-122"/>
                <a:cs typeface="Courier New" pitchFamily="34" charset="-120"/>
              </a:rPr>
              <a:t>public/</a:t>
            </a:r>
            <a:endParaRPr lang="en-US" sz="1150" dirty="0"/>
          </a:p>
        </p:txBody>
      </p:sp>
      <p:sp>
        <p:nvSpPr>
          <p:cNvPr id="11" name="Text 7"/>
          <p:cNvSpPr/>
          <p:nvPr/>
        </p:nvSpPr>
        <p:spPr>
          <a:xfrm>
            <a:off x="8275320" y="2468880"/>
            <a:ext cx="3246120" cy="502920"/>
          </a:xfrm>
          <a:prstGeom prst="rect">
            <a:avLst/>
          </a:prstGeom>
          <a:noFill/>
          <a:ln/>
        </p:spPr>
        <p:txBody>
          <a:bodyPr wrap="square" lIns="0" tIns="0" rIns="0" bIns="0" rtlCol="0" anchor="ctr"/>
          <a:lstStyle/>
          <a:p>
            <a:pPr indent="0" marL="0">
              <a:buNone/>
            </a:pPr>
            <a:r>
              <a:rPr lang="en-US" sz="1050" dirty="0">
                <a:solidFill>
                  <a:srgbClr val="6B6F6A"/>
                </a:solidFill>
                <a:latin typeface="Calibri" pitchFamily="34" charset="0"/>
                <a:ea typeface="Calibri" pitchFamily="34" charset="-122"/>
                <a:cs typeface="Calibri" pitchFamily="34" charset="-120"/>
              </a:rPr>
              <a:t>Point d'entrée unique (index.php), styles &amp; assets</a:t>
            </a:r>
            <a:endParaRPr lang="en-US" sz="1050" dirty="0"/>
          </a:p>
        </p:txBody>
      </p:sp>
      <p:sp>
        <p:nvSpPr>
          <p:cNvPr id="12" name="Text 8"/>
          <p:cNvSpPr/>
          <p:nvPr/>
        </p:nvSpPr>
        <p:spPr>
          <a:xfrm>
            <a:off x="6629400" y="3017520"/>
            <a:ext cx="1737360" cy="502920"/>
          </a:xfrm>
          <a:prstGeom prst="rect">
            <a:avLst/>
          </a:prstGeom>
          <a:noFill/>
          <a:ln/>
        </p:spPr>
        <p:txBody>
          <a:bodyPr wrap="square" lIns="0" tIns="0" rIns="0" bIns="0" rtlCol="0" anchor="ctr"/>
          <a:lstStyle/>
          <a:p>
            <a:pPr indent="0" marL="0">
              <a:buNone/>
            </a:pPr>
            <a:r>
              <a:rPr lang="en-US" sz="1150" b="1" dirty="0">
                <a:solidFill>
                  <a:srgbClr val="007040"/>
                </a:solidFill>
                <a:latin typeface="Courier New" pitchFamily="34" charset="0"/>
                <a:ea typeface="Courier New" pitchFamily="34" charset="-122"/>
                <a:cs typeface="Courier New" pitchFamily="34" charset="-120"/>
              </a:rPr>
              <a:t>src/Controllers/</a:t>
            </a:r>
            <a:endParaRPr lang="en-US" sz="1150" dirty="0"/>
          </a:p>
        </p:txBody>
      </p:sp>
      <p:sp>
        <p:nvSpPr>
          <p:cNvPr id="13" name="Text 9"/>
          <p:cNvSpPr/>
          <p:nvPr/>
        </p:nvSpPr>
        <p:spPr>
          <a:xfrm>
            <a:off x="8275320" y="3017520"/>
            <a:ext cx="3246120" cy="502920"/>
          </a:xfrm>
          <a:prstGeom prst="rect">
            <a:avLst/>
          </a:prstGeom>
          <a:noFill/>
          <a:ln/>
        </p:spPr>
        <p:txBody>
          <a:bodyPr wrap="square" lIns="0" tIns="0" rIns="0" bIns="0" rtlCol="0" anchor="ctr"/>
          <a:lstStyle/>
          <a:p>
            <a:pPr indent="0" marL="0">
              <a:buNone/>
            </a:pPr>
            <a:r>
              <a:rPr lang="en-US" sz="1050" dirty="0">
                <a:solidFill>
                  <a:srgbClr val="6B6F6A"/>
                </a:solidFill>
                <a:latin typeface="Calibri" pitchFamily="34" charset="0"/>
                <a:ea typeface="Calibri" pitchFamily="34" charset="-122"/>
                <a:cs typeface="Calibri" pitchFamily="34" charset="-120"/>
              </a:rPr>
              <a:t>HomeController, UserController</a:t>
            </a:r>
            <a:endParaRPr lang="en-US" sz="1050" dirty="0"/>
          </a:p>
        </p:txBody>
      </p:sp>
      <p:sp>
        <p:nvSpPr>
          <p:cNvPr id="14" name="Text 10"/>
          <p:cNvSpPr/>
          <p:nvPr/>
        </p:nvSpPr>
        <p:spPr>
          <a:xfrm>
            <a:off x="6629400" y="3566160"/>
            <a:ext cx="1737360" cy="502920"/>
          </a:xfrm>
          <a:prstGeom prst="rect">
            <a:avLst/>
          </a:prstGeom>
          <a:noFill/>
          <a:ln/>
        </p:spPr>
        <p:txBody>
          <a:bodyPr wrap="square" lIns="0" tIns="0" rIns="0" bIns="0" rtlCol="0" anchor="ctr"/>
          <a:lstStyle/>
          <a:p>
            <a:pPr indent="0" marL="0">
              <a:buNone/>
            </a:pPr>
            <a:r>
              <a:rPr lang="en-US" sz="1150" b="1" dirty="0">
                <a:solidFill>
                  <a:srgbClr val="007040"/>
                </a:solidFill>
                <a:latin typeface="Courier New" pitchFamily="34" charset="0"/>
                <a:ea typeface="Courier New" pitchFamily="34" charset="-122"/>
                <a:cs typeface="Courier New" pitchFamily="34" charset="-120"/>
              </a:rPr>
              <a:t>src/Models/</a:t>
            </a:r>
            <a:endParaRPr lang="en-US" sz="1150" dirty="0"/>
          </a:p>
        </p:txBody>
      </p:sp>
      <p:sp>
        <p:nvSpPr>
          <p:cNvPr id="15" name="Text 11"/>
          <p:cNvSpPr/>
          <p:nvPr/>
        </p:nvSpPr>
        <p:spPr>
          <a:xfrm>
            <a:off x="8275320" y="3566160"/>
            <a:ext cx="3246120" cy="502920"/>
          </a:xfrm>
          <a:prstGeom prst="rect">
            <a:avLst/>
          </a:prstGeom>
          <a:noFill/>
          <a:ln/>
        </p:spPr>
        <p:txBody>
          <a:bodyPr wrap="square" lIns="0" tIns="0" rIns="0" bIns="0" rtlCol="0" anchor="ctr"/>
          <a:lstStyle/>
          <a:p>
            <a:pPr indent="0" marL="0">
              <a:buNone/>
            </a:pPr>
            <a:r>
              <a:rPr lang="en-US" sz="1050" dirty="0">
                <a:solidFill>
                  <a:srgbClr val="6B6F6A"/>
                </a:solidFill>
                <a:latin typeface="Calibri" pitchFamily="34" charset="0"/>
                <a:ea typeface="Calibri" pitchFamily="34" charset="-122"/>
                <a:cs typeface="Calibri" pitchFamily="34" charset="-120"/>
              </a:rPr>
              <a:t>CarbonCalculator, DefiManager, EmpreinteManager, QuestionManager, User, UserManager</a:t>
            </a:r>
            <a:endParaRPr lang="en-US" sz="1050" dirty="0"/>
          </a:p>
        </p:txBody>
      </p:sp>
      <p:sp>
        <p:nvSpPr>
          <p:cNvPr id="16" name="Text 12"/>
          <p:cNvSpPr/>
          <p:nvPr/>
        </p:nvSpPr>
        <p:spPr>
          <a:xfrm>
            <a:off x="6629400" y="4114800"/>
            <a:ext cx="1737360" cy="502920"/>
          </a:xfrm>
          <a:prstGeom prst="rect">
            <a:avLst/>
          </a:prstGeom>
          <a:noFill/>
          <a:ln/>
        </p:spPr>
        <p:txBody>
          <a:bodyPr wrap="square" lIns="0" tIns="0" rIns="0" bIns="0" rtlCol="0" anchor="ctr"/>
          <a:lstStyle/>
          <a:p>
            <a:pPr indent="0" marL="0">
              <a:buNone/>
            </a:pPr>
            <a:r>
              <a:rPr lang="en-US" sz="1150" b="1" dirty="0">
                <a:solidFill>
                  <a:srgbClr val="007040"/>
                </a:solidFill>
                <a:latin typeface="Courier New" pitchFamily="34" charset="0"/>
                <a:ea typeface="Courier New" pitchFamily="34" charset="-122"/>
                <a:cs typeface="Courier New" pitchFamily="34" charset="-120"/>
              </a:rPr>
              <a:t>src/Views/</a:t>
            </a:r>
            <a:endParaRPr lang="en-US" sz="1150" dirty="0"/>
          </a:p>
        </p:txBody>
      </p:sp>
      <p:sp>
        <p:nvSpPr>
          <p:cNvPr id="17" name="Text 13"/>
          <p:cNvSpPr/>
          <p:nvPr/>
        </p:nvSpPr>
        <p:spPr>
          <a:xfrm>
            <a:off x="8275320" y="4114800"/>
            <a:ext cx="3246120" cy="502920"/>
          </a:xfrm>
          <a:prstGeom prst="rect">
            <a:avLst/>
          </a:prstGeom>
          <a:noFill/>
          <a:ln/>
        </p:spPr>
        <p:txBody>
          <a:bodyPr wrap="square" lIns="0" tIns="0" rIns="0" bIns="0" rtlCol="0" anchor="ctr"/>
          <a:lstStyle/>
          <a:p>
            <a:pPr indent="0" marL="0">
              <a:buNone/>
            </a:pPr>
            <a:r>
              <a:rPr lang="en-US" sz="1050" dirty="0">
                <a:solidFill>
                  <a:srgbClr val="6B6F6A"/>
                </a:solidFill>
                <a:latin typeface="Calibri" pitchFamily="34" charset="0"/>
                <a:ea typeface="Calibri" pitchFamily="34" charset="-122"/>
                <a:cs typeface="Calibri" pitchFamily="34" charset="-120"/>
              </a:rPr>
              <a:t>App, Auth, Emails</a:t>
            </a:r>
            <a:endParaRPr lang="en-US" sz="1050" dirty="0"/>
          </a:p>
        </p:txBody>
      </p:sp>
      <p:sp>
        <p:nvSpPr>
          <p:cNvPr id="18" name="Text 14"/>
          <p:cNvSpPr/>
          <p:nvPr/>
        </p:nvSpPr>
        <p:spPr>
          <a:xfrm>
            <a:off x="6629400" y="4663440"/>
            <a:ext cx="1737360" cy="502920"/>
          </a:xfrm>
          <a:prstGeom prst="rect">
            <a:avLst/>
          </a:prstGeom>
          <a:noFill/>
          <a:ln/>
        </p:spPr>
        <p:txBody>
          <a:bodyPr wrap="square" lIns="0" tIns="0" rIns="0" bIns="0" rtlCol="0" anchor="ctr"/>
          <a:lstStyle/>
          <a:p>
            <a:pPr indent="0" marL="0">
              <a:buNone/>
            </a:pPr>
            <a:r>
              <a:rPr lang="en-US" sz="1150" b="1" dirty="0">
                <a:solidFill>
                  <a:srgbClr val="007040"/>
                </a:solidFill>
                <a:latin typeface="Courier New" pitchFamily="34" charset="0"/>
                <a:ea typeface="Courier New" pitchFamily="34" charset="-122"/>
                <a:cs typeface="Courier New" pitchFamily="34" charset="-120"/>
              </a:rPr>
              <a:t>src/</a:t>
            </a:r>
            <a:endParaRPr lang="en-US" sz="1150" dirty="0"/>
          </a:p>
        </p:txBody>
      </p:sp>
      <p:sp>
        <p:nvSpPr>
          <p:cNvPr id="19" name="Text 15"/>
          <p:cNvSpPr/>
          <p:nvPr/>
        </p:nvSpPr>
        <p:spPr>
          <a:xfrm>
            <a:off x="8275320" y="4663440"/>
            <a:ext cx="3246120" cy="502920"/>
          </a:xfrm>
          <a:prstGeom prst="rect">
            <a:avLst/>
          </a:prstGeom>
          <a:noFill/>
          <a:ln/>
        </p:spPr>
        <p:txBody>
          <a:bodyPr wrap="square" lIns="0" tIns="0" rIns="0" bIns="0" rtlCol="0" anchor="ctr"/>
          <a:lstStyle/>
          <a:p>
            <a:pPr indent="0" marL="0">
              <a:buNone/>
            </a:pPr>
            <a:r>
              <a:rPr lang="en-US" sz="1050" dirty="0">
                <a:solidFill>
                  <a:srgbClr val="6B6F6A"/>
                </a:solidFill>
                <a:latin typeface="Calibri" pitchFamily="34" charset="0"/>
                <a:ea typeface="Calibri" pitchFamily="34" charset="-122"/>
                <a:cs typeface="Calibri" pitchFamily="34" charset="-120"/>
              </a:rPr>
              <a:t>Router, Route, Validator, Helper</a:t>
            </a:r>
            <a:endParaRPr lang="en-US" sz="1050" dirty="0"/>
          </a:p>
        </p:txBody>
      </p:sp>
      <p:sp>
        <p:nvSpPr>
          <p:cNvPr id="20" name="Text 16"/>
          <p:cNvSpPr/>
          <p:nvPr/>
        </p:nvSpPr>
        <p:spPr>
          <a:xfrm>
            <a:off x="6629400" y="5212080"/>
            <a:ext cx="1737360" cy="502920"/>
          </a:xfrm>
          <a:prstGeom prst="rect">
            <a:avLst/>
          </a:prstGeom>
          <a:noFill/>
          <a:ln/>
        </p:spPr>
        <p:txBody>
          <a:bodyPr wrap="square" lIns="0" tIns="0" rIns="0" bIns="0" rtlCol="0" anchor="ctr"/>
          <a:lstStyle/>
          <a:p>
            <a:pPr indent="0" marL="0">
              <a:buNone/>
            </a:pPr>
            <a:r>
              <a:rPr lang="en-US" sz="1150" b="1" dirty="0">
                <a:solidFill>
                  <a:srgbClr val="007040"/>
                </a:solidFill>
                <a:latin typeface="Courier New" pitchFamily="34" charset="0"/>
                <a:ea typeface="Courier New" pitchFamily="34" charset="-122"/>
                <a:cs typeface="Courier New" pitchFamily="34" charset="-120"/>
              </a:rPr>
              <a:t>test/</a:t>
            </a:r>
            <a:endParaRPr lang="en-US" sz="1150" dirty="0"/>
          </a:p>
        </p:txBody>
      </p:sp>
      <p:sp>
        <p:nvSpPr>
          <p:cNvPr id="21" name="Text 17"/>
          <p:cNvSpPr/>
          <p:nvPr/>
        </p:nvSpPr>
        <p:spPr>
          <a:xfrm>
            <a:off x="8275320" y="5212080"/>
            <a:ext cx="3246120" cy="502920"/>
          </a:xfrm>
          <a:prstGeom prst="rect">
            <a:avLst/>
          </a:prstGeom>
          <a:noFill/>
          <a:ln/>
        </p:spPr>
        <p:txBody>
          <a:bodyPr wrap="square" lIns="0" tIns="0" rIns="0" bIns="0" rtlCol="0" anchor="ctr"/>
          <a:lstStyle/>
          <a:p>
            <a:pPr indent="0" marL="0">
              <a:buNone/>
            </a:pPr>
            <a:r>
              <a:rPr lang="en-US" sz="1050" dirty="0">
                <a:solidFill>
                  <a:srgbClr val="6B6F6A"/>
                </a:solidFill>
                <a:latin typeface="Calibri" pitchFamily="34" charset="0"/>
                <a:ea typeface="Calibri" pitchFamily="34" charset="-122"/>
                <a:cs typeface="Calibri" pitchFamily="34" charset="-120"/>
              </a:rPr>
              <a:t>Tests unitaires &amp; d'intégration (PHPUnit)</a:t>
            </a:r>
            <a:endParaRPr lang="en-US" sz="1050" dirty="0"/>
          </a:p>
        </p:txBody>
      </p:sp>
      <p:pic>
        <p:nvPicPr>
          <p:cNvPr id="22" name="Image 1" descr="img/leaf_green.png">    </p:cNvPr>
          <p:cNvPicPr>
            <a:picLocks noChangeAspect="1"/>
          </p:cNvPicPr>
          <p:nvPr/>
        </p:nvPicPr>
        <p:blipFill>
          <a:blip r:embed="rId2"/>
          <a:stretch>
            <a:fillRect/>
          </a:stretch>
        </p:blipFill>
        <p:spPr>
          <a:xfrm>
            <a:off x="502920" y="6437376"/>
            <a:ext cx="182880" cy="182880"/>
          </a:xfrm>
          <a:prstGeom prst="rect">
            <a:avLst/>
          </a:prstGeom>
        </p:spPr>
      </p:pic>
      <p:sp>
        <p:nvSpPr>
          <p:cNvPr id="23" name="Text 18"/>
          <p:cNvSpPr/>
          <p:nvPr/>
        </p:nvSpPr>
        <p:spPr>
          <a:xfrm>
            <a:off x="731520" y="6364224"/>
            <a:ext cx="1828800" cy="320040"/>
          </a:xfrm>
          <a:prstGeom prst="rect">
            <a:avLst/>
          </a:prstGeom>
          <a:noFill/>
          <a:ln/>
        </p:spPr>
        <p:txBody>
          <a:bodyPr wrap="square" rtlCol="0" anchor="ctr"/>
          <a:lstStyle/>
          <a:p>
            <a:pPr indent="0" marL="0">
              <a:buNone/>
            </a:pPr>
            <a:r>
              <a:rPr lang="en-US" sz="1100" b="1" dirty="0">
                <a:solidFill>
                  <a:srgbClr val="6B6F6A"/>
                </a:solidFill>
                <a:latin typeface="Calibri" pitchFamily="34" charset="0"/>
                <a:ea typeface="Calibri" pitchFamily="34" charset="-122"/>
                <a:cs typeface="Calibri" pitchFamily="34" charset="-120"/>
              </a:rPr>
              <a:t>EcoTrack</a:t>
            </a:r>
            <a:endParaRPr lang="en-US" sz="1100" dirty="0"/>
          </a:p>
        </p:txBody>
      </p:sp>
      <p:sp>
        <p:nvSpPr>
          <p:cNvPr id="24" name="Text 19"/>
          <p:cNvSpPr/>
          <p:nvPr/>
        </p:nvSpPr>
        <p:spPr>
          <a:xfrm>
            <a:off x="11183112" y="6364224"/>
            <a:ext cx="502920" cy="320040"/>
          </a:xfrm>
          <a:prstGeom prst="rect">
            <a:avLst/>
          </a:prstGeom>
          <a:noFill/>
          <a:ln/>
        </p:spPr>
        <p:txBody>
          <a:bodyPr wrap="square" rtlCol="0" anchor="ctr"/>
          <a:lstStyle/>
          <a:p>
            <a:pPr algn="r" indent="0" marL="0">
              <a:buNone/>
            </a:pPr>
            <a:r>
              <a:rPr lang="en-US" sz="1100" dirty="0">
                <a:solidFill>
                  <a:srgbClr val="6B6F6A"/>
                </a:solidFill>
                <a:latin typeface="Calibri" pitchFamily="34" charset="0"/>
                <a:ea typeface="Calibri" pitchFamily="34" charset="-122"/>
                <a:cs typeface="Calibri"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CF9"/>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indent="0" marL="0">
              <a:buNone/>
            </a:pPr>
            <a:r>
              <a:rPr lang="en-US" sz="1300" b="1" spc="200" kern="0" dirty="0">
                <a:solidFill>
                  <a:srgbClr val="008A48"/>
                </a:solidFill>
                <a:latin typeface="Calibri" pitchFamily="34" charset="0"/>
                <a:ea typeface="Calibri" pitchFamily="34" charset="-122"/>
                <a:cs typeface="Calibri" pitchFamily="34" charset="-120"/>
              </a:rPr>
              <a:t>05 · MODÈLE DE DONNÉES (MCD / MLD)</a:t>
            </a:r>
            <a:endParaRPr lang="en-US" sz="1300" dirty="0"/>
          </a:p>
        </p:txBody>
      </p:sp>
      <p:sp>
        <p:nvSpPr>
          <p:cNvPr id="3" name="Text 1"/>
          <p:cNvSpPr/>
          <p:nvPr/>
        </p:nvSpPr>
        <p:spPr>
          <a:xfrm>
            <a:off x="530352" y="658368"/>
            <a:ext cx="11064240" cy="685800"/>
          </a:xfrm>
          <a:prstGeom prst="rect">
            <a:avLst/>
          </a:prstGeom>
          <a:noFill/>
          <a:ln/>
        </p:spPr>
        <p:txBody>
          <a:bodyPr wrap="square" lIns="0" tIns="0" rIns="0" bIns="0" rtlCol="0" anchor="ctr"/>
          <a:lstStyle/>
          <a:p>
            <a:pPr indent="0" marL="0">
              <a:buNone/>
            </a:pPr>
            <a:r>
              <a:rPr lang="en-US" sz="3000" b="1" dirty="0">
                <a:solidFill>
                  <a:srgbClr val="1A1A1A"/>
                </a:solidFill>
                <a:latin typeface="Calibri" pitchFamily="34" charset="0"/>
                <a:ea typeface="Calibri" pitchFamily="34" charset="-122"/>
                <a:cs typeface="Calibri" pitchFamily="34" charset="-120"/>
              </a:rPr>
              <a:t>Une base structurée autour des défis</a:t>
            </a:r>
            <a:endParaRPr lang="en-US" sz="3000" dirty="0"/>
          </a:p>
        </p:txBody>
      </p:sp>
      <p:sp>
        <p:nvSpPr>
          <p:cNvPr id="4" name="Shape 2"/>
          <p:cNvSpPr/>
          <p:nvPr/>
        </p:nvSpPr>
        <p:spPr>
          <a:xfrm>
            <a:off x="548640" y="1600200"/>
            <a:ext cx="3566160" cy="1078992"/>
          </a:xfrm>
          <a:prstGeom prst="roundRect">
            <a:avLst>
              <a:gd name="adj" fmla="val 10169"/>
            </a:avLst>
          </a:prstGeom>
          <a:solidFill>
            <a:srgbClr val="FFFFFF"/>
          </a:solidFill>
          <a:ln w="12700">
            <a:solidFill>
              <a:srgbClr val="E4E7E2"/>
            </a:solidFill>
            <a:prstDash val="solid"/>
          </a:ln>
          <a:effectLst>
            <a:outerShdw sx="100000" sy="100000" kx="0" ky="0" algn="bl" rotWithShape="0" blurRad="127000" dist="38100" dir="5400000">
              <a:srgbClr val="1A1A1A">
                <a:alpha val="10000"/>
              </a:srgbClr>
            </a:outerShdw>
          </a:effectLst>
        </p:spPr>
      </p:sp>
      <p:sp>
        <p:nvSpPr>
          <p:cNvPr id="5" name="Shape 3"/>
          <p:cNvSpPr/>
          <p:nvPr/>
        </p:nvSpPr>
        <p:spPr>
          <a:xfrm>
            <a:off x="768096" y="1783080"/>
            <a:ext cx="384048" cy="384048"/>
          </a:xfrm>
          <a:prstGeom prst="ellipse">
            <a:avLst/>
          </a:prstGeom>
          <a:solidFill>
            <a:srgbClr val="008A48"/>
          </a:solidFill>
          <a:ln/>
        </p:spPr>
      </p:sp>
      <p:pic>
        <p:nvPicPr>
          <p:cNvPr id="6" name="Image 0" descr="img/db_white.png">    </p:cNvPr>
          <p:cNvPicPr>
            <a:picLocks noChangeAspect="1"/>
          </p:cNvPicPr>
          <p:nvPr/>
        </p:nvPicPr>
        <p:blipFill>
          <a:blip r:embed="rId1"/>
          <a:stretch>
            <a:fillRect/>
          </a:stretch>
        </p:blipFill>
        <p:spPr>
          <a:xfrm>
            <a:off x="850392" y="1865376"/>
            <a:ext cx="219456" cy="219456"/>
          </a:xfrm>
          <a:prstGeom prst="rect">
            <a:avLst/>
          </a:prstGeom>
        </p:spPr>
      </p:pic>
      <p:sp>
        <p:nvSpPr>
          <p:cNvPr id="7" name="Text 4"/>
          <p:cNvSpPr/>
          <p:nvPr/>
        </p:nvSpPr>
        <p:spPr>
          <a:xfrm>
            <a:off x="1280160" y="1746504"/>
            <a:ext cx="2697480" cy="365760"/>
          </a:xfrm>
          <a:prstGeom prst="rect">
            <a:avLst/>
          </a:prstGeom>
          <a:noFill/>
          <a:ln/>
        </p:spPr>
        <p:txBody>
          <a:bodyPr wrap="square" lIns="0" tIns="0" rIns="0" bIns="0" rtlCol="0" anchor="ctr"/>
          <a:lstStyle/>
          <a:p>
            <a:pPr indent="0" marL="0">
              <a:buNone/>
            </a:pPr>
            <a:r>
              <a:rPr lang="en-US" sz="1300" b="1" dirty="0">
                <a:solidFill>
                  <a:srgbClr val="007040"/>
                </a:solidFill>
                <a:latin typeface="Courier New" pitchFamily="34" charset="0"/>
                <a:ea typeface="Courier New" pitchFamily="34" charset="-122"/>
                <a:cs typeface="Courier New" pitchFamily="34" charset="-120"/>
              </a:rPr>
              <a:t>users</a:t>
            </a:r>
            <a:endParaRPr lang="en-US" sz="1300" dirty="0"/>
          </a:p>
        </p:txBody>
      </p:sp>
      <p:sp>
        <p:nvSpPr>
          <p:cNvPr id="8" name="Text 5"/>
          <p:cNvSpPr/>
          <p:nvPr/>
        </p:nvSpPr>
        <p:spPr>
          <a:xfrm>
            <a:off x="822960" y="2148840"/>
            <a:ext cx="3063240" cy="457200"/>
          </a:xfrm>
          <a:prstGeom prst="rect">
            <a:avLst/>
          </a:prstGeom>
          <a:noFill/>
          <a:ln/>
        </p:spPr>
        <p:txBody>
          <a:bodyPr wrap="square" lIns="0" tIns="0" rIns="0" bIns="0" rtlCol="0" anchor="ctr"/>
          <a:lstStyle/>
          <a:p>
            <a:pPr indent="0" marL="0">
              <a:buNone/>
            </a:pPr>
            <a:r>
              <a:rPr lang="en-US" sz="1100" dirty="0">
                <a:solidFill>
                  <a:srgbClr val="6B6F6A"/>
                </a:solidFill>
                <a:latin typeface="Calibri" pitchFamily="34" charset="0"/>
                <a:ea typeface="Calibri" pitchFamily="34" charset="-122"/>
                <a:cs typeface="Calibri" pitchFamily="34" charset="-120"/>
              </a:rPr>
              <a:t>Comptes (nom, email, mot de passe haché)</a:t>
            </a:r>
            <a:endParaRPr lang="en-US" sz="1100" dirty="0"/>
          </a:p>
        </p:txBody>
      </p:sp>
      <p:sp>
        <p:nvSpPr>
          <p:cNvPr id="9" name="Shape 6"/>
          <p:cNvSpPr/>
          <p:nvPr/>
        </p:nvSpPr>
        <p:spPr>
          <a:xfrm>
            <a:off x="4315968" y="1600200"/>
            <a:ext cx="3566160" cy="1078992"/>
          </a:xfrm>
          <a:prstGeom prst="roundRect">
            <a:avLst>
              <a:gd name="adj" fmla="val 10169"/>
            </a:avLst>
          </a:prstGeom>
          <a:solidFill>
            <a:srgbClr val="FFFFFF"/>
          </a:solidFill>
          <a:ln w="12700">
            <a:solidFill>
              <a:srgbClr val="E4E7E2"/>
            </a:solidFill>
            <a:prstDash val="solid"/>
          </a:ln>
          <a:effectLst>
            <a:outerShdw sx="100000" sy="100000" kx="0" ky="0" algn="bl" rotWithShape="0" blurRad="127000" dist="38100" dir="5400000">
              <a:srgbClr val="1A1A1A">
                <a:alpha val="10000"/>
              </a:srgbClr>
            </a:outerShdw>
          </a:effectLst>
        </p:spPr>
      </p:sp>
      <p:sp>
        <p:nvSpPr>
          <p:cNvPr id="10" name="Shape 7"/>
          <p:cNvSpPr/>
          <p:nvPr/>
        </p:nvSpPr>
        <p:spPr>
          <a:xfrm>
            <a:off x="4535424" y="1783080"/>
            <a:ext cx="384048" cy="384048"/>
          </a:xfrm>
          <a:prstGeom prst="ellipse">
            <a:avLst/>
          </a:prstGeom>
          <a:solidFill>
            <a:srgbClr val="008A48"/>
          </a:solidFill>
          <a:ln/>
        </p:spPr>
      </p:sp>
      <p:pic>
        <p:nvPicPr>
          <p:cNvPr id="11" name="Image 1" descr="img/db_white.png">    </p:cNvPr>
          <p:cNvPicPr>
            <a:picLocks noChangeAspect="1"/>
          </p:cNvPicPr>
          <p:nvPr/>
        </p:nvPicPr>
        <p:blipFill>
          <a:blip r:embed="rId2"/>
          <a:stretch>
            <a:fillRect/>
          </a:stretch>
        </p:blipFill>
        <p:spPr>
          <a:xfrm>
            <a:off x="4617720" y="1865376"/>
            <a:ext cx="219456" cy="219456"/>
          </a:xfrm>
          <a:prstGeom prst="rect">
            <a:avLst/>
          </a:prstGeom>
        </p:spPr>
      </p:pic>
      <p:sp>
        <p:nvSpPr>
          <p:cNvPr id="12" name="Text 8"/>
          <p:cNvSpPr/>
          <p:nvPr/>
        </p:nvSpPr>
        <p:spPr>
          <a:xfrm>
            <a:off x="5047488" y="1746504"/>
            <a:ext cx="2697480" cy="365760"/>
          </a:xfrm>
          <a:prstGeom prst="rect">
            <a:avLst/>
          </a:prstGeom>
          <a:noFill/>
          <a:ln/>
        </p:spPr>
        <p:txBody>
          <a:bodyPr wrap="square" lIns="0" tIns="0" rIns="0" bIns="0" rtlCol="0" anchor="ctr"/>
          <a:lstStyle/>
          <a:p>
            <a:pPr indent="0" marL="0">
              <a:buNone/>
            </a:pPr>
            <a:r>
              <a:rPr lang="en-US" sz="1300" b="1" dirty="0">
                <a:solidFill>
                  <a:srgbClr val="007040"/>
                </a:solidFill>
                <a:latin typeface="Courier New" pitchFamily="34" charset="0"/>
                <a:ea typeface="Courier New" pitchFamily="34" charset="-122"/>
                <a:cs typeface="Courier New" pitchFamily="34" charset="-120"/>
              </a:rPr>
              <a:t>empreintes</a:t>
            </a:r>
            <a:endParaRPr lang="en-US" sz="1300" dirty="0"/>
          </a:p>
        </p:txBody>
      </p:sp>
      <p:sp>
        <p:nvSpPr>
          <p:cNvPr id="13" name="Text 9"/>
          <p:cNvSpPr/>
          <p:nvPr/>
        </p:nvSpPr>
        <p:spPr>
          <a:xfrm>
            <a:off x="4590288" y="2148840"/>
            <a:ext cx="3063240" cy="457200"/>
          </a:xfrm>
          <a:prstGeom prst="rect">
            <a:avLst/>
          </a:prstGeom>
          <a:noFill/>
          <a:ln/>
        </p:spPr>
        <p:txBody>
          <a:bodyPr wrap="square" lIns="0" tIns="0" rIns="0" bIns="0" rtlCol="0" anchor="ctr"/>
          <a:lstStyle/>
          <a:p>
            <a:pPr indent="0" marL="0">
              <a:buNone/>
            </a:pPr>
            <a:r>
              <a:rPr lang="en-US" sz="1100" dirty="0">
                <a:solidFill>
                  <a:srgbClr val="6B6F6A"/>
                </a:solidFill>
                <a:latin typeface="Calibri" pitchFamily="34" charset="0"/>
                <a:ea typeface="Calibri" pitchFamily="34" charset="-122"/>
                <a:cs typeface="Calibri" pitchFamily="34" charset="-120"/>
              </a:rPr>
              <a:t>Résultats : total + détail par poste</a:t>
            </a:r>
            <a:endParaRPr lang="en-US" sz="1100" dirty="0"/>
          </a:p>
        </p:txBody>
      </p:sp>
      <p:sp>
        <p:nvSpPr>
          <p:cNvPr id="14" name="Shape 10"/>
          <p:cNvSpPr/>
          <p:nvPr/>
        </p:nvSpPr>
        <p:spPr>
          <a:xfrm>
            <a:off x="8083296" y="1600200"/>
            <a:ext cx="3566160" cy="1078992"/>
          </a:xfrm>
          <a:prstGeom prst="roundRect">
            <a:avLst>
              <a:gd name="adj" fmla="val 10169"/>
            </a:avLst>
          </a:prstGeom>
          <a:solidFill>
            <a:srgbClr val="FFFFFF"/>
          </a:solidFill>
          <a:ln w="12700">
            <a:solidFill>
              <a:srgbClr val="E4E7E2"/>
            </a:solidFill>
            <a:prstDash val="solid"/>
          </a:ln>
          <a:effectLst>
            <a:outerShdw sx="100000" sy="100000" kx="0" ky="0" algn="bl" rotWithShape="0" blurRad="127000" dist="38100" dir="5400000">
              <a:srgbClr val="1A1A1A">
                <a:alpha val="10000"/>
              </a:srgbClr>
            </a:outerShdw>
          </a:effectLst>
        </p:spPr>
      </p:sp>
      <p:sp>
        <p:nvSpPr>
          <p:cNvPr id="15" name="Shape 11"/>
          <p:cNvSpPr/>
          <p:nvPr/>
        </p:nvSpPr>
        <p:spPr>
          <a:xfrm>
            <a:off x="8302752" y="1783080"/>
            <a:ext cx="384048" cy="384048"/>
          </a:xfrm>
          <a:prstGeom prst="ellipse">
            <a:avLst/>
          </a:prstGeom>
          <a:solidFill>
            <a:srgbClr val="008A48"/>
          </a:solidFill>
          <a:ln/>
        </p:spPr>
      </p:sp>
      <p:pic>
        <p:nvPicPr>
          <p:cNvPr id="16" name="Image 2" descr="img/db_white.png">    </p:cNvPr>
          <p:cNvPicPr>
            <a:picLocks noChangeAspect="1"/>
          </p:cNvPicPr>
          <p:nvPr/>
        </p:nvPicPr>
        <p:blipFill>
          <a:blip r:embed="rId3"/>
          <a:stretch>
            <a:fillRect/>
          </a:stretch>
        </p:blipFill>
        <p:spPr>
          <a:xfrm>
            <a:off x="8385048" y="1865376"/>
            <a:ext cx="219456" cy="219456"/>
          </a:xfrm>
          <a:prstGeom prst="rect">
            <a:avLst/>
          </a:prstGeom>
        </p:spPr>
      </p:pic>
      <p:sp>
        <p:nvSpPr>
          <p:cNvPr id="17" name="Text 12"/>
          <p:cNvSpPr/>
          <p:nvPr/>
        </p:nvSpPr>
        <p:spPr>
          <a:xfrm>
            <a:off x="8814816" y="1746504"/>
            <a:ext cx="2697480" cy="365760"/>
          </a:xfrm>
          <a:prstGeom prst="rect">
            <a:avLst/>
          </a:prstGeom>
          <a:noFill/>
          <a:ln/>
        </p:spPr>
        <p:txBody>
          <a:bodyPr wrap="square" lIns="0" tIns="0" rIns="0" bIns="0" rtlCol="0" anchor="ctr"/>
          <a:lstStyle/>
          <a:p>
            <a:pPr indent="0" marL="0">
              <a:buNone/>
            </a:pPr>
            <a:r>
              <a:rPr lang="en-US" sz="1300" b="1" dirty="0">
                <a:solidFill>
                  <a:srgbClr val="007040"/>
                </a:solidFill>
                <a:latin typeface="Courier New" pitchFamily="34" charset="0"/>
                <a:ea typeface="Courier New" pitchFamily="34" charset="-122"/>
                <a:cs typeface="Courier New" pitchFamily="34" charset="-120"/>
              </a:rPr>
              <a:t>questions</a:t>
            </a:r>
            <a:endParaRPr lang="en-US" sz="1300" dirty="0"/>
          </a:p>
        </p:txBody>
      </p:sp>
      <p:sp>
        <p:nvSpPr>
          <p:cNvPr id="18" name="Text 13"/>
          <p:cNvSpPr/>
          <p:nvPr/>
        </p:nvSpPr>
        <p:spPr>
          <a:xfrm>
            <a:off x="8357616" y="2148840"/>
            <a:ext cx="3063240" cy="457200"/>
          </a:xfrm>
          <a:prstGeom prst="rect">
            <a:avLst/>
          </a:prstGeom>
          <a:noFill/>
          <a:ln/>
        </p:spPr>
        <p:txBody>
          <a:bodyPr wrap="square" lIns="0" tIns="0" rIns="0" bIns="0" rtlCol="0" anchor="ctr"/>
          <a:lstStyle/>
          <a:p>
            <a:pPr indent="0" marL="0">
              <a:buNone/>
            </a:pPr>
            <a:r>
              <a:rPr lang="en-US" sz="1100" dirty="0">
                <a:solidFill>
                  <a:srgbClr val="6B6F6A"/>
                </a:solidFill>
                <a:latin typeface="Calibri" pitchFamily="34" charset="0"/>
                <a:ea typeface="Calibri" pitchFamily="34" charset="-122"/>
                <a:cs typeface="Calibri" pitchFamily="34" charset="-120"/>
              </a:rPr>
              <a:t>Questionnaire du calculateur</a:t>
            </a:r>
            <a:endParaRPr lang="en-US" sz="1100" dirty="0"/>
          </a:p>
        </p:txBody>
      </p:sp>
      <p:sp>
        <p:nvSpPr>
          <p:cNvPr id="19" name="Shape 14"/>
          <p:cNvSpPr/>
          <p:nvPr/>
        </p:nvSpPr>
        <p:spPr>
          <a:xfrm>
            <a:off x="548640" y="2816352"/>
            <a:ext cx="3566160" cy="1078992"/>
          </a:xfrm>
          <a:prstGeom prst="roundRect">
            <a:avLst>
              <a:gd name="adj" fmla="val 10169"/>
            </a:avLst>
          </a:prstGeom>
          <a:solidFill>
            <a:srgbClr val="FFFFFF"/>
          </a:solidFill>
          <a:ln w="12700">
            <a:solidFill>
              <a:srgbClr val="E4E7E2"/>
            </a:solidFill>
            <a:prstDash val="solid"/>
          </a:ln>
          <a:effectLst>
            <a:outerShdw sx="100000" sy="100000" kx="0" ky="0" algn="bl" rotWithShape="0" blurRad="127000" dist="38100" dir="5400000">
              <a:srgbClr val="1A1A1A">
                <a:alpha val="10000"/>
              </a:srgbClr>
            </a:outerShdw>
          </a:effectLst>
        </p:spPr>
      </p:sp>
      <p:sp>
        <p:nvSpPr>
          <p:cNvPr id="20" name="Shape 15"/>
          <p:cNvSpPr/>
          <p:nvPr/>
        </p:nvSpPr>
        <p:spPr>
          <a:xfrm>
            <a:off x="768096" y="2999232"/>
            <a:ext cx="384048" cy="384048"/>
          </a:xfrm>
          <a:prstGeom prst="ellipse">
            <a:avLst/>
          </a:prstGeom>
          <a:solidFill>
            <a:srgbClr val="008A48"/>
          </a:solidFill>
          <a:ln/>
        </p:spPr>
      </p:sp>
      <p:pic>
        <p:nvPicPr>
          <p:cNvPr id="21" name="Image 3" descr="img/db_white.png">    </p:cNvPr>
          <p:cNvPicPr>
            <a:picLocks noChangeAspect="1"/>
          </p:cNvPicPr>
          <p:nvPr/>
        </p:nvPicPr>
        <p:blipFill>
          <a:blip r:embed="rId4"/>
          <a:stretch>
            <a:fillRect/>
          </a:stretch>
        </p:blipFill>
        <p:spPr>
          <a:xfrm>
            <a:off x="850392" y="3081528"/>
            <a:ext cx="219456" cy="219456"/>
          </a:xfrm>
          <a:prstGeom prst="rect">
            <a:avLst/>
          </a:prstGeom>
        </p:spPr>
      </p:pic>
      <p:sp>
        <p:nvSpPr>
          <p:cNvPr id="22" name="Text 16"/>
          <p:cNvSpPr/>
          <p:nvPr/>
        </p:nvSpPr>
        <p:spPr>
          <a:xfrm>
            <a:off x="1280160" y="2962656"/>
            <a:ext cx="2697480" cy="365760"/>
          </a:xfrm>
          <a:prstGeom prst="rect">
            <a:avLst/>
          </a:prstGeom>
          <a:noFill/>
          <a:ln/>
        </p:spPr>
        <p:txBody>
          <a:bodyPr wrap="square" lIns="0" tIns="0" rIns="0" bIns="0" rtlCol="0" anchor="ctr"/>
          <a:lstStyle/>
          <a:p>
            <a:pPr indent="0" marL="0">
              <a:buNone/>
            </a:pPr>
            <a:r>
              <a:rPr lang="en-US" sz="1300" b="1" dirty="0">
                <a:solidFill>
                  <a:srgbClr val="007040"/>
                </a:solidFill>
                <a:latin typeface="Courier New" pitchFamily="34" charset="0"/>
                <a:ea typeface="Courier New" pitchFamily="34" charset="-122"/>
                <a:cs typeface="Courier New" pitchFamily="34" charset="-120"/>
              </a:rPr>
              <a:t>question_options</a:t>
            </a:r>
            <a:endParaRPr lang="en-US" sz="1300" dirty="0"/>
          </a:p>
        </p:txBody>
      </p:sp>
      <p:sp>
        <p:nvSpPr>
          <p:cNvPr id="23" name="Text 17"/>
          <p:cNvSpPr/>
          <p:nvPr/>
        </p:nvSpPr>
        <p:spPr>
          <a:xfrm>
            <a:off x="822960" y="3364992"/>
            <a:ext cx="3063240" cy="457200"/>
          </a:xfrm>
          <a:prstGeom prst="rect">
            <a:avLst/>
          </a:prstGeom>
          <a:noFill/>
          <a:ln/>
        </p:spPr>
        <p:txBody>
          <a:bodyPr wrap="square" lIns="0" tIns="0" rIns="0" bIns="0" rtlCol="0" anchor="ctr"/>
          <a:lstStyle/>
          <a:p>
            <a:pPr indent="0" marL="0">
              <a:buNone/>
            </a:pPr>
            <a:r>
              <a:rPr lang="en-US" sz="1100" dirty="0">
                <a:solidFill>
                  <a:srgbClr val="6B6F6A"/>
                </a:solidFill>
                <a:latin typeface="Calibri" pitchFamily="34" charset="0"/>
                <a:ea typeface="Calibri" pitchFamily="34" charset="-122"/>
                <a:cs typeface="Calibri" pitchFamily="34" charset="-120"/>
              </a:rPr>
              <a:t>Options (curseurs &amp; choix)</a:t>
            </a:r>
            <a:endParaRPr lang="en-US" sz="1100" dirty="0"/>
          </a:p>
        </p:txBody>
      </p:sp>
      <p:sp>
        <p:nvSpPr>
          <p:cNvPr id="24" name="Shape 18"/>
          <p:cNvSpPr/>
          <p:nvPr/>
        </p:nvSpPr>
        <p:spPr>
          <a:xfrm>
            <a:off x="4315968" y="2816352"/>
            <a:ext cx="3566160" cy="1078992"/>
          </a:xfrm>
          <a:prstGeom prst="roundRect">
            <a:avLst>
              <a:gd name="adj" fmla="val 10169"/>
            </a:avLst>
          </a:prstGeom>
          <a:solidFill>
            <a:srgbClr val="FFFFFF"/>
          </a:solidFill>
          <a:ln w="12700">
            <a:solidFill>
              <a:srgbClr val="E4E7E2"/>
            </a:solidFill>
            <a:prstDash val="solid"/>
          </a:ln>
          <a:effectLst>
            <a:outerShdw sx="100000" sy="100000" kx="0" ky="0" algn="bl" rotWithShape="0" blurRad="127000" dist="38100" dir="5400000">
              <a:srgbClr val="1A1A1A">
                <a:alpha val="10000"/>
              </a:srgbClr>
            </a:outerShdw>
          </a:effectLst>
        </p:spPr>
      </p:sp>
      <p:sp>
        <p:nvSpPr>
          <p:cNvPr id="25" name="Shape 19"/>
          <p:cNvSpPr/>
          <p:nvPr/>
        </p:nvSpPr>
        <p:spPr>
          <a:xfrm>
            <a:off x="4535424" y="2999232"/>
            <a:ext cx="384048" cy="384048"/>
          </a:xfrm>
          <a:prstGeom prst="ellipse">
            <a:avLst/>
          </a:prstGeom>
          <a:solidFill>
            <a:srgbClr val="008A48"/>
          </a:solidFill>
          <a:ln/>
        </p:spPr>
      </p:sp>
      <p:pic>
        <p:nvPicPr>
          <p:cNvPr id="26" name="Image 4" descr="img/db_white.png">    </p:cNvPr>
          <p:cNvPicPr>
            <a:picLocks noChangeAspect="1"/>
          </p:cNvPicPr>
          <p:nvPr/>
        </p:nvPicPr>
        <p:blipFill>
          <a:blip r:embed="rId5"/>
          <a:stretch>
            <a:fillRect/>
          </a:stretch>
        </p:blipFill>
        <p:spPr>
          <a:xfrm>
            <a:off x="4617720" y="3081528"/>
            <a:ext cx="219456" cy="219456"/>
          </a:xfrm>
          <a:prstGeom prst="rect">
            <a:avLst/>
          </a:prstGeom>
        </p:spPr>
      </p:pic>
      <p:sp>
        <p:nvSpPr>
          <p:cNvPr id="27" name="Text 20"/>
          <p:cNvSpPr/>
          <p:nvPr/>
        </p:nvSpPr>
        <p:spPr>
          <a:xfrm>
            <a:off x="5047488" y="2962656"/>
            <a:ext cx="2697480" cy="365760"/>
          </a:xfrm>
          <a:prstGeom prst="rect">
            <a:avLst/>
          </a:prstGeom>
          <a:noFill/>
          <a:ln/>
        </p:spPr>
        <p:txBody>
          <a:bodyPr wrap="square" lIns="0" tIns="0" rIns="0" bIns="0" rtlCol="0" anchor="ctr"/>
          <a:lstStyle/>
          <a:p>
            <a:pPr indent="0" marL="0">
              <a:buNone/>
            </a:pPr>
            <a:r>
              <a:rPr lang="en-US" sz="1300" b="1" dirty="0">
                <a:solidFill>
                  <a:srgbClr val="007040"/>
                </a:solidFill>
                <a:latin typeface="Courier New" pitchFamily="34" charset="0"/>
                <a:ea typeface="Courier New" pitchFamily="34" charset="-122"/>
                <a:cs typeface="Courier New" pitchFamily="34" charset="-120"/>
              </a:rPr>
              <a:t>defis</a:t>
            </a:r>
            <a:endParaRPr lang="en-US" sz="1300" dirty="0"/>
          </a:p>
        </p:txBody>
      </p:sp>
      <p:sp>
        <p:nvSpPr>
          <p:cNvPr id="28" name="Text 21"/>
          <p:cNvSpPr/>
          <p:nvPr/>
        </p:nvSpPr>
        <p:spPr>
          <a:xfrm>
            <a:off x="4590288" y="3364992"/>
            <a:ext cx="3063240" cy="457200"/>
          </a:xfrm>
          <a:prstGeom prst="rect">
            <a:avLst/>
          </a:prstGeom>
          <a:noFill/>
          <a:ln/>
        </p:spPr>
        <p:txBody>
          <a:bodyPr wrap="square" lIns="0" tIns="0" rIns="0" bIns="0" rtlCol="0" anchor="ctr"/>
          <a:lstStyle/>
          <a:p>
            <a:pPr indent="0" marL="0">
              <a:buNone/>
            </a:pPr>
            <a:r>
              <a:rPr lang="en-US" sz="1100" dirty="0">
                <a:solidFill>
                  <a:srgbClr val="6B6F6A"/>
                </a:solidFill>
                <a:latin typeface="Calibri" pitchFamily="34" charset="0"/>
                <a:ea typeface="Calibri" pitchFamily="34" charset="-122"/>
                <a:cs typeface="Calibri" pitchFamily="34" charset="-120"/>
              </a:rPr>
              <a:t>Catalogue (titre, difficulté, type, points, CO2)</a:t>
            </a:r>
            <a:endParaRPr lang="en-US" sz="1100" dirty="0"/>
          </a:p>
        </p:txBody>
      </p:sp>
      <p:sp>
        <p:nvSpPr>
          <p:cNvPr id="29" name="Shape 22"/>
          <p:cNvSpPr/>
          <p:nvPr/>
        </p:nvSpPr>
        <p:spPr>
          <a:xfrm>
            <a:off x="8083296" y="2816352"/>
            <a:ext cx="3566160" cy="1078992"/>
          </a:xfrm>
          <a:prstGeom prst="roundRect">
            <a:avLst>
              <a:gd name="adj" fmla="val 10169"/>
            </a:avLst>
          </a:prstGeom>
          <a:solidFill>
            <a:srgbClr val="FFFFFF"/>
          </a:solidFill>
          <a:ln w="12700">
            <a:solidFill>
              <a:srgbClr val="E4E7E2"/>
            </a:solidFill>
            <a:prstDash val="solid"/>
          </a:ln>
          <a:effectLst>
            <a:outerShdw sx="100000" sy="100000" kx="0" ky="0" algn="bl" rotWithShape="0" blurRad="127000" dist="38100" dir="5400000">
              <a:srgbClr val="1A1A1A">
                <a:alpha val="10000"/>
              </a:srgbClr>
            </a:outerShdw>
          </a:effectLst>
        </p:spPr>
      </p:sp>
      <p:sp>
        <p:nvSpPr>
          <p:cNvPr id="30" name="Shape 23"/>
          <p:cNvSpPr/>
          <p:nvPr/>
        </p:nvSpPr>
        <p:spPr>
          <a:xfrm>
            <a:off x="8302752" y="2999232"/>
            <a:ext cx="384048" cy="384048"/>
          </a:xfrm>
          <a:prstGeom prst="ellipse">
            <a:avLst/>
          </a:prstGeom>
          <a:solidFill>
            <a:srgbClr val="008A48"/>
          </a:solidFill>
          <a:ln/>
        </p:spPr>
      </p:sp>
      <p:pic>
        <p:nvPicPr>
          <p:cNvPr id="31" name="Image 5" descr="img/db_white.png">    </p:cNvPr>
          <p:cNvPicPr>
            <a:picLocks noChangeAspect="1"/>
          </p:cNvPicPr>
          <p:nvPr/>
        </p:nvPicPr>
        <p:blipFill>
          <a:blip r:embed="rId6"/>
          <a:stretch>
            <a:fillRect/>
          </a:stretch>
        </p:blipFill>
        <p:spPr>
          <a:xfrm>
            <a:off x="8385048" y="3081528"/>
            <a:ext cx="219456" cy="219456"/>
          </a:xfrm>
          <a:prstGeom prst="rect">
            <a:avLst/>
          </a:prstGeom>
        </p:spPr>
      </p:pic>
      <p:sp>
        <p:nvSpPr>
          <p:cNvPr id="32" name="Text 24"/>
          <p:cNvSpPr/>
          <p:nvPr/>
        </p:nvSpPr>
        <p:spPr>
          <a:xfrm>
            <a:off x="8814816" y="2962656"/>
            <a:ext cx="2697480" cy="365760"/>
          </a:xfrm>
          <a:prstGeom prst="rect">
            <a:avLst/>
          </a:prstGeom>
          <a:noFill/>
          <a:ln/>
        </p:spPr>
        <p:txBody>
          <a:bodyPr wrap="square" lIns="0" tIns="0" rIns="0" bIns="0" rtlCol="0" anchor="ctr"/>
          <a:lstStyle/>
          <a:p>
            <a:pPr indent="0" marL="0">
              <a:buNone/>
            </a:pPr>
            <a:r>
              <a:rPr lang="en-US" sz="1300" b="1" dirty="0">
                <a:solidFill>
                  <a:srgbClr val="007040"/>
                </a:solidFill>
                <a:latin typeface="Courier New" pitchFamily="34" charset="0"/>
                <a:ea typeface="Courier New" pitchFamily="34" charset="-122"/>
                <a:cs typeface="Courier New" pitchFamily="34" charset="-120"/>
              </a:rPr>
              <a:t>difficultes</a:t>
            </a:r>
            <a:endParaRPr lang="en-US" sz="1300" dirty="0"/>
          </a:p>
        </p:txBody>
      </p:sp>
      <p:sp>
        <p:nvSpPr>
          <p:cNvPr id="33" name="Text 25"/>
          <p:cNvSpPr/>
          <p:nvPr/>
        </p:nvSpPr>
        <p:spPr>
          <a:xfrm>
            <a:off x="8357616" y="3364992"/>
            <a:ext cx="3063240" cy="457200"/>
          </a:xfrm>
          <a:prstGeom prst="rect">
            <a:avLst/>
          </a:prstGeom>
          <a:noFill/>
          <a:ln/>
        </p:spPr>
        <p:txBody>
          <a:bodyPr wrap="square" lIns="0" tIns="0" rIns="0" bIns="0" rtlCol="0" anchor="ctr"/>
          <a:lstStyle/>
          <a:p>
            <a:pPr indent="0" marL="0">
              <a:buNone/>
            </a:pPr>
            <a:r>
              <a:rPr lang="en-US" sz="1100" dirty="0">
                <a:solidFill>
                  <a:srgbClr val="6B6F6A"/>
                </a:solidFill>
                <a:latin typeface="Calibri" pitchFamily="34" charset="0"/>
                <a:ea typeface="Calibri" pitchFamily="34" charset="-122"/>
                <a:cs typeface="Calibri" pitchFamily="34" charset="-120"/>
              </a:rPr>
              <a:t>Niveaux : facile, intermédiaire, difficile</a:t>
            </a:r>
            <a:endParaRPr lang="en-US" sz="1100" dirty="0"/>
          </a:p>
        </p:txBody>
      </p:sp>
      <p:sp>
        <p:nvSpPr>
          <p:cNvPr id="34" name="Shape 26"/>
          <p:cNvSpPr/>
          <p:nvPr/>
        </p:nvSpPr>
        <p:spPr>
          <a:xfrm>
            <a:off x="548640" y="4032504"/>
            <a:ext cx="3566160" cy="1078992"/>
          </a:xfrm>
          <a:prstGeom prst="roundRect">
            <a:avLst>
              <a:gd name="adj" fmla="val 10169"/>
            </a:avLst>
          </a:prstGeom>
          <a:solidFill>
            <a:srgbClr val="FFFFFF"/>
          </a:solidFill>
          <a:ln w="12700">
            <a:solidFill>
              <a:srgbClr val="E4E7E2"/>
            </a:solidFill>
            <a:prstDash val="solid"/>
          </a:ln>
          <a:effectLst>
            <a:outerShdw sx="100000" sy="100000" kx="0" ky="0" algn="bl" rotWithShape="0" blurRad="127000" dist="38100" dir="5400000">
              <a:srgbClr val="1A1A1A">
                <a:alpha val="10000"/>
              </a:srgbClr>
            </a:outerShdw>
          </a:effectLst>
        </p:spPr>
      </p:sp>
      <p:sp>
        <p:nvSpPr>
          <p:cNvPr id="35" name="Shape 27"/>
          <p:cNvSpPr/>
          <p:nvPr/>
        </p:nvSpPr>
        <p:spPr>
          <a:xfrm>
            <a:off x="768096" y="4215384"/>
            <a:ext cx="384048" cy="384048"/>
          </a:xfrm>
          <a:prstGeom prst="ellipse">
            <a:avLst/>
          </a:prstGeom>
          <a:solidFill>
            <a:srgbClr val="008A48"/>
          </a:solidFill>
          <a:ln/>
        </p:spPr>
      </p:sp>
      <p:pic>
        <p:nvPicPr>
          <p:cNvPr id="36" name="Image 6" descr="img/db_white.png">    </p:cNvPr>
          <p:cNvPicPr>
            <a:picLocks noChangeAspect="1"/>
          </p:cNvPicPr>
          <p:nvPr/>
        </p:nvPicPr>
        <p:blipFill>
          <a:blip r:embed="rId7"/>
          <a:stretch>
            <a:fillRect/>
          </a:stretch>
        </p:blipFill>
        <p:spPr>
          <a:xfrm>
            <a:off x="850392" y="4297680"/>
            <a:ext cx="219456" cy="219456"/>
          </a:xfrm>
          <a:prstGeom prst="rect">
            <a:avLst/>
          </a:prstGeom>
        </p:spPr>
      </p:pic>
      <p:sp>
        <p:nvSpPr>
          <p:cNvPr id="37" name="Text 28"/>
          <p:cNvSpPr/>
          <p:nvPr/>
        </p:nvSpPr>
        <p:spPr>
          <a:xfrm>
            <a:off x="1280160" y="4178808"/>
            <a:ext cx="2697480" cy="365760"/>
          </a:xfrm>
          <a:prstGeom prst="rect">
            <a:avLst/>
          </a:prstGeom>
          <a:noFill/>
          <a:ln/>
        </p:spPr>
        <p:txBody>
          <a:bodyPr wrap="square" lIns="0" tIns="0" rIns="0" bIns="0" rtlCol="0" anchor="ctr"/>
          <a:lstStyle/>
          <a:p>
            <a:pPr indent="0" marL="0">
              <a:buNone/>
            </a:pPr>
            <a:r>
              <a:rPr lang="en-US" sz="1300" b="1" dirty="0">
                <a:solidFill>
                  <a:srgbClr val="007040"/>
                </a:solidFill>
                <a:latin typeface="Courier New" pitchFamily="34" charset="0"/>
                <a:ea typeface="Courier New" pitchFamily="34" charset="-122"/>
                <a:cs typeface="Courier New" pitchFamily="34" charset="-120"/>
              </a:rPr>
              <a:t>types_defi</a:t>
            </a:r>
            <a:endParaRPr lang="en-US" sz="1300" dirty="0"/>
          </a:p>
        </p:txBody>
      </p:sp>
      <p:sp>
        <p:nvSpPr>
          <p:cNvPr id="38" name="Text 29"/>
          <p:cNvSpPr/>
          <p:nvPr/>
        </p:nvSpPr>
        <p:spPr>
          <a:xfrm>
            <a:off x="822960" y="4581144"/>
            <a:ext cx="3063240" cy="457200"/>
          </a:xfrm>
          <a:prstGeom prst="rect">
            <a:avLst/>
          </a:prstGeom>
          <a:noFill/>
          <a:ln/>
        </p:spPr>
        <p:txBody>
          <a:bodyPr wrap="square" lIns="0" tIns="0" rIns="0" bIns="0" rtlCol="0" anchor="ctr"/>
          <a:lstStyle/>
          <a:p>
            <a:pPr indent="0" marL="0">
              <a:buNone/>
            </a:pPr>
            <a:r>
              <a:rPr lang="en-US" sz="1100" dirty="0">
                <a:solidFill>
                  <a:srgbClr val="6B6F6A"/>
                </a:solidFill>
                <a:latin typeface="Calibri" pitchFamily="34" charset="0"/>
                <a:ea typeface="Calibri" pitchFamily="34" charset="-122"/>
                <a:cs typeface="Calibri" pitchFamily="34" charset="-120"/>
              </a:rPr>
              <a:t>Catégories : logement, alimentation, transport, numérique</a:t>
            </a:r>
            <a:endParaRPr lang="en-US" sz="1100" dirty="0"/>
          </a:p>
        </p:txBody>
      </p:sp>
      <p:sp>
        <p:nvSpPr>
          <p:cNvPr id="39" name="Shape 30"/>
          <p:cNvSpPr/>
          <p:nvPr/>
        </p:nvSpPr>
        <p:spPr>
          <a:xfrm>
            <a:off x="4315968" y="4032504"/>
            <a:ext cx="3566160" cy="1078992"/>
          </a:xfrm>
          <a:prstGeom prst="roundRect">
            <a:avLst>
              <a:gd name="adj" fmla="val 10169"/>
            </a:avLst>
          </a:prstGeom>
          <a:solidFill>
            <a:srgbClr val="FFFFFF"/>
          </a:solidFill>
          <a:ln w="12700">
            <a:solidFill>
              <a:srgbClr val="E4E7E2"/>
            </a:solidFill>
            <a:prstDash val="solid"/>
          </a:ln>
          <a:effectLst>
            <a:outerShdw sx="100000" sy="100000" kx="0" ky="0" algn="bl" rotWithShape="0" blurRad="127000" dist="38100" dir="5400000">
              <a:srgbClr val="1A1A1A">
                <a:alpha val="10000"/>
              </a:srgbClr>
            </a:outerShdw>
          </a:effectLst>
        </p:spPr>
      </p:sp>
      <p:sp>
        <p:nvSpPr>
          <p:cNvPr id="40" name="Shape 31"/>
          <p:cNvSpPr/>
          <p:nvPr/>
        </p:nvSpPr>
        <p:spPr>
          <a:xfrm>
            <a:off x="4535424" y="4215384"/>
            <a:ext cx="384048" cy="384048"/>
          </a:xfrm>
          <a:prstGeom prst="ellipse">
            <a:avLst/>
          </a:prstGeom>
          <a:solidFill>
            <a:srgbClr val="008A48"/>
          </a:solidFill>
          <a:ln/>
        </p:spPr>
      </p:sp>
      <p:pic>
        <p:nvPicPr>
          <p:cNvPr id="41" name="Image 7" descr="img/db_white.png">    </p:cNvPr>
          <p:cNvPicPr>
            <a:picLocks noChangeAspect="1"/>
          </p:cNvPicPr>
          <p:nvPr/>
        </p:nvPicPr>
        <p:blipFill>
          <a:blip r:embed="rId8"/>
          <a:stretch>
            <a:fillRect/>
          </a:stretch>
        </p:blipFill>
        <p:spPr>
          <a:xfrm>
            <a:off x="4617720" y="4297680"/>
            <a:ext cx="219456" cy="219456"/>
          </a:xfrm>
          <a:prstGeom prst="rect">
            <a:avLst/>
          </a:prstGeom>
        </p:spPr>
      </p:pic>
      <p:sp>
        <p:nvSpPr>
          <p:cNvPr id="42" name="Text 32"/>
          <p:cNvSpPr/>
          <p:nvPr/>
        </p:nvSpPr>
        <p:spPr>
          <a:xfrm>
            <a:off x="5047488" y="4178808"/>
            <a:ext cx="2697480" cy="365760"/>
          </a:xfrm>
          <a:prstGeom prst="rect">
            <a:avLst/>
          </a:prstGeom>
          <a:noFill/>
          <a:ln/>
        </p:spPr>
        <p:txBody>
          <a:bodyPr wrap="square" lIns="0" tIns="0" rIns="0" bIns="0" rtlCol="0" anchor="ctr"/>
          <a:lstStyle/>
          <a:p>
            <a:pPr indent="0" marL="0">
              <a:buNone/>
            </a:pPr>
            <a:r>
              <a:rPr lang="en-US" sz="1300" b="1" dirty="0">
                <a:solidFill>
                  <a:srgbClr val="007040"/>
                </a:solidFill>
                <a:latin typeface="Courier New" pitchFamily="34" charset="0"/>
                <a:ea typeface="Courier New" pitchFamily="34" charset="-122"/>
                <a:cs typeface="Courier New" pitchFamily="34" charset="-120"/>
              </a:rPr>
              <a:t>defis_completes</a:t>
            </a:r>
            <a:endParaRPr lang="en-US" sz="1300" dirty="0"/>
          </a:p>
        </p:txBody>
      </p:sp>
      <p:sp>
        <p:nvSpPr>
          <p:cNvPr id="43" name="Text 33"/>
          <p:cNvSpPr/>
          <p:nvPr/>
        </p:nvSpPr>
        <p:spPr>
          <a:xfrm>
            <a:off x="4590288" y="4581144"/>
            <a:ext cx="3063240" cy="457200"/>
          </a:xfrm>
          <a:prstGeom prst="rect">
            <a:avLst/>
          </a:prstGeom>
          <a:noFill/>
          <a:ln/>
        </p:spPr>
        <p:txBody>
          <a:bodyPr wrap="square" lIns="0" tIns="0" rIns="0" bIns="0" rtlCol="0" anchor="ctr"/>
          <a:lstStyle/>
          <a:p>
            <a:pPr indent="0" marL="0">
              <a:buNone/>
            </a:pPr>
            <a:r>
              <a:rPr lang="en-US" sz="1100" dirty="0">
                <a:solidFill>
                  <a:srgbClr val="6B6F6A"/>
                </a:solidFill>
                <a:latin typeface="Calibri" pitchFamily="34" charset="0"/>
                <a:ea typeface="Calibri" pitchFamily="34" charset="-122"/>
                <a:cs typeface="Calibri" pitchFamily="34" charset="-120"/>
              </a:rPr>
              <a:t>Défis validés / jour (unicité user/defi/jour)</a:t>
            </a:r>
            <a:endParaRPr lang="en-US" sz="1100" dirty="0"/>
          </a:p>
        </p:txBody>
      </p:sp>
      <p:sp>
        <p:nvSpPr>
          <p:cNvPr id="44" name="Shape 34"/>
          <p:cNvSpPr/>
          <p:nvPr/>
        </p:nvSpPr>
        <p:spPr>
          <a:xfrm>
            <a:off x="8083296" y="4032504"/>
            <a:ext cx="3566160" cy="1078992"/>
          </a:xfrm>
          <a:prstGeom prst="roundRect">
            <a:avLst>
              <a:gd name="adj" fmla="val 10169"/>
            </a:avLst>
          </a:prstGeom>
          <a:solidFill>
            <a:srgbClr val="FFFFFF"/>
          </a:solidFill>
          <a:ln w="12700">
            <a:solidFill>
              <a:srgbClr val="E4E7E2"/>
            </a:solidFill>
            <a:prstDash val="solid"/>
          </a:ln>
          <a:effectLst>
            <a:outerShdw sx="100000" sy="100000" kx="0" ky="0" algn="bl" rotWithShape="0" blurRad="127000" dist="38100" dir="5400000">
              <a:srgbClr val="1A1A1A">
                <a:alpha val="10000"/>
              </a:srgbClr>
            </a:outerShdw>
          </a:effectLst>
        </p:spPr>
      </p:sp>
      <p:sp>
        <p:nvSpPr>
          <p:cNvPr id="45" name="Shape 35"/>
          <p:cNvSpPr/>
          <p:nvPr/>
        </p:nvSpPr>
        <p:spPr>
          <a:xfrm>
            <a:off x="8302752" y="4215384"/>
            <a:ext cx="384048" cy="384048"/>
          </a:xfrm>
          <a:prstGeom prst="ellipse">
            <a:avLst/>
          </a:prstGeom>
          <a:solidFill>
            <a:srgbClr val="008A48"/>
          </a:solidFill>
          <a:ln/>
        </p:spPr>
      </p:sp>
      <p:pic>
        <p:nvPicPr>
          <p:cNvPr id="46" name="Image 8" descr="img/db_white.png">    </p:cNvPr>
          <p:cNvPicPr>
            <a:picLocks noChangeAspect="1"/>
          </p:cNvPicPr>
          <p:nvPr/>
        </p:nvPicPr>
        <p:blipFill>
          <a:blip r:embed="rId9"/>
          <a:stretch>
            <a:fillRect/>
          </a:stretch>
        </p:blipFill>
        <p:spPr>
          <a:xfrm>
            <a:off x="8385048" y="4297680"/>
            <a:ext cx="219456" cy="219456"/>
          </a:xfrm>
          <a:prstGeom prst="rect">
            <a:avLst/>
          </a:prstGeom>
        </p:spPr>
      </p:pic>
      <p:sp>
        <p:nvSpPr>
          <p:cNvPr id="47" name="Text 36"/>
          <p:cNvSpPr/>
          <p:nvPr/>
        </p:nvSpPr>
        <p:spPr>
          <a:xfrm>
            <a:off x="8814816" y="4178808"/>
            <a:ext cx="2697480" cy="365760"/>
          </a:xfrm>
          <a:prstGeom prst="rect">
            <a:avLst/>
          </a:prstGeom>
          <a:noFill/>
          <a:ln/>
        </p:spPr>
        <p:txBody>
          <a:bodyPr wrap="square" lIns="0" tIns="0" rIns="0" bIns="0" rtlCol="0" anchor="ctr"/>
          <a:lstStyle/>
          <a:p>
            <a:pPr indent="0" marL="0">
              <a:buNone/>
            </a:pPr>
            <a:r>
              <a:rPr lang="en-US" sz="1300" b="1" dirty="0">
                <a:solidFill>
                  <a:srgbClr val="007040"/>
                </a:solidFill>
                <a:latin typeface="Courier New" pitchFamily="34" charset="0"/>
                <a:ea typeface="Courier New" pitchFamily="34" charset="-122"/>
                <a:cs typeface="Courier New" pitchFamily="34" charset="-120"/>
              </a:rPr>
              <a:t>password_resets</a:t>
            </a:r>
            <a:endParaRPr lang="en-US" sz="1300" dirty="0"/>
          </a:p>
        </p:txBody>
      </p:sp>
      <p:sp>
        <p:nvSpPr>
          <p:cNvPr id="48" name="Text 37"/>
          <p:cNvSpPr/>
          <p:nvPr/>
        </p:nvSpPr>
        <p:spPr>
          <a:xfrm>
            <a:off x="8357616" y="4581144"/>
            <a:ext cx="3063240" cy="457200"/>
          </a:xfrm>
          <a:prstGeom prst="rect">
            <a:avLst/>
          </a:prstGeom>
          <a:noFill/>
          <a:ln/>
        </p:spPr>
        <p:txBody>
          <a:bodyPr wrap="square" lIns="0" tIns="0" rIns="0" bIns="0" rtlCol="0" anchor="ctr"/>
          <a:lstStyle/>
          <a:p>
            <a:pPr indent="0" marL="0">
              <a:buNone/>
            </a:pPr>
            <a:r>
              <a:rPr lang="en-US" sz="1100" dirty="0">
                <a:solidFill>
                  <a:srgbClr val="6B6F6A"/>
                </a:solidFill>
                <a:latin typeface="Calibri" pitchFamily="34" charset="0"/>
                <a:ea typeface="Calibri" pitchFamily="34" charset="-122"/>
                <a:cs typeface="Calibri" pitchFamily="34" charset="-120"/>
              </a:rPr>
              <a:t>Jetons de réinitialisation de mot de passe</a:t>
            </a:r>
            <a:endParaRPr lang="en-US" sz="1100" dirty="0"/>
          </a:p>
        </p:txBody>
      </p:sp>
      <p:sp>
        <p:nvSpPr>
          <p:cNvPr id="49" name="Shape 38"/>
          <p:cNvSpPr/>
          <p:nvPr/>
        </p:nvSpPr>
        <p:spPr>
          <a:xfrm>
            <a:off x="548640" y="5285232"/>
            <a:ext cx="11109960" cy="658368"/>
          </a:xfrm>
          <a:prstGeom prst="roundRect">
            <a:avLst>
              <a:gd name="adj" fmla="val 16667"/>
            </a:avLst>
          </a:prstGeom>
          <a:solidFill>
            <a:srgbClr val="EDF8F0"/>
          </a:solidFill>
          <a:ln w="12700">
            <a:solidFill>
              <a:srgbClr val="E4E7E2"/>
            </a:solidFill>
            <a:prstDash val="solid"/>
          </a:ln>
          <a:effectLst>
            <a:outerShdw sx="100000" sy="100000" kx="0" ky="0" algn="bl" rotWithShape="0" blurRad="127000" dist="38100" dir="5400000">
              <a:srgbClr val="1A1A1A">
                <a:alpha val="10000"/>
              </a:srgbClr>
            </a:outerShdw>
          </a:effectLst>
        </p:spPr>
      </p:sp>
      <p:pic>
        <p:nvPicPr>
          <p:cNvPr id="50" name="Image 9" descr="img/leaf_green.png">    </p:cNvPr>
          <p:cNvPicPr>
            <a:picLocks noChangeAspect="1"/>
          </p:cNvPicPr>
          <p:nvPr/>
        </p:nvPicPr>
        <p:blipFill>
          <a:blip r:embed="rId10"/>
          <a:stretch>
            <a:fillRect/>
          </a:stretch>
        </p:blipFill>
        <p:spPr>
          <a:xfrm>
            <a:off x="777240" y="5449824"/>
            <a:ext cx="310896" cy="310896"/>
          </a:xfrm>
          <a:prstGeom prst="rect">
            <a:avLst/>
          </a:prstGeom>
        </p:spPr>
      </p:pic>
      <p:sp>
        <p:nvSpPr>
          <p:cNvPr id="51" name="Text 39"/>
          <p:cNvSpPr/>
          <p:nvPr/>
        </p:nvSpPr>
        <p:spPr>
          <a:xfrm>
            <a:off x="1234440" y="5285232"/>
            <a:ext cx="10058400" cy="658368"/>
          </a:xfrm>
          <a:prstGeom prst="rect">
            <a:avLst/>
          </a:prstGeom>
          <a:noFill/>
          <a:ln/>
        </p:spPr>
        <p:txBody>
          <a:bodyPr wrap="square" lIns="0" tIns="0" rIns="0" bIns="0" rtlCol="0" anchor="ctr"/>
          <a:lstStyle/>
          <a:p>
            <a:pPr indent="0" marL="0">
              <a:buNone/>
            </a:pPr>
            <a:r>
              <a:rPr lang="en-US" sz="1400" b="1" dirty="0">
                <a:solidFill>
                  <a:srgbClr val="007040"/>
                </a:solidFill>
                <a:latin typeface="Calibri" pitchFamily="34" charset="0"/>
                <a:ea typeface="Calibri" pitchFamily="34" charset="-122"/>
                <a:cs typeface="Calibri" pitchFamily="34" charset="-120"/>
              </a:rPr>
              <a:t>9 tables  ·  </a:t>
            </a:r>
            <a:pPr indent="0" marL="0">
              <a:buNone/>
            </a:pPr>
            <a:r>
              <a:rPr lang="en-US" sz="1400" dirty="0">
                <a:solidFill>
                  <a:srgbClr val="1A1A1A"/>
                </a:solidFill>
                <a:latin typeface="Calibri" pitchFamily="34" charset="0"/>
                <a:ea typeface="Calibri" pitchFamily="34" charset="-122"/>
                <a:cs typeface="Calibri" pitchFamily="34" charset="-120"/>
              </a:rPr>
              <a:t>catalogue pré-chargé de </a:t>
            </a:r>
            <a:pPr indent="0" marL="0">
              <a:buNone/>
            </a:pPr>
            <a:r>
              <a:rPr lang="en-US" sz="1400" b="1" dirty="0">
                <a:solidFill>
                  <a:srgbClr val="007040"/>
                </a:solidFill>
                <a:latin typeface="Calibri" pitchFamily="34" charset="0"/>
                <a:ea typeface="Calibri" pitchFamily="34" charset="-122"/>
                <a:cs typeface="Calibri" pitchFamily="34" charset="-120"/>
              </a:rPr>
              <a:t>24 défis</a:t>
            </a:r>
            <a:pPr indent="0" marL="0">
              <a:buNone/>
            </a:pPr>
            <a:r>
              <a:rPr lang="en-US" sz="1400" dirty="0">
                <a:solidFill>
                  <a:srgbClr val="1A1A1A"/>
                </a:solidFill>
                <a:latin typeface="Calibri" pitchFamily="34" charset="0"/>
                <a:ea typeface="Calibri" pitchFamily="34" charset="-122"/>
                <a:cs typeface="Calibri" pitchFamily="34" charset="-120"/>
              </a:rPr>
              <a:t>  (4 catégories × 3 niveaux de difficulté × 2).</a:t>
            </a:r>
            <a:endParaRPr lang="en-US" sz="1400" dirty="0"/>
          </a:p>
        </p:txBody>
      </p:sp>
      <p:pic>
        <p:nvPicPr>
          <p:cNvPr id="52" name="Image 10" descr="img/leaf_green.png">    </p:cNvPr>
          <p:cNvPicPr>
            <a:picLocks noChangeAspect="1"/>
          </p:cNvPicPr>
          <p:nvPr/>
        </p:nvPicPr>
        <p:blipFill>
          <a:blip r:embed="rId11"/>
          <a:stretch>
            <a:fillRect/>
          </a:stretch>
        </p:blipFill>
        <p:spPr>
          <a:xfrm>
            <a:off x="502920" y="6437376"/>
            <a:ext cx="182880" cy="182880"/>
          </a:xfrm>
          <a:prstGeom prst="rect">
            <a:avLst/>
          </a:prstGeom>
        </p:spPr>
      </p:pic>
      <p:sp>
        <p:nvSpPr>
          <p:cNvPr id="53" name="Text 40"/>
          <p:cNvSpPr/>
          <p:nvPr/>
        </p:nvSpPr>
        <p:spPr>
          <a:xfrm>
            <a:off x="731520" y="6364224"/>
            <a:ext cx="1828800" cy="320040"/>
          </a:xfrm>
          <a:prstGeom prst="rect">
            <a:avLst/>
          </a:prstGeom>
          <a:noFill/>
          <a:ln/>
        </p:spPr>
        <p:txBody>
          <a:bodyPr wrap="square" rtlCol="0" anchor="ctr"/>
          <a:lstStyle/>
          <a:p>
            <a:pPr indent="0" marL="0">
              <a:buNone/>
            </a:pPr>
            <a:r>
              <a:rPr lang="en-US" sz="1100" b="1" dirty="0">
                <a:solidFill>
                  <a:srgbClr val="6B6F6A"/>
                </a:solidFill>
                <a:latin typeface="Calibri" pitchFamily="34" charset="0"/>
                <a:ea typeface="Calibri" pitchFamily="34" charset="-122"/>
                <a:cs typeface="Calibri" pitchFamily="34" charset="-120"/>
              </a:rPr>
              <a:t>EcoTrack</a:t>
            </a:r>
            <a:endParaRPr lang="en-US" sz="1100" dirty="0"/>
          </a:p>
        </p:txBody>
      </p:sp>
      <p:sp>
        <p:nvSpPr>
          <p:cNvPr id="54" name="Text 41"/>
          <p:cNvSpPr/>
          <p:nvPr/>
        </p:nvSpPr>
        <p:spPr>
          <a:xfrm>
            <a:off x="11183112" y="6364224"/>
            <a:ext cx="502920" cy="320040"/>
          </a:xfrm>
          <a:prstGeom prst="rect">
            <a:avLst/>
          </a:prstGeom>
          <a:noFill/>
          <a:ln/>
        </p:spPr>
        <p:txBody>
          <a:bodyPr wrap="square" rtlCol="0" anchor="ctr"/>
          <a:lstStyle/>
          <a:p>
            <a:pPr algn="r" indent="0" marL="0">
              <a:buNone/>
            </a:pPr>
            <a:r>
              <a:rPr lang="en-US" sz="1100" dirty="0">
                <a:solidFill>
                  <a:srgbClr val="6B6F6A"/>
                </a:solidFill>
                <a:latin typeface="Calibri" pitchFamily="34" charset="0"/>
                <a:ea typeface="Calibri" pitchFamily="34" charset="-122"/>
                <a:cs typeface="Calibri"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CF9"/>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indent="0" marL="0">
              <a:buNone/>
            </a:pPr>
            <a:r>
              <a:rPr lang="en-US" sz="1300" b="1" spc="200" kern="0" dirty="0">
                <a:solidFill>
                  <a:srgbClr val="008A48"/>
                </a:solidFill>
                <a:latin typeface="Calibri" pitchFamily="34" charset="0"/>
                <a:ea typeface="Calibri" pitchFamily="34" charset="-122"/>
                <a:cs typeface="Calibri" pitchFamily="34" charset="-120"/>
              </a:rPr>
              <a:t>06 · LOGIQUE MÉTIER CLÉ</a:t>
            </a:r>
            <a:endParaRPr lang="en-US" sz="1300" dirty="0"/>
          </a:p>
        </p:txBody>
      </p:sp>
      <p:sp>
        <p:nvSpPr>
          <p:cNvPr id="3" name="Text 1"/>
          <p:cNvSpPr/>
          <p:nvPr/>
        </p:nvSpPr>
        <p:spPr>
          <a:xfrm>
            <a:off x="530352" y="658368"/>
            <a:ext cx="11064240" cy="685800"/>
          </a:xfrm>
          <a:prstGeom prst="rect">
            <a:avLst/>
          </a:prstGeom>
          <a:noFill/>
          <a:ln/>
        </p:spPr>
        <p:txBody>
          <a:bodyPr wrap="square" lIns="0" tIns="0" rIns="0" bIns="0" rtlCol="0" anchor="ctr"/>
          <a:lstStyle/>
          <a:p>
            <a:pPr indent="0" marL="0">
              <a:buNone/>
            </a:pPr>
            <a:r>
              <a:rPr lang="en-US" sz="3000" b="1" dirty="0">
                <a:solidFill>
                  <a:srgbClr val="1A1A1A"/>
                </a:solidFill>
                <a:latin typeface="Calibri" pitchFamily="34" charset="0"/>
                <a:ea typeface="Calibri" pitchFamily="34" charset="-122"/>
                <a:cs typeface="Calibri" pitchFamily="34" charset="-120"/>
              </a:rPr>
              <a:t>Le cœur algorithmique</a:t>
            </a:r>
            <a:endParaRPr lang="en-US" sz="3000" dirty="0"/>
          </a:p>
        </p:txBody>
      </p:sp>
      <p:sp>
        <p:nvSpPr>
          <p:cNvPr id="4" name="Shape 2"/>
          <p:cNvSpPr/>
          <p:nvPr/>
        </p:nvSpPr>
        <p:spPr>
          <a:xfrm>
            <a:off x="548640" y="1691640"/>
            <a:ext cx="5532120" cy="3931920"/>
          </a:xfrm>
          <a:prstGeom prst="roundRect">
            <a:avLst>
              <a:gd name="adj" fmla="val 2791"/>
            </a:avLst>
          </a:prstGeom>
          <a:solidFill>
            <a:srgbClr val="FFFFFF"/>
          </a:solidFill>
          <a:ln w="12700">
            <a:solidFill>
              <a:srgbClr val="E4E7E2"/>
            </a:solidFill>
            <a:prstDash val="solid"/>
          </a:ln>
          <a:effectLst>
            <a:outerShdw sx="100000" sy="100000" kx="0" ky="0" algn="bl" rotWithShape="0" blurRad="127000" dist="38100" dir="5400000">
              <a:srgbClr val="1A1A1A">
                <a:alpha val="10000"/>
              </a:srgbClr>
            </a:outerShdw>
          </a:effectLst>
        </p:spPr>
      </p:sp>
      <p:sp>
        <p:nvSpPr>
          <p:cNvPr id="5" name="Shape 3"/>
          <p:cNvSpPr/>
          <p:nvPr/>
        </p:nvSpPr>
        <p:spPr>
          <a:xfrm>
            <a:off x="868680" y="2011680"/>
            <a:ext cx="713232" cy="713232"/>
          </a:xfrm>
          <a:prstGeom prst="ellipse">
            <a:avLst/>
          </a:prstGeom>
          <a:solidFill>
            <a:srgbClr val="008A48"/>
          </a:solidFill>
          <a:ln/>
          <a:effectLst>
            <a:outerShdw sx="100000" sy="100000" kx="0" ky="0" algn="bl" rotWithShape="0" blurRad="88900" dist="25400" dir="5400000">
              <a:srgbClr val="06402A">
                <a:alpha val="16000"/>
              </a:srgbClr>
            </a:outerShdw>
          </a:effectLst>
        </p:spPr>
      </p:sp>
      <p:pic>
        <p:nvPicPr>
          <p:cNvPr id="6" name="Image 0" descr="img/calc_white.png">    </p:cNvPr>
          <p:cNvPicPr>
            <a:picLocks noChangeAspect="1"/>
          </p:cNvPicPr>
          <p:nvPr/>
        </p:nvPicPr>
        <p:blipFill>
          <a:blip r:embed="rId1"/>
          <a:stretch>
            <a:fillRect/>
          </a:stretch>
        </p:blipFill>
        <p:spPr>
          <a:xfrm>
            <a:off x="1046988" y="2189988"/>
            <a:ext cx="356616" cy="356616"/>
          </a:xfrm>
          <a:prstGeom prst="rect">
            <a:avLst/>
          </a:prstGeom>
        </p:spPr>
      </p:pic>
      <p:sp>
        <p:nvSpPr>
          <p:cNvPr id="7" name="Text 4"/>
          <p:cNvSpPr/>
          <p:nvPr/>
        </p:nvSpPr>
        <p:spPr>
          <a:xfrm>
            <a:off x="1783080" y="2057400"/>
            <a:ext cx="4023360" cy="594360"/>
          </a:xfrm>
          <a:prstGeom prst="rect">
            <a:avLst/>
          </a:prstGeom>
          <a:noFill/>
          <a:ln/>
        </p:spPr>
        <p:txBody>
          <a:bodyPr wrap="square" lIns="0" tIns="0" rIns="0" bIns="0" rtlCol="0" anchor="ctr"/>
          <a:lstStyle/>
          <a:p>
            <a:pPr indent="0" marL="0">
              <a:buNone/>
            </a:pPr>
            <a:r>
              <a:rPr lang="en-US" sz="1800" b="1" dirty="0">
                <a:solidFill>
                  <a:srgbClr val="1A1A1A"/>
                </a:solidFill>
                <a:latin typeface="Calibri" pitchFamily="34" charset="0"/>
                <a:ea typeface="Calibri" pitchFamily="34" charset="-122"/>
                <a:cs typeface="Calibri" pitchFamily="34" charset="-120"/>
              </a:rPr>
              <a:t>Calcul de l'empreinte</a:t>
            </a:r>
            <a:endParaRPr lang="en-US" sz="1800" dirty="0"/>
          </a:p>
        </p:txBody>
      </p:sp>
      <p:sp>
        <p:nvSpPr>
          <p:cNvPr id="8" name="Text 5"/>
          <p:cNvSpPr/>
          <p:nvPr/>
        </p:nvSpPr>
        <p:spPr>
          <a:xfrm>
            <a:off x="960120" y="2926080"/>
            <a:ext cx="4937760" cy="2468880"/>
          </a:xfrm>
          <a:prstGeom prst="rect">
            <a:avLst/>
          </a:prstGeom>
          <a:noFill/>
          <a:ln/>
        </p:spPr>
        <p:txBody>
          <a:bodyPr wrap="square" lIns="0" tIns="0" rIns="0" bIns="0" rtlCol="0" anchor="ctr"/>
          <a:lstStyle/>
          <a:p>
            <a:pPr marL="177800" indent="-177800">
              <a:spcAft>
                <a:spcPts val="900"/>
              </a:spcAft>
              <a:buSzPct val="100000"/>
              <a:buChar char="•"/>
            </a:pPr>
            <a:r>
              <a:rPr lang="en-US" sz="1350" dirty="0">
                <a:solidFill>
                  <a:srgbClr val="1A1A1A"/>
                </a:solidFill>
                <a:latin typeface="Calibri" pitchFamily="34" charset="0"/>
                <a:ea typeface="Calibri" pitchFamily="34" charset="-122"/>
                <a:cs typeface="Calibri" pitchFamily="34" charset="-120"/>
              </a:rPr>
              <a:t>Les réponses pondérées sont converties en CO2.</a:t>
            </a:r>
            <a:endParaRPr lang="en-US" sz="1350" dirty="0"/>
          </a:p>
          <a:p>
            <a:pPr marL="177800" indent="-177800">
              <a:spcAft>
                <a:spcPts val="900"/>
              </a:spcAft>
              <a:buSzPct val="100000"/>
              <a:buChar char="•"/>
            </a:pPr>
            <a:r>
              <a:rPr lang="en-US" sz="1350" dirty="0">
                <a:solidFill>
                  <a:srgbClr val="1A1A1A"/>
                </a:solidFill>
                <a:latin typeface="Calibri" pitchFamily="34" charset="0"/>
                <a:ea typeface="Calibri" pitchFamily="34" charset="-122"/>
                <a:cs typeface="Calibri" pitchFamily="34" charset="-120"/>
              </a:rPr>
              <a:t>L'application enregistre un total annuel et quatre sous-totaux :</a:t>
            </a:r>
            <a:endParaRPr lang="en-US" sz="1350" dirty="0"/>
          </a:p>
          <a:p>
            <a:pPr indent="0" marL="0">
              <a:spcAft>
                <a:spcPts val="900"/>
              </a:spcAft>
              <a:buNone/>
            </a:pPr>
            <a:r>
              <a:rPr lang="en-US" sz="1350" i="1" dirty="0">
                <a:solidFill>
                  <a:srgbClr val="007040"/>
                </a:solidFill>
                <a:latin typeface="Calibri" pitchFamily="34" charset="0"/>
                <a:ea typeface="Calibri" pitchFamily="34" charset="-122"/>
                <a:cs typeface="Calibri" pitchFamily="34" charset="-120"/>
              </a:rPr>
              <a:t>transport, logement, alimentation, achats &amp; numérique.</a:t>
            </a:r>
            <a:endParaRPr lang="en-US" sz="1350" dirty="0"/>
          </a:p>
          <a:p>
            <a:pPr marL="177800" indent="-177800">
              <a:spcAft>
                <a:spcPts val="900"/>
              </a:spcAft>
              <a:buSzPct val="100000"/>
              <a:buChar char="•"/>
            </a:pPr>
            <a:r>
              <a:rPr lang="en-US" sz="1350" dirty="0">
                <a:solidFill>
                  <a:srgbClr val="1A1A1A"/>
                </a:solidFill>
                <a:latin typeface="Calibri" pitchFamily="34" charset="0"/>
                <a:ea typeface="Calibri" pitchFamily="34" charset="-122"/>
                <a:cs typeface="Calibri" pitchFamily="34" charset="-120"/>
              </a:rPr>
              <a:t>Le détail par poste alimente le tableau de bord.</a:t>
            </a:r>
            <a:endParaRPr lang="en-US" sz="1350" dirty="0"/>
          </a:p>
        </p:txBody>
      </p:sp>
      <p:sp>
        <p:nvSpPr>
          <p:cNvPr id="9" name="Shape 6"/>
          <p:cNvSpPr/>
          <p:nvPr/>
        </p:nvSpPr>
        <p:spPr>
          <a:xfrm>
            <a:off x="6309360" y="1691640"/>
            <a:ext cx="5349240" cy="3931920"/>
          </a:xfrm>
          <a:prstGeom prst="roundRect">
            <a:avLst>
              <a:gd name="adj" fmla="val 2791"/>
            </a:avLst>
          </a:prstGeom>
          <a:solidFill>
            <a:srgbClr val="FFFFFF"/>
          </a:solidFill>
          <a:ln w="12700">
            <a:solidFill>
              <a:srgbClr val="E4E7E2"/>
            </a:solidFill>
            <a:prstDash val="solid"/>
          </a:ln>
          <a:effectLst>
            <a:outerShdw sx="100000" sy="100000" kx="0" ky="0" algn="bl" rotWithShape="0" blurRad="127000" dist="38100" dir="5400000">
              <a:srgbClr val="1A1A1A">
                <a:alpha val="10000"/>
              </a:srgbClr>
            </a:outerShdw>
          </a:effectLst>
        </p:spPr>
      </p:sp>
      <p:sp>
        <p:nvSpPr>
          <p:cNvPr id="10" name="Shape 7"/>
          <p:cNvSpPr/>
          <p:nvPr/>
        </p:nvSpPr>
        <p:spPr>
          <a:xfrm>
            <a:off x="6629400" y="2011680"/>
            <a:ext cx="713232" cy="713232"/>
          </a:xfrm>
          <a:prstGeom prst="ellipse">
            <a:avLst/>
          </a:prstGeom>
          <a:solidFill>
            <a:srgbClr val="008A48"/>
          </a:solidFill>
          <a:ln/>
          <a:effectLst>
            <a:outerShdw sx="100000" sy="100000" kx="0" ky="0" algn="bl" rotWithShape="0" blurRad="88900" dist="25400" dir="5400000">
              <a:srgbClr val="06402A">
                <a:alpha val="16000"/>
              </a:srgbClr>
            </a:outerShdw>
          </a:effectLst>
        </p:spPr>
      </p:sp>
      <p:pic>
        <p:nvPicPr>
          <p:cNvPr id="11" name="Image 1" descr="img/target_white.png">    </p:cNvPr>
          <p:cNvPicPr>
            <a:picLocks noChangeAspect="1"/>
          </p:cNvPicPr>
          <p:nvPr/>
        </p:nvPicPr>
        <p:blipFill>
          <a:blip r:embed="rId2"/>
          <a:stretch>
            <a:fillRect/>
          </a:stretch>
        </p:blipFill>
        <p:spPr>
          <a:xfrm>
            <a:off x="6807708" y="2189988"/>
            <a:ext cx="356616" cy="356616"/>
          </a:xfrm>
          <a:prstGeom prst="rect">
            <a:avLst/>
          </a:prstGeom>
        </p:spPr>
      </p:pic>
      <p:sp>
        <p:nvSpPr>
          <p:cNvPr id="12" name="Text 8"/>
          <p:cNvSpPr/>
          <p:nvPr/>
        </p:nvSpPr>
        <p:spPr>
          <a:xfrm>
            <a:off x="7543800" y="2057400"/>
            <a:ext cx="3840480" cy="594360"/>
          </a:xfrm>
          <a:prstGeom prst="rect">
            <a:avLst/>
          </a:prstGeom>
          <a:noFill/>
          <a:ln/>
        </p:spPr>
        <p:txBody>
          <a:bodyPr wrap="square" lIns="0" tIns="0" rIns="0" bIns="0" rtlCol="0" anchor="ctr"/>
          <a:lstStyle/>
          <a:p>
            <a:pPr indent="0" marL="0">
              <a:buNone/>
            </a:pPr>
            <a:r>
              <a:rPr lang="en-US" sz="1800" b="1" dirty="0">
                <a:solidFill>
                  <a:srgbClr val="1A1A1A"/>
                </a:solidFill>
                <a:latin typeface="Calibri" pitchFamily="34" charset="0"/>
                <a:ea typeface="Calibri" pitchFamily="34" charset="-122"/>
                <a:cs typeface="Calibri" pitchFamily="34" charset="-120"/>
              </a:rPr>
              <a:t>Attribution des défis</a:t>
            </a:r>
            <a:endParaRPr lang="en-US" sz="1800" dirty="0"/>
          </a:p>
        </p:txBody>
      </p:sp>
      <p:sp>
        <p:nvSpPr>
          <p:cNvPr id="13" name="Text 9"/>
          <p:cNvSpPr/>
          <p:nvPr/>
        </p:nvSpPr>
        <p:spPr>
          <a:xfrm>
            <a:off x="6720840" y="2926080"/>
            <a:ext cx="4754880" cy="2468880"/>
          </a:xfrm>
          <a:prstGeom prst="rect">
            <a:avLst/>
          </a:prstGeom>
          <a:noFill/>
          <a:ln/>
        </p:spPr>
        <p:txBody>
          <a:bodyPr wrap="square" lIns="0" tIns="0" rIns="0" bIns="0" rtlCol="0" anchor="ctr"/>
          <a:lstStyle/>
          <a:p>
            <a:pPr marL="177800" indent="-177800">
              <a:spcAft>
                <a:spcPts val="900"/>
              </a:spcAft>
              <a:buSzPct val="100000"/>
              <a:buChar char="•"/>
            </a:pPr>
            <a:r>
              <a:rPr lang="en-US" sz="1350" dirty="0">
                <a:solidFill>
                  <a:srgbClr val="1A1A1A"/>
                </a:solidFill>
                <a:latin typeface="Calibri" pitchFamily="34" charset="0"/>
                <a:ea typeface="Calibri" pitchFamily="34" charset="-122"/>
                <a:cs typeface="Calibri" pitchFamily="34" charset="-120"/>
              </a:rPr>
              <a:t>Le système identifie le poste le plus émetteur.</a:t>
            </a:r>
            <a:endParaRPr lang="en-US" sz="1350" dirty="0"/>
          </a:p>
          <a:p>
            <a:pPr marL="177800" indent="-177800">
              <a:spcAft>
                <a:spcPts val="900"/>
              </a:spcAft>
              <a:buSzPct val="100000"/>
              <a:buChar char="•"/>
            </a:pPr>
            <a:r>
              <a:rPr lang="en-US" sz="1350" dirty="0">
                <a:solidFill>
                  <a:srgbClr val="1A1A1A"/>
                </a:solidFill>
                <a:latin typeface="Calibri" pitchFamily="34" charset="0"/>
                <a:ea typeface="Calibri" pitchFamily="34" charset="-122"/>
                <a:cs typeface="Calibri" pitchFamily="34" charset="-120"/>
              </a:rPr>
              <a:t>Il propose les défis du type correspondant.</a:t>
            </a:r>
            <a:endParaRPr lang="en-US" sz="1350" dirty="0"/>
          </a:p>
          <a:p>
            <a:pPr marL="177800" indent="-177800">
              <a:spcAft>
                <a:spcPts val="900"/>
              </a:spcAft>
              <a:buSzPct val="100000"/>
              <a:buChar char="•"/>
            </a:pPr>
            <a:r>
              <a:rPr lang="en-US" sz="1350" dirty="0">
                <a:solidFill>
                  <a:srgbClr val="1A1A1A"/>
                </a:solidFill>
                <a:latin typeface="Calibri" pitchFamily="34" charset="0"/>
                <a:ea typeface="Calibri" pitchFamily="34" charset="-122"/>
                <a:cs typeface="Calibri" pitchFamily="34" charset="-120"/>
              </a:rPr>
              <a:t>Une contrainte d'unicité en base garantit qu'un défi n'est validé qu'une fois par jour.</a:t>
            </a:r>
            <a:endParaRPr lang="en-US" sz="1350" dirty="0"/>
          </a:p>
          <a:p>
            <a:pPr marL="177800" indent="-177800">
              <a:spcAft>
                <a:spcPts val="900"/>
              </a:spcAft>
              <a:buSzPct val="100000"/>
              <a:buChar char="•"/>
            </a:pPr>
            <a:r>
              <a:rPr lang="en-US" sz="1350" dirty="0">
                <a:solidFill>
                  <a:srgbClr val="1A1A1A"/>
                </a:solidFill>
                <a:latin typeface="Calibri" pitchFamily="34" charset="0"/>
                <a:ea typeface="Calibri" pitchFamily="34" charset="-122"/>
                <a:cs typeface="Calibri" pitchFamily="34" charset="-120"/>
              </a:rPr>
              <a:t>Chaque validation rapporte des points et un CO2 économisé estimé.</a:t>
            </a:r>
            <a:endParaRPr lang="en-US" sz="1350" dirty="0"/>
          </a:p>
        </p:txBody>
      </p:sp>
      <p:pic>
        <p:nvPicPr>
          <p:cNvPr id="14" name="Image 2" descr="img/leaf_green.png">    </p:cNvPr>
          <p:cNvPicPr>
            <a:picLocks noChangeAspect="1"/>
          </p:cNvPicPr>
          <p:nvPr/>
        </p:nvPicPr>
        <p:blipFill>
          <a:blip r:embed="rId3"/>
          <a:stretch>
            <a:fillRect/>
          </a:stretch>
        </p:blipFill>
        <p:spPr>
          <a:xfrm>
            <a:off x="502920" y="6437376"/>
            <a:ext cx="182880" cy="182880"/>
          </a:xfrm>
          <a:prstGeom prst="rect">
            <a:avLst/>
          </a:prstGeom>
        </p:spPr>
      </p:pic>
      <p:sp>
        <p:nvSpPr>
          <p:cNvPr id="15" name="Text 10"/>
          <p:cNvSpPr/>
          <p:nvPr/>
        </p:nvSpPr>
        <p:spPr>
          <a:xfrm>
            <a:off x="731520" y="6364224"/>
            <a:ext cx="1828800" cy="320040"/>
          </a:xfrm>
          <a:prstGeom prst="rect">
            <a:avLst/>
          </a:prstGeom>
          <a:noFill/>
          <a:ln/>
        </p:spPr>
        <p:txBody>
          <a:bodyPr wrap="square" rtlCol="0" anchor="ctr"/>
          <a:lstStyle/>
          <a:p>
            <a:pPr indent="0" marL="0">
              <a:buNone/>
            </a:pPr>
            <a:r>
              <a:rPr lang="en-US" sz="1100" b="1" dirty="0">
                <a:solidFill>
                  <a:srgbClr val="6B6F6A"/>
                </a:solidFill>
                <a:latin typeface="Calibri" pitchFamily="34" charset="0"/>
                <a:ea typeface="Calibri" pitchFamily="34" charset="-122"/>
                <a:cs typeface="Calibri" pitchFamily="34" charset="-120"/>
              </a:rPr>
              <a:t>EcoTrack</a:t>
            </a:r>
            <a:endParaRPr lang="en-US" sz="1100" dirty="0"/>
          </a:p>
        </p:txBody>
      </p:sp>
      <p:sp>
        <p:nvSpPr>
          <p:cNvPr id="16" name="Text 11"/>
          <p:cNvSpPr/>
          <p:nvPr/>
        </p:nvSpPr>
        <p:spPr>
          <a:xfrm>
            <a:off x="11183112" y="6364224"/>
            <a:ext cx="502920" cy="320040"/>
          </a:xfrm>
          <a:prstGeom prst="rect">
            <a:avLst/>
          </a:prstGeom>
          <a:noFill/>
          <a:ln/>
        </p:spPr>
        <p:txBody>
          <a:bodyPr wrap="square" rtlCol="0" anchor="ctr"/>
          <a:lstStyle/>
          <a:p>
            <a:pPr algn="r" indent="0" marL="0">
              <a:buNone/>
            </a:pPr>
            <a:r>
              <a:rPr lang="en-US" sz="1100" dirty="0">
                <a:solidFill>
                  <a:srgbClr val="6B6F6A"/>
                </a:solidFill>
                <a:latin typeface="Calibri" pitchFamily="34" charset="0"/>
                <a:ea typeface="Calibri" pitchFamily="34" charset="-122"/>
                <a:cs typeface="Calibri"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CF9"/>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indent="0" marL="0">
              <a:buNone/>
            </a:pPr>
            <a:r>
              <a:rPr lang="en-US" sz="1300" b="1" spc="200" kern="0" dirty="0">
                <a:solidFill>
                  <a:srgbClr val="008A48"/>
                </a:solidFill>
                <a:latin typeface="Calibri" pitchFamily="34" charset="0"/>
                <a:ea typeface="Calibri" pitchFamily="34" charset="-122"/>
                <a:cs typeface="Calibri" pitchFamily="34" charset="-120"/>
              </a:rPr>
              <a:t>07 · ORGANISATION &amp; MÉTHODE</a:t>
            </a:r>
            <a:endParaRPr lang="en-US" sz="1300" dirty="0"/>
          </a:p>
        </p:txBody>
      </p:sp>
      <p:sp>
        <p:nvSpPr>
          <p:cNvPr id="3" name="Text 1"/>
          <p:cNvSpPr/>
          <p:nvPr/>
        </p:nvSpPr>
        <p:spPr>
          <a:xfrm>
            <a:off x="530352" y="658368"/>
            <a:ext cx="11064240" cy="685800"/>
          </a:xfrm>
          <a:prstGeom prst="rect">
            <a:avLst/>
          </a:prstGeom>
          <a:noFill/>
          <a:ln/>
        </p:spPr>
        <p:txBody>
          <a:bodyPr wrap="square" lIns="0" tIns="0" rIns="0" bIns="0" rtlCol="0" anchor="ctr"/>
          <a:lstStyle/>
          <a:p>
            <a:pPr indent="0" marL="0">
              <a:buNone/>
            </a:pPr>
            <a:r>
              <a:rPr lang="en-US" sz="3000" b="1" dirty="0">
                <a:solidFill>
                  <a:srgbClr val="1A1A1A"/>
                </a:solidFill>
                <a:latin typeface="Calibri" pitchFamily="34" charset="0"/>
                <a:ea typeface="Calibri" pitchFamily="34" charset="-122"/>
                <a:cs typeface="Calibri" pitchFamily="34" charset="-120"/>
              </a:rPr>
              <a:t>Une équipe, une démarche agile</a:t>
            </a:r>
            <a:endParaRPr lang="en-US" sz="3000" dirty="0"/>
          </a:p>
        </p:txBody>
      </p:sp>
      <p:sp>
        <p:nvSpPr>
          <p:cNvPr id="4" name="Shape 2"/>
          <p:cNvSpPr/>
          <p:nvPr/>
        </p:nvSpPr>
        <p:spPr>
          <a:xfrm>
            <a:off x="548640" y="1600200"/>
            <a:ext cx="2651760" cy="1554480"/>
          </a:xfrm>
          <a:prstGeom prst="roundRect">
            <a:avLst>
              <a:gd name="adj" fmla="val 7059"/>
            </a:avLst>
          </a:prstGeom>
          <a:solidFill>
            <a:srgbClr val="FFFFFF"/>
          </a:solidFill>
          <a:ln w="12700">
            <a:solidFill>
              <a:srgbClr val="E4E7E2"/>
            </a:solidFill>
            <a:prstDash val="solid"/>
          </a:ln>
          <a:effectLst>
            <a:outerShdw sx="100000" sy="100000" kx="0" ky="0" algn="bl" rotWithShape="0" blurRad="127000" dist="38100" dir="5400000">
              <a:srgbClr val="1A1A1A">
                <a:alpha val="10000"/>
              </a:srgbClr>
            </a:outerShdw>
          </a:effectLst>
        </p:spPr>
      </p:sp>
      <p:sp>
        <p:nvSpPr>
          <p:cNvPr id="5" name="Shape 3"/>
          <p:cNvSpPr/>
          <p:nvPr/>
        </p:nvSpPr>
        <p:spPr>
          <a:xfrm>
            <a:off x="1508760" y="1828800"/>
            <a:ext cx="731520" cy="731520"/>
          </a:xfrm>
          <a:prstGeom prst="ellipse">
            <a:avLst/>
          </a:prstGeom>
          <a:solidFill>
            <a:srgbClr val="008A48"/>
          </a:solidFill>
          <a:ln/>
          <a:effectLst>
            <a:outerShdw sx="100000" sy="100000" kx="0" ky="0" algn="bl" rotWithShape="0" blurRad="88900" dist="25400" dir="5400000">
              <a:srgbClr val="06402A">
                <a:alpha val="16000"/>
              </a:srgbClr>
            </a:outerShdw>
          </a:effectLst>
        </p:spPr>
      </p:sp>
      <p:pic>
        <p:nvPicPr>
          <p:cNvPr id="6" name="Image 0" descr="img/shield_white.png">    </p:cNvPr>
          <p:cNvPicPr>
            <a:picLocks noChangeAspect="1"/>
          </p:cNvPicPr>
          <p:nvPr/>
        </p:nvPicPr>
        <p:blipFill>
          <a:blip r:embed="rId1"/>
          <a:stretch>
            <a:fillRect/>
          </a:stretch>
        </p:blipFill>
        <p:spPr>
          <a:xfrm>
            <a:off x="1691640" y="2011680"/>
            <a:ext cx="365760" cy="365760"/>
          </a:xfrm>
          <a:prstGeom prst="rect">
            <a:avLst/>
          </a:prstGeom>
        </p:spPr>
      </p:pic>
      <p:sp>
        <p:nvSpPr>
          <p:cNvPr id="7" name="Text 4"/>
          <p:cNvSpPr/>
          <p:nvPr/>
        </p:nvSpPr>
        <p:spPr>
          <a:xfrm>
            <a:off x="658368" y="2560320"/>
            <a:ext cx="2432304" cy="292608"/>
          </a:xfrm>
          <a:prstGeom prst="rect">
            <a:avLst/>
          </a:prstGeom>
          <a:noFill/>
          <a:ln/>
        </p:spPr>
        <p:txBody>
          <a:bodyPr wrap="square" lIns="0" tIns="0" rIns="0" bIns="0" rtlCol="0" anchor="ctr"/>
          <a:lstStyle/>
          <a:p>
            <a:pPr algn="ctr" indent="0" marL="0">
              <a:buNone/>
            </a:pPr>
            <a:r>
              <a:rPr lang="en-US" sz="1350" b="1" dirty="0">
                <a:solidFill>
                  <a:srgbClr val="1A1A1A"/>
                </a:solidFill>
                <a:latin typeface="Calibri" pitchFamily="34" charset="0"/>
                <a:ea typeface="Calibri" pitchFamily="34" charset="-122"/>
                <a:cs typeface="Calibri" pitchFamily="34" charset="-120"/>
              </a:rPr>
              <a:t>Mathieu Gayvallet</a:t>
            </a:r>
            <a:endParaRPr lang="en-US" sz="1350" dirty="0"/>
          </a:p>
        </p:txBody>
      </p:sp>
      <p:sp>
        <p:nvSpPr>
          <p:cNvPr id="8" name="Text 5"/>
          <p:cNvSpPr/>
          <p:nvPr/>
        </p:nvSpPr>
        <p:spPr>
          <a:xfrm>
            <a:off x="658368" y="2843784"/>
            <a:ext cx="2432304" cy="274320"/>
          </a:xfrm>
          <a:prstGeom prst="rect">
            <a:avLst/>
          </a:prstGeom>
          <a:noFill/>
          <a:ln/>
        </p:spPr>
        <p:txBody>
          <a:bodyPr wrap="square" lIns="0" tIns="0" rIns="0" bIns="0" rtlCol="0" anchor="ctr"/>
          <a:lstStyle/>
          <a:p>
            <a:pPr algn="ctr" indent="0" marL="0">
              <a:buNone/>
            </a:pPr>
            <a:r>
              <a:rPr lang="en-US" sz="1050" dirty="0">
                <a:solidFill>
                  <a:srgbClr val="6B6F6A"/>
                </a:solidFill>
                <a:latin typeface="Calibri" pitchFamily="34" charset="0"/>
                <a:ea typeface="Calibri" pitchFamily="34" charset="-122"/>
                <a:cs typeface="Calibri" pitchFamily="34" charset="-120"/>
              </a:rPr>
              <a:t>Développeur / Base de données</a:t>
            </a:r>
            <a:endParaRPr lang="en-US" sz="1050" dirty="0"/>
          </a:p>
        </p:txBody>
      </p:sp>
      <p:sp>
        <p:nvSpPr>
          <p:cNvPr id="9" name="Shape 6"/>
          <p:cNvSpPr/>
          <p:nvPr/>
        </p:nvSpPr>
        <p:spPr>
          <a:xfrm>
            <a:off x="3355848" y="1600200"/>
            <a:ext cx="2651760" cy="1554480"/>
          </a:xfrm>
          <a:prstGeom prst="roundRect">
            <a:avLst>
              <a:gd name="adj" fmla="val 7059"/>
            </a:avLst>
          </a:prstGeom>
          <a:solidFill>
            <a:srgbClr val="FFFFFF"/>
          </a:solidFill>
          <a:ln w="12700">
            <a:solidFill>
              <a:srgbClr val="E4E7E2"/>
            </a:solidFill>
            <a:prstDash val="solid"/>
          </a:ln>
          <a:effectLst>
            <a:outerShdw sx="100000" sy="100000" kx="0" ky="0" algn="bl" rotWithShape="0" blurRad="127000" dist="38100" dir="5400000">
              <a:srgbClr val="1A1A1A">
                <a:alpha val="10000"/>
              </a:srgbClr>
            </a:outerShdw>
          </a:effectLst>
        </p:spPr>
      </p:sp>
      <p:sp>
        <p:nvSpPr>
          <p:cNvPr id="10" name="Shape 7"/>
          <p:cNvSpPr/>
          <p:nvPr/>
        </p:nvSpPr>
        <p:spPr>
          <a:xfrm>
            <a:off x="4315968" y="1828800"/>
            <a:ext cx="731520" cy="731520"/>
          </a:xfrm>
          <a:prstGeom prst="ellipse">
            <a:avLst/>
          </a:prstGeom>
          <a:solidFill>
            <a:srgbClr val="008A48"/>
          </a:solidFill>
          <a:ln/>
          <a:effectLst>
            <a:outerShdw sx="100000" sy="100000" kx="0" ky="0" algn="bl" rotWithShape="0" blurRad="88900" dist="25400" dir="5400000">
              <a:srgbClr val="06402A">
                <a:alpha val="16000"/>
              </a:srgbClr>
            </a:outerShdw>
          </a:effectLst>
        </p:spPr>
      </p:sp>
      <p:pic>
        <p:nvPicPr>
          <p:cNvPr id="11" name="Image 1" descr="img/shield_white.png">    </p:cNvPr>
          <p:cNvPicPr>
            <a:picLocks noChangeAspect="1"/>
          </p:cNvPicPr>
          <p:nvPr/>
        </p:nvPicPr>
        <p:blipFill>
          <a:blip r:embed="rId2"/>
          <a:stretch>
            <a:fillRect/>
          </a:stretch>
        </p:blipFill>
        <p:spPr>
          <a:xfrm>
            <a:off x="4498848" y="2011680"/>
            <a:ext cx="365760" cy="365760"/>
          </a:xfrm>
          <a:prstGeom prst="rect">
            <a:avLst/>
          </a:prstGeom>
        </p:spPr>
      </p:pic>
      <p:sp>
        <p:nvSpPr>
          <p:cNvPr id="12" name="Text 8"/>
          <p:cNvSpPr/>
          <p:nvPr/>
        </p:nvSpPr>
        <p:spPr>
          <a:xfrm>
            <a:off x="3465576" y="2560320"/>
            <a:ext cx="2432304" cy="292608"/>
          </a:xfrm>
          <a:prstGeom prst="rect">
            <a:avLst/>
          </a:prstGeom>
          <a:noFill/>
          <a:ln/>
        </p:spPr>
        <p:txBody>
          <a:bodyPr wrap="square" lIns="0" tIns="0" rIns="0" bIns="0" rtlCol="0" anchor="ctr"/>
          <a:lstStyle/>
          <a:p>
            <a:pPr algn="ctr" indent="0" marL="0">
              <a:buNone/>
            </a:pPr>
            <a:r>
              <a:rPr lang="en-US" sz="1350" b="1" dirty="0">
                <a:solidFill>
                  <a:srgbClr val="1A1A1A"/>
                </a:solidFill>
                <a:latin typeface="Calibri" pitchFamily="34" charset="0"/>
                <a:ea typeface="Calibri" pitchFamily="34" charset="-122"/>
                <a:cs typeface="Calibri" pitchFamily="34" charset="-120"/>
              </a:rPr>
              <a:t>Noah Benhabrou</a:t>
            </a:r>
            <a:endParaRPr lang="en-US" sz="1350" dirty="0"/>
          </a:p>
        </p:txBody>
      </p:sp>
      <p:sp>
        <p:nvSpPr>
          <p:cNvPr id="13" name="Text 9"/>
          <p:cNvSpPr/>
          <p:nvPr/>
        </p:nvSpPr>
        <p:spPr>
          <a:xfrm>
            <a:off x="3465576" y="2843784"/>
            <a:ext cx="2432304" cy="274320"/>
          </a:xfrm>
          <a:prstGeom prst="rect">
            <a:avLst/>
          </a:prstGeom>
          <a:noFill/>
          <a:ln/>
        </p:spPr>
        <p:txBody>
          <a:bodyPr wrap="square" lIns="0" tIns="0" rIns="0" bIns="0" rtlCol="0" anchor="ctr"/>
          <a:lstStyle/>
          <a:p>
            <a:pPr algn="ctr" indent="0" marL="0">
              <a:buNone/>
            </a:pPr>
            <a:r>
              <a:rPr lang="en-US" sz="1050" dirty="0">
                <a:solidFill>
                  <a:srgbClr val="6B6F6A"/>
                </a:solidFill>
                <a:latin typeface="Calibri" pitchFamily="34" charset="0"/>
                <a:ea typeface="Calibri" pitchFamily="34" charset="-122"/>
                <a:cs typeface="Calibri" pitchFamily="34" charset="-120"/>
              </a:rPr>
              <a:t>Scrum master / Développeur</a:t>
            </a:r>
            <a:endParaRPr lang="en-US" sz="1050" dirty="0"/>
          </a:p>
        </p:txBody>
      </p:sp>
      <p:sp>
        <p:nvSpPr>
          <p:cNvPr id="14" name="Shape 10"/>
          <p:cNvSpPr/>
          <p:nvPr/>
        </p:nvSpPr>
        <p:spPr>
          <a:xfrm>
            <a:off x="6163056" y="1600200"/>
            <a:ext cx="2651760" cy="1554480"/>
          </a:xfrm>
          <a:prstGeom prst="roundRect">
            <a:avLst>
              <a:gd name="adj" fmla="val 7059"/>
            </a:avLst>
          </a:prstGeom>
          <a:solidFill>
            <a:srgbClr val="FFFFFF"/>
          </a:solidFill>
          <a:ln w="12700">
            <a:solidFill>
              <a:srgbClr val="E4E7E2"/>
            </a:solidFill>
            <a:prstDash val="solid"/>
          </a:ln>
          <a:effectLst>
            <a:outerShdw sx="100000" sy="100000" kx="0" ky="0" algn="bl" rotWithShape="0" blurRad="127000" dist="38100" dir="5400000">
              <a:srgbClr val="1A1A1A">
                <a:alpha val="10000"/>
              </a:srgbClr>
            </a:outerShdw>
          </a:effectLst>
        </p:spPr>
      </p:sp>
      <p:sp>
        <p:nvSpPr>
          <p:cNvPr id="15" name="Shape 11"/>
          <p:cNvSpPr/>
          <p:nvPr/>
        </p:nvSpPr>
        <p:spPr>
          <a:xfrm>
            <a:off x="7123176" y="1828800"/>
            <a:ext cx="731520" cy="731520"/>
          </a:xfrm>
          <a:prstGeom prst="ellipse">
            <a:avLst/>
          </a:prstGeom>
          <a:solidFill>
            <a:srgbClr val="008A48"/>
          </a:solidFill>
          <a:ln/>
          <a:effectLst>
            <a:outerShdw sx="100000" sy="100000" kx="0" ky="0" algn="bl" rotWithShape="0" blurRad="88900" dist="25400" dir="5400000">
              <a:srgbClr val="06402A">
                <a:alpha val="16000"/>
              </a:srgbClr>
            </a:outerShdw>
          </a:effectLst>
        </p:spPr>
      </p:sp>
      <p:pic>
        <p:nvPicPr>
          <p:cNvPr id="16" name="Image 2" descr="img/shield_white.png">    </p:cNvPr>
          <p:cNvPicPr>
            <a:picLocks noChangeAspect="1"/>
          </p:cNvPicPr>
          <p:nvPr/>
        </p:nvPicPr>
        <p:blipFill>
          <a:blip r:embed="rId3"/>
          <a:stretch>
            <a:fillRect/>
          </a:stretch>
        </p:blipFill>
        <p:spPr>
          <a:xfrm>
            <a:off x="7306056" y="2011680"/>
            <a:ext cx="365760" cy="365760"/>
          </a:xfrm>
          <a:prstGeom prst="rect">
            <a:avLst/>
          </a:prstGeom>
        </p:spPr>
      </p:pic>
      <p:sp>
        <p:nvSpPr>
          <p:cNvPr id="17" name="Text 12"/>
          <p:cNvSpPr/>
          <p:nvPr/>
        </p:nvSpPr>
        <p:spPr>
          <a:xfrm>
            <a:off x="6272784" y="2560320"/>
            <a:ext cx="2432304" cy="292608"/>
          </a:xfrm>
          <a:prstGeom prst="rect">
            <a:avLst/>
          </a:prstGeom>
          <a:noFill/>
          <a:ln/>
        </p:spPr>
        <p:txBody>
          <a:bodyPr wrap="square" lIns="0" tIns="0" rIns="0" bIns="0" rtlCol="0" anchor="ctr"/>
          <a:lstStyle/>
          <a:p>
            <a:pPr algn="ctr" indent="0" marL="0">
              <a:buNone/>
            </a:pPr>
            <a:r>
              <a:rPr lang="en-US" sz="1350" b="1" dirty="0">
                <a:solidFill>
                  <a:srgbClr val="1A1A1A"/>
                </a:solidFill>
                <a:latin typeface="Calibri" pitchFamily="34" charset="0"/>
                <a:ea typeface="Calibri" pitchFamily="34" charset="-122"/>
                <a:cs typeface="Calibri" pitchFamily="34" charset="-120"/>
              </a:rPr>
              <a:t>Luca Descombes</a:t>
            </a:r>
            <a:endParaRPr lang="en-US" sz="1350" dirty="0"/>
          </a:p>
        </p:txBody>
      </p:sp>
      <p:sp>
        <p:nvSpPr>
          <p:cNvPr id="18" name="Text 13"/>
          <p:cNvSpPr/>
          <p:nvPr/>
        </p:nvSpPr>
        <p:spPr>
          <a:xfrm>
            <a:off x="6272784" y="2843784"/>
            <a:ext cx="2432304" cy="274320"/>
          </a:xfrm>
          <a:prstGeom prst="rect">
            <a:avLst/>
          </a:prstGeom>
          <a:noFill/>
          <a:ln/>
        </p:spPr>
        <p:txBody>
          <a:bodyPr wrap="square" lIns="0" tIns="0" rIns="0" bIns="0" rtlCol="0" anchor="ctr"/>
          <a:lstStyle/>
          <a:p>
            <a:pPr algn="ctr" indent="0" marL="0">
              <a:buNone/>
            </a:pPr>
            <a:r>
              <a:rPr lang="en-US" sz="1050" dirty="0">
                <a:solidFill>
                  <a:srgbClr val="6B6F6A"/>
                </a:solidFill>
                <a:latin typeface="Calibri" pitchFamily="34" charset="0"/>
                <a:ea typeface="Calibri" pitchFamily="34" charset="-122"/>
                <a:cs typeface="Calibri" pitchFamily="34" charset="-120"/>
              </a:rPr>
              <a:t>Product owner / Designer / Dev</a:t>
            </a:r>
            <a:endParaRPr lang="en-US" sz="1050" dirty="0"/>
          </a:p>
        </p:txBody>
      </p:sp>
      <p:sp>
        <p:nvSpPr>
          <p:cNvPr id="19" name="Shape 14"/>
          <p:cNvSpPr/>
          <p:nvPr/>
        </p:nvSpPr>
        <p:spPr>
          <a:xfrm>
            <a:off x="8970264" y="1600200"/>
            <a:ext cx="2651760" cy="1554480"/>
          </a:xfrm>
          <a:prstGeom prst="roundRect">
            <a:avLst>
              <a:gd name="adj" fmla="val 7059"/>
            </a:avLst>
          </a:prstGeom>
          <a:solidFill>
            <a:srgbClr val="FFFFFF"/>
          </a:solidFill>
          <a:ln w="12700">
            <a:solidFill>
              <a:srgbClr val="E4E7E2"/>
            </a:solidFill>
            <a:prstDash val="solid"/>
          </a:ln>
          <a:effectLst>
            <a:outerShdw sx="100000" sy="100000" kx="0" ky="0" algn="bl" rotWithShape="0" blurRad="127000" dist="38100" dir="5400000">
              <a:srgbClr val="1A1A1A">
                <a:alpha val="10000"/>
              </a:srgbClr>
            </a:outerShdw>
          </a:effectLst>
        </p:spPr>
      </p:sp>
      <p:sp>
        <p:nvSpPr>
          <p:cNvPr id="20" name="Shape 15"/>
          <p:cNvSpPr/>
          <p:nvPr/>
        </p:nvSpPr>
        <p:spPr>
          <a:xfrm>
            <a:off x="9930384" y="1828800"/>
            <a:ext cx="731520" cy="731520"/>
          </a:xfrm>
          <a:prstGeom prst="ellipse">
            <a:avLst/>
          </a:prstGeom>
          <a:solidFill>
            <a:srgbClr val="008A48"/>
          </a:solidFill>
          <a:ln/>
          <a:effectLst>
            <a:outerShdw sx="100000" sy="100000" kx="0" ky="0" algn="bl" rotWithShape="0" blurRad="88900" dist="25400" dir="5400000">
              <a:srgbClr val="06402A">
                <a:alpha val="16000"/>
              </a:srgbClr>
            </a:outerShdw>
          </a:effectLst>
        </p:spPr>
      </p:sp>
      <p:pic>
        <p:nvPicPr>
          <p:cNvPr id="21" name="Image 3" descr="img/shield_white.png">    </p:cNvPr>
          <p:cNvPicPr>
            <a:picLocks noChangeAspect="1"/>
          </p:cNvPicPr>
          <p:nvPr/>
        </p:nvPicPr>
        <p:blipFill>
          <a:blip r:embed="rId4"/>
          <a:stretch>
            <a:fillRect/>
          </a:stretch>
        </p:blipFill>
        <p:spPr>
          <a:xfrm>
            <a:off x="10113264" y="2011680"/>
            <a:ext cx="365760" cy="365760"/>
          </a:xfrm>
          <a:prstGeom prst="rect">
            <a:avLst/>
          </a:prstGeom>
        </p:spPr>
      </p:pic>
      <p:sp>
        <p:nvSpPr>
          <p:cNvPr id="22" name="Text 16"/>
          <p:cNvSpPr/>
          <p:nvPr/>
        </p:nvSpPr>
        <p:spPr>
          <a:xfrm>
            <a:off x="9079992" y="2560320"/>
            <a:ext cx="2432304" cy="292608"/>
          </a:xfrm>
          <a:prstGeom prst="rect">
            <a:avLst/>
          </a:prstGeom>
          <a:noFill/>
          <a:ln/>
        </p:spPr>
        <p:txBody>
          <a:bodyPr wrap="square" lIns="0" tIns="0" rIns="0" bIns="0" rtlCol="0" anchor="ctr"/>
          <a:lstStyle/>
          <a:p>
            <a:pPr algn="ctr" indent="0" marL="0">
              <a:buNone/>
            </a:pPr>
            <a:r>
              <a:rPr lang="en-US" sz="1350" b="1" dirty="0">
                <a:solidFill>
                  <a:srgbClr val="1A1A1A"/>
                </a:solidFill>
                <a:latin typeface="Calibri" pitchFamily="34" charset="0"/>
                <a:ea typeface="Calibri" pitchFamily="34" charset="-122"/>
                <a:cs typeface="Calibri" pitchFamily="34" charset="-120"/>
              </a:rPr>
              <a:t>Nael Baras-Raso</a:t>
            </a:r>
            <a:endParaRPr lang="en-US" sz="1350" dirty="0"/>
          </a:p>
        </p:txBody>
      </p:sp>
      <p:sp>
        <p:nvSpPr>
          <p:cNvPr id="23" name="Text 17"/>
          <p:cNvSpPr/>
          <p:nvPr/>
        </p:nvSpPr>
        <p:spPr>
          <a:xfrm>
            <a:off x="9079992" y="2843784"/>
            <a:ext cx="2432304" cy="274320"/>
          </a:xfrm>
          <a:prstGeom prst="rect">
            <a:avLst/>
          </a:prstGeom>
          <a:noFill/>
          <a:ln/>
        </p:spPr>
        <p:txBody>
          <a:bodyPr wrap="square" lIns="0" tIns="0" rIns="0" bIns="0" rtlCol="0" anchor="ctr"/>
          <a:lstStyle/>
          <a:p>
            <a:pPr algn="ctr" indent="0" marL="0">
              <a:buNone/>
            </a:pPr>
            <a:r>
              <a:rPr lang="en-US" sz="1050" dirty="0">
                <a:solidFill>
                  <a:srgbClr val="6B6F6A"/>
                </a:solidFill>
                <a:latin typeface="Calibri" pitchFamily="34" charset="0"/>
                <a:ea typeface="Calibri" pitchFamily="34" charset="-122"/>
                <a:cs typeface="Calibri" pitchFamily="34" charset="-120"/>
              </a:rPr>
              <a:t>Développeur</a:t>
            </a:r>
            <a:endParaRPr lang="en-US" sz="1050" dirty="0"/>
          </a:p>
        </p:txBody>
      </p:sp>
      <p:sp>
        <p:nvSpPr>
          <p:cNvPr id="24" name="Shape 18"/>
          <p:cNvSpPr/>
          <p:nvPr/>
        </p:nvSpPr>
        <p:spPr>
          <a:xfrm>
            <a:off x="548640" y="3337560"/>
            <a:ext cx="5532120" cy="2331720"/>
          </a:xfrm>
          <a:prstGeom prst="roundRect">
            <a:avLst>
              <a:gd name="adj" fmla="val 4706"/>
            </a:avLst>
          </a:prstGeom>
          <a:solidFill>
            <a:srgbClr val="EDF8F0"/>
          </a:solidFill>
          <a:ln w="12700">
            <a:solidFill>
              <a:srgbClr val="E4E7E2"/>
            </a:solidFill>
            <a:prstDash val="solid"/>
          </a:ln>
          <a:effectLst>
            <a:outerShdw sx="100000" sy="100000" kx="0" ky="0" algn="bl" rotWithShape="0" blurRad="127000" dist="38100" dir="5400000">
              <a:srgbClr val="1A1A1A">
                <a:alpha val="10000"/>
              </a:srgbClr>
            </a:outerShdw>
          </a:effectLst>
        </p:spPr>
      </p:sp>
      <p:sp>
        <p:nvSpPr>
          <p:cNvPr id="25" name="Shape 19"/>
          <p:cNvSpPr/>
          <p:nvPr/>
        </p:nvSpPr>
        <p:spPr>
          <a:xfrm>
            <a:off x="868680" y="3639312"/>
            <a:ext cx="640080" cy="640080"/>
          </a:xfrm>
          <a:prstGeom prst="ellipse">
            <a:avLst/>
          </a:prstGeom>
          <a:solidFill>
            <a:srgbClr val="008A48"/>
          </a:solidFill>
          <a:ln/>
          <a:effectLst>
            <a:outerShdw sx="100000" sy="100000" kx="0" ky="0" algn="bl" rotWithShape="0" blurRad="88900" dist="25400" dir="5400000">
              <a:srgbClr val="06402A">
                <a:alpha val="16000"/>
              </a:srgbClr>
            </a:outerShdw>
          </a:effectLst>
        </p:spPr>
      </p:sp>
      <p:pic>
        <p:nvPicPr>
          <p:cNvPr id="26" name="Image 4" descr="img/sync_white.png">    </p:cNvPr>
          <p:cNvPicPr>
            <a:picLocks noChangeAspect="1"/>
          </p:cNvPicPr>
          <p:nvPr/>
        </p:nvPicPr>
        <p:blipFill>
          <a:blip r:embed="rId5"/>
          <a:stretch>
            <a:fillRect/>
          </a:stretch>
        </p:blipFill>
        <p:spPr>
          <a:xfrm>
            <a:off x="1028700" y="3799332"/>
            <a:ext cx="320040" cy="320040"/>
          </a:xfrm>
          <a:prstGeom prst="rect">
            <a:avLst/>
          </a:prstGeom>
        </p:spPr>
      </p:pic>
      <p:sp>
        <p:nvSpPr>
          <p:cNvPr id="27" name="Text 20"/>
          <p:cNvSpPr/>
          <p:nvPr/>
        </p:nvSpPr>
        <p:spPr>
          <a:xfrm>
            <a:off x="1645920" y="3657600"/>
            <a:ext cx="4114800" cy="457200"/>
          </a:xfrm>
          <a:prstGeom prst="rect">
            <a:avLst/>
          </a:prstGeom>
          <a:noFill/>
          <a:ln/>
        </p:spPr>
        <p:txBody>
          <a:bodyPr wrap="square" lIns="0" tIns="0" rIns="0" bIns="0" rtlCol="0" anchor="ctr"/>
          <a:lstStyle/>
          <a:p>
            <a:pPr indent="0" marL="0">
              <a:buNone/>
            </a:pPr>
            <a:r>
              <a:rPr lang="en-US" sz="1600" b="1" dirty="0">
                <a:solidFill>
                  <a:srgbClr val="007040"/>
                </a:solidFill>
                <a:latin typeface="Calibri" pitchFamily="34" charset="0"/>
                <a:ea typeface="Calibri" pitchFamily="34" charset="-122"/>
                <a:cs typeface="Calibri" pitchFamily="34" charset="-120"/>
              </a:rPr>
              <a:t>Méthode de travail</a:t>
            </a:r>
            <a:endParaRPr lang="en-US" sz="1600" dirty="0"/>
          </a:p>
        </p:txBody>
      </p:sp>
      <p:sp>
        <p:nvSpPr>
          <p:cNvPr id="28" name="Text 21"/>
          <p:cNvSpPr/>
          <p:nvPr/>
        </p:nvSpPr>
        <p:spPr>
          <a:xfrm>
            <a:off x="914400" y="4297680"/>
            <a:ext cx="5029200" cy="1280160"/>
          </a:xfrm>
          <a:prstGeom prst="rect">
            <a:avLst/>
          </a:prstGeom>
          <a:noFill/>
          <a:ln/>
        </p:spPr>
        <p:txBody>
          <a:bodyPr wrap="square" lIns="0" tIns="0" rIns="0" bIns="0" rtlCol="0" anchor="ctr"/>
          <a:lstStyle/>
          <a:p>
            <a:pPr marL="177800" indent="-177800">
              <a:spcAft>
                <a:spcPts val="700"/>
              </a:spcAft>
              <a:buSzPct val="100000"/>
              <a:buChar char="•"/>
            </a:pPr>
            <a:r>
              <a:rPr lang="en-US" sz="1300" dirty="0">
                <a:solidFill>
                  <a:srgbClr val="1A1A1A"/>
                </a:solidFill>
                <a:latin typeface="Calibri" pitchFamily="34" charset="0"/>
                <a:ea typeface="Calibri" pitchFamily="34" charset="-122"/>
                <a:cs typeface="Calibri" pitchFamily="34" charset="-120"/>
              </a:rPr>
              <a:t>Cycles courts inspirés de l'agilité (Scrum).</a:t>
            </a:r>
            <a:endParaRPr lang="en-US" sz="1300" dirty="0"/>
          </a:p>
          <a:p>
            <a:pPr marL="177800" indent="-177800">
              <a:spcAft>
                <a:spcPts val="700"/>
              </a:spcAft>
              <a:buSzPct val="100000"/>
              <a:buChar char="•"/>
            </a:pPr>
            <a:r>
              <a:rPr lang="en-US" sz="1300" dirty="0">
                <a:solidFill>
                  <a:srgbClr val="1A1A1A"/>
                </a:solidFill>
                <a:latin typeface="Calibri" pitchFamily="34" charset="0"/>
                <a:ea typeface="Calibri" pitchFamily="34" charset="-122"/>
                <a:cs typeface="Calibri" pitchFamily="34" charset="-120"/>
              </a:rPr>
              <a:t>Suivi des tâches sur Jira ; points d'avancement réguliers.</a:t>
            </a:r>
            <a:endParaRPr lang="en-US" sz="1300" dirty="0"/>
          </a:p>
          <a:p>
            <a:pPr marL="177800" indent="-177800">
              <a:spcAft>
                <a:spcPts val="700"/>
              </a:spcAft>
              <a:buSzPct val="100000"/>
              <a:buChar char="•"/>
            </a:pPr>
            <a:r>
              <a:rPr lang="en-US" sz="1300" dirty="0">
                <a:solidFill>
                  <a:srgbClr val="1A1A1A"/>
                </a:solidFill>
                <a:latin typeface="Calibri" pitchFamily="34" charset="0"/>
                <a:ea typeface="Calibri" pitchFamily="34" charset="-122"/>
                <a:cs typeface="Calibri" pitchFamily="34" charset="-120"/>
              </a:rPr>
              <a:t>Documentation continue ; périmètre limité au MVP.</a:t>
            </a:r>
            <a:endParaRPr lang="en-US" sz="1300" dirty="0"/>
          </a:p>
        </p:txBody>
      </p:sp>
      <p:sp>
        <p:nvSpPr>
          <p:cNvPr id="29" name="Shape 22"/>
          <p:cNvSpPr/>
          <p:nvPr/>
        </p:nvSpPr>
        <p:spPr>
          <a:xfrm>
            <a:off x="6309360" y="3337560"/>
            <a:ext cx="5349240" cy="2331720"/>
          </a:xfrm>
          <a:prstGeom prst="roundRect">
            <a:avLst>
              <a:gd name="adj" fmla="val 4706"/>
            </a:avLst>
          </a:prstGeom>
          <a:solidFill>
            <a:srgbClr val="FFFFFF"/>
          </a:solidFill>
          <a:ln w="12700">
            <a:solidFill>
              <a:srgbClr val="E4E7E2"/>
            </a:solidFill>
            <a:prstDash val="solid"/>
          </a:ln>
          <a:effectLst>
            <a:outerShdw sx="100000" sy="100000" kx="0" ky="0" algn="bl" rotWithShape="0" blurRad="127000" dist="38100" dir="5400000">
              <a:srgbClr val="1A1A1A">
                <a:alpha val="10000"/>
              </a:srgbClr>
            </a:outerShdw>
          </a:effectLst>
        </p:spPr>
      </p:sp>
      <p:sp>
        <p:nvSpPr>
          <p:cNvPr id="30" name="Text 23"/>
          <p:cNvSpPr/>
          <p:nvPr/>
        </p:nvSpPr>
        <p:spPr>
          <a:xfrm>
            <a:off x="6583680" y="3520440"/>
            <a:ext cx="4572000" cy="365760"/>
          </a:xfrm>
          <a:prstGeom prst="rect">
            <a:avLst/>
          </a:prstGeom>
          <a:noFill/>
          <a:ln/>
        </p:spPr>
        <p:txBody>
          <a:bodyPr wrap="square" lIns="0" tIns="0" rIns="0" bIns="0" rtlCol="0" anchor="ctr"/>
          <a:lstStyle/>
          <a:p>
            <a:pPr indent="0" marL="0">
              <a:buNone/>
            </a:pPr>
            <a:r>
              <a:rPr lang="en-US" sz="1600" b="1" dirty="0">
                <a:solidFill>
                  <a:srgbClr val="1A1A1A"/>
                </a:solidFill>
                <a:latin typeface="Calibri" pitchFamily="34" charset="0"/>
                <a:ea typeface="Calibri" pitchFamily="34" charset="-122"/>
                <a:cs typeface="Calibri" pitchFamily="34" charset="-120"/>
              </a:rPr>
              <a:t>Indicateurs de suivi</a:t>
            </a:r>
            <a:endParaRPr lang="en-US" sz="1600" dirty="0"/>
          </a:p>
        </p:txBody>
      </p:sp>
      <p:sp>
        <p:nvSpPr>
          <p:cNvPr id="31" name="Shape 24"/>
          <p:cNvSpPr/>
          <p:nvPr/>
        </p:nvSpPr>
        <p:spPr>
          <a:xfrm>
            <a:off x="6583680" y="4023360"/>
            <a:ext cx="2377440" cy="603504"/>
          </a:xfrm>
          <a:prstGeom prst="roundRect">
            <a:avLst>
              <a:gd name="adj" fmla="val 18182"/>
            </a:avLst>
          </a:prstGeom>
          <a:solidFill>
            <a:srgbClr val="EDF8F0"/>
          </a:solidFill>
          <a:ln/>
        </p:spPr>
      </p:sp>
      <p:sp>
        <p:nvSpPr>
          <p:cNvPr id="32" name="Shape 25"/>
          <p:cNvSpPr/>
          <p:nvPr/>
        </p:nvSpPr>
        <p:spPr>
          <a:xfrm>
            <a:off x="6729984" y="4169664"/>
            <a:ext cx="310896" cy="310896"/>
          </a:xfrm>
          <a:prstGeom prst="ellipse">
            <a:avLst/>
          </a:prstGeom>
          <a:solidFill>
            <a:srgbClr val="008A48"/>
          </a:solidFill>
          <a:ln/>
        </p:spPr>
      </p:sp>
      <p:sp>
        <p:nvSpPr>
          <p:cNvPr id="33" name="Text 26"/>
          <p:cNvSpPr/>
          <p:nvPr/>
        </p:nvSpPr>
        <p:spPr>
          <a:xfrm>
            <a:off x="6729984" y="416966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34" name="Text 27"/>
          <p:cNvSpPr/>
          <p:nvPr/>
        </p:nvSpPr>
        <p:spPr>
          <a:xfrm>
            <a:off x="7132320" y="4023360"/>
            <a:ext cx="1783080" cy="603504"/>
          </a:xfrm>
          <a:prstGeom prst="rect">
            <a:avLst/>
          </a:prstGeom>
          <a:noFill/>
          <a:ln/>
        </p:spPr>
        <p:txBody>
          <a:bodyPr wrap="square" lIns="0" tIns="0" rIns="0" bIns="0" rtlCol="0" anchor="ctr"/>
          <a:lstStyle/>
          <a:p>
            <a:pPr indent="0" marL="0">
              <a:buNone/>
            </a:pPr>
            <a:r>
              <a:rPr lang="en-US" sz="1150" b="1" dirty="0">
                <a:solidFill>
                  <a:srgbClr val="007040"/>
                </a:solidFill>
                <a:latin typeface="Calibri" pitchFamily="34" charset="0"/>
                <a:ea typeface="Calibri" pitchFamily="34" charset="-122"/>
                <a:cs typeface="Calibri" pitchFamily="34" charset="-120"/>
              </a:rPr>
              <a:t>Inscrits &amp; actifs</a:t>
            </a:r>
            <a:endParaRPr lang="en-US" sz="1150" dirty="0"/>
          </a:p>
        </p:txBody>
      </p:sp>
      <p:sp>
        <p:nvSpPr>
          <p:cNvPr id="35" name="Shape 28"/>
          <p:cNvSpPr/>
          <p:nvPr/>
        </p:nvSpPr>
        <p:spPr>
          <a:xfrm>
            <a:off x="9125712" y="4023360"/>
            <a:ext cx="2377440" cy="603504"/>
          </a:xfrm>
          <a:prstGeom prst="roundRect">
            <a:avLst>
              <a:gd name="adj" fmla="val 18182"/>
            </a:avLst>
          </a:prstGeom>
          <a:solidFill>
            <a:srgbClr val="EDF8F0"/>
          </a:solidFill>
          <a:ln/>
        </p:spPr>
      </p:sp>
      <p:sp>
        <p:nvSpPr>
          <p:cNvPr id="36" name="Shape 29"/>
          <p:cNvSpPr/>
          <p:nvPr/>
        </p:nvSpPr>
        <p:spPr>
          <a:xfrm>
            <a:off x="9272016" y="4169664"/>
            <a:ext cx="310896" cy="310896"/>
          </a:xfrm>
          <a:prstGeom prst="ellipse">
            <a:avLst/>
          </a:prstGeom>
          <a:solidFill>
            <a:srgbClr val="008A48"/>
          </a:solidFill>
          <a:ln/>
        </p:spPr>
      </p:sp>
      <p:sp>
        <p:nvSpPr>
          <p:cNvPr id="37" name="Text 30"/>
          <p:cNvSpPr/>
          <p:nvPr/>
        </p:nvSpPr>
        <p:spPr>
          <a:xfrm>
            <a:off x="9272016" y="416966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8" name="Text 31"/>
          <p:cNvSpPr/>
          <p:nvPr/>
        </p:nvSpPr>
        <p:spPr>
          <a:xfrm>
            <a:off x="9674352" y="4023360"/>
            <a:ext cx="1783080" cy="603504"/>
          </a:xfrm>
          <a:prstGeom prst="rect">
            <a:avLst/>
          </a:prstGeom>
          <a:noFill/>
          <a:ln/>
        </p:spPr>
        <p:txBody>
          <a:bodyPr wrap="square" lIns="0" tIns="0" rIns="0" bIns="0" rtlCol="0" anchor="ctr"/>
          <a:lstStyle/>
          <a:p>
            <a:pPr indent="0" marL="0">
              <a:buNone/>
            </a:pPr>
            <a:r>
              <a:rPr lang="en-US" sz="1150" b="1" dirty="0">
                <a:solidFill>
                  <a:srgbClr val="007040"/>
                </a:solidFill>
                <a:latin typeface="Calibri" pitchFamily="34" charset="0"/>
                <a:ea typeface="Calibri" pitchFamily="34" charset="-122"/>
                <a:cs typeface="Calibri" pitchFamily="34" charset="-120"/>
              </a:rPr>
              <a:t>Défis complétés</a:t>
            </a:r>
            <a:endParaRPr lang="en-US" sz="1150" dirty="0"/>
          </a:p>
        </p:txBody>
      </p:sp>
      <p:sp>
        <p:nvSpPr>
          <p:cNvPr id="39" name="Shape 32"/>
          <p:cNvSpPr/>
          <p:nvPr/>
        </p:nvSpPr>
        <p:spPr>
          <a:xfrm>
            <a:off x="6583680" y="4773168"/>
            <a:ext cx="2377440" cy="603504"/>
          </a:xfrm>
          <a:prstGeom prst="roundRect">
            <a:avLst>
              <a:gd name="adj" fmla="val 18182"/>
            </a:avLst>
          </a:prstGeom>
          <a:solidFill>
            <a:srgbClr val="EDF8F0"/>
          </a:solidFill>
          <a:ln/>
        </p:spPr>
      </p:sp>
      <p:sp>
        <p:nvSpPr>
          <p:cNvPr id="40" name="Shape 33"/>
          <p:cNvSpPr/>
          <p:nvPr/>
        </p:nvSpPr>
        <p:spPr>
          <a:xfrm>
            <a:off x="6729984" y="4919472"/>
            <a:ext cx="310896" cy="310896"/>
          </a:xfrm>
          <a:prstGeom prst="ellipse">
            <a:avLst/>
          </a:prstGeom>
          <a:solidFill>
            <a:srgbClr val="008A48"/>
          </a:solidFill>
          <a:ln/>
        </p:spPr>
      </p:sp>
      <p:sp>
        <p:nvSpPr>
          <p:cNvPr id="41" name="Text 34"/>
          <p:cNvSpPr/>
          <p:nvPr/>
        </p:nvSpPr>
        <p:spPr>
          <a:xfrm>
            <a:off x="6729984" y="49194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2" name="Text 35"/>
          <p:cNvSpPr/>
          <p:nvPr/>
        </p:nvSpPr>
        <p:spPr>
          <a:xfrm>
            <a:off x="7132320" y="4773168"/>
            <a:ext cx="1783080" cy="603504"/>
          </a:xfrm>
          <a:prstGeom prst="rect">
            <a:avLst/>
          </a:prstGeom>
          <a:noFill/>
          <a:ln/>
        </p:spPr>
        <p:txBody>
          <a:bodyPr wrap="square" lIns="0" tIns="0" rIns="0" bIns="0" rtlCol="0" anchor="ctr"/>
          <a:lstStyle/>
          <a:p>
            <a:pPr indent="0" marL="0">
              <a:buNone/>
            </a:pPr>
            <a:r>
              <a:rPr lang="en-US" sz="1150" b="1" dirty="0">
                <a:solidFill>
                  <a:srgbClr val="007040"/>
                </a:solidFill>
                <a:latin typeface="Calibri" pitchFamily="34" charset="0"/>
                <a:ea typeface="Calibri" pitchFamily="34" charset="-122"/>
                <a:cs typeface="Calibri" pitchFamily="34" charset="-120"/>
              </a:rPr>
              <a:t>CO2 cumulé économisé</a:t>
            </a:r>
            <a:endParaRPr lang="en-US" sz="1150" dirty="0"/>
          </a:p>
        </p:txBody>
      </p:sp>
      <p:sp>
        <p:nvSpPr>
          <p:cNvPr id="43" name="Shape 36"/>
          <p:cNvSpPr/>
          <p:nvPr/>
        </p:nvSpPr>
        <p:spPr>
          <a:xfrm>
            <a:off x="9125712" y="4773168"/>
            <a:ext cx="2377440" cy="603504"/>
          </a:xfrm>
          <a:prstGeom prst="roundRect">
            <a:avLst>
              <a:gd name="adj" fmla="val 18182"/>
            </a:avLst>
          </a:prstGeom>
          <a:solidFill>
            <a:srgbClr val="EDF8F0"/>
          </a:solidFill>
          <a:ln/>
        </p:spPr>
      </p:sp>
      <p:sp>
        <p:nvSpPr>
          <p:cNvPr id="44" name="Shape 37"/>
          <p:cNvSpPr/>
          <p:nvPr/>
        </p:nvSpPr>
        <p:spPr>
          <a:xfrm>
            <a:off x="9272016" y="4919472"/>
            <a:ext cx="310896" cy="310896"/>
          </a:xfrm>
          <a:prstGeom prst="ellipse">
            <a:avLst/>
          </a:prstGeom>
          <a:solidFill>
            <a:srgbClr val="008A48"/>
          </a:solidFill>
          <a:ln/>
        </p:spPr>
      </p:sp>
      <p:sp>
        <p:nvSpPr>
          <p:cNvPr id="45" name="Text 38"/>
          <p:cNvSpPr/>
          <p:nvPr/>
        </p:nvSpPr>
        <p:spPr>
          <a:xfrm>
            <a:off x="9272016" y="49194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6" name="Text 39"/>
          <p:cNvSpPr/>
          <p:nvPr/>
        </p:nvSpPr>
        <p:spPr>
          <a:xfrm>
            <a:off x="9674352" y="4773168"/>
            <a:ext cx="1783080" cy="603504"/>
          </a:xfrm>
          <a:prstGeom prst="rect">
            <a:avLst/>
          </a:prstGeom>
          <a:noFill/>
          <a:ln/>
        </p:spPr>
        <p:txBody>
          <a:bodyPr wrap="square" lIns="0" tIns="0" rIns="0" bIns="0" rtlCol="0" anchor="ctr"/>
          <a:lstStyle/>
          <a:p>
            <a:pPr indent="0" marL="0">
              <a:buNone/>
            </a:pPr>
            <a:r>
              <a:rPr lang="en-US" sz="1150" b="1" dirty="0">
                <a:solidFill>
                  <a:srgbClr val="007040"/>
                </a:solidFill>
                <a:latin typeface="Calibri" pitchFamily="34" charset="0"/>
                <a:ea typeface="Calibri" pitchFamily="34" charset="-122"/>
                <a:cs typeface="Calibri" pitchFamily="34" charset="-120"/>
              </a:rPr>
              <a:t>Rétention quotidienne</a:t>
            </a:r>
            <a:endParaRPr lang="en-US" sz="1150" dirty="0"/>
          </a:p>
        </p:txBody>
      </p:sp>
      <p:pic>
        <p:nvPicPr>
          <p:cNvPr id="47" name="Image 5" descr="img/leaf_green.png">    </p:cNvPr>
          <p:cNvPicPr>
            <a:picLocks noChangeAspect="1"/>
          </p:cNvPicPr>
          <p:nvPr/>
        </p:nvPicPr>
        <p:blipFill>
          <a:blip r:embed="rId6"/>
          <a:stretch>
            <a:fillRect/>
          </a:stretch>
        </p:blipFill>
        <p:spPr>
          <a:xfrm>
            <a:off x="502920" y="6437376"/>
            <a:ext cx="182880" cy="182880"/>
          </a:xfrm>
          <a:prstGeom prst="rect">
            <a:avLst/>
          </a:prstGeom>
        </p:spPr>
      </p:pic>
      <p:sp>
        <p:nvSpPr>
          <p:cNvPr id="48" name="Text 40"/>
          <p:cNvSpPr/>
          <p:nvPr/>
        </p:nvSpPr>
        <p:spPr>
          <a:xfrm>
            <a:off x="731520" y="6364224"/>
            <a:ext cx="1828800" cy="320040"/>
          </a:xfrm>
          <a:prstGeom prst="rect">
            <a:avLst/>
          </a:prstGeom>
          <a:noFill/>
          <a:ln/>
        </p:spPr>
        <p:txBody>
          <a:bodyPr wrap="square" rtlCol="0" anchor="ctr"/>
          <a:lstStyle/>
          <a:p>
            <a:pPr indent="0" marL="0">
              <a:buNone/>
            </a:pPr>
            <a:r>
              <a:rPr lang="en-US" sz="1100" b="1" dirty="0">
                <a:solidFill>
                  <a:srgbClr val="6B6F6A"/>
                </a:solidFill>
                <a:latin typeface="Calibri" pitchFamily="34" charset="0"/>
                <a:ea typeface="Calibri" pitchFamily="34" charset="-122"/>
                <a:cs typeface="Calibri" pitchFamily="34" charset="-120"/>
              </a:rPr>
              <a:t>EcoTrack</a:t>
            </a:r>
            <a:endParaRPr lang="en-US" sz="1100" dirty="0"/>
          </a:p>
        </p:txBody>
      </p:sp>
      <p:sp>
        <p:nvSpPr>
          <p:cNvPr id="49" name="Text 41"/>
          <p:cNvSpPr/>
          <p:nvPr/>
        </p:nvSpPr>
        <p:spPr>
          <a:xfrm>
            <a:off x="11183112" y="6364224"/>
            <a:ext cx="502920" cy="320040"/>
          </a:xfrm>
          <a:prstGeom prst="rect">
            <a:avLst/>
          </a:prstGeom>
          <a:noFill/>
          <a:ln/>
        </p:spPr>
        <p:txBody>
          <a:bodyPr wrap="square" rtlCol="0" anchor="ctr"/>
          <a:lstStyle/>
          <a:p>
            <a:pPr algn="r" indent="0" marL="0">
              <a:buNone/>
            </a:pPr>
            <a:r>
              <a:rPr lang="en-US" sz="1100" dirty="0">
                <a:solidFill>
                  <a:srgbClr val="6B6F6A"/>
                </a:solidFill>
                <a:latin typeface="Calibri" pitchFamily="34" charset="0"/>
                <a:ea typeface="Calibri" pitchFamily="34" charset="-122"/>
                <a:cs typeface="Calibri"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CF9"/>
        </a:solidFill>
      </p:bgPr>
    </p:bg>
    <p:spTree>
      <p:nvGrpSpPr>
        <p:cNvPr id="1" name=""/>
        <p:cNvGrpSpPr/>
        <p:nvPr/>
      </p:nvGrpSpPr>
      <p:grpSpPr>
        <a:xfrm>
          <a:off x="0" y="0"/>
          <a:ext cx="0" cy="0"/>
          <a:chOff x="0" y="0"/>
          <a:chExt cx="0" cy="0"/>
        </a:xfrm>
      </p:grpSpPr>
      <p:sp>
        <p:nvSpPr>
          <p:cNvPr id="2" name="Text 0"/>
          <p:cNvSpPr/>
          <p:nvPr/>
        </p:nvSpPr>
        <p:spPr>
          <a:xfrm>
            <a:off x="548640" y="384048"/>
            <a:ext cx="10058400" cy="274320"/>
          </a:xfrm>
          <a:prstGeom prst="rect">
            <a:avLst/>
          </a:prstGeom>
          <a:noFill/>
          <a:ln/>
        </p:spPr>
        <p:txBody>
          <a:bodyPr wrap="square" lIns="0" tIns="0" rIns="0" bIns="0" rtlCol="0" anchor="ctr"/>
          <a:lstStyle/>
          <a:p>
            <a:pPr indent="0" marL="0">
              <a:buNone/>
            </a:pPr>
            <a:r>
              <a:rPr lang="en-US" sz="1300" b="1" spc="200" kern="0" dirty="0">
                <a:solidFill>
                  <a:srgbClr val="008A48"/>
                </a:solidFill>
                <a:latin typeface="Calibri" pitchFamily="34" charset="0"/>
                <a:ea typeface="Calibri" pitchFamily="34" charset="-122"/>
                <a:cs typeface="Calibri" pitchFamily="34" charset="-120"/>
              </a:rPr>
              <a:t>08 · MODÈLE ÉCONOMIQUE</a:t>
            </a:r>
            <a:endParaRPr lang="en-US" sz="1300" dirty="0"/>
          </a:p>
        </p:txBody>
      </p:sp>
      <p:sp>
        <p:nvSpPr>
          <p:cNvPr id="3" name="Text 1"/>
          <p:cNvSpPr/>
          <p:nvPr/>
        </p:nvSpPr>
        <p:spPr>
          <a:xfrm>
            <a:off x="530352" y="658368"/>
            <a:ext cx="11064240" cy="685800"/>
          </a:xfrm>
          <a:prstGeom prst="rect">
            <a:avLst/>
          </a:prstGeom>
          <a:noFill/>
          <a:ln/>
        </p:spPr>
        <p:txBody>
          <a:bodyPr wrap="square" lIns="0" tIns="0" rIns="0" bIns="0" rtlCol="0" anchor="ctr"/>
          <a:lstStyle/>
          <a:p>
            <a:pPr indent="0" marL="0">
              <a:buNone/>
            </a:pPr>
            <a:r>
              <a:rPr lang="en-US" sz="3000" b="1" dirty="0">
                <a:solidFill>
                  <a:srgbClr val="1A1A1A"/>
                </a:solidFill>
                <a:latin typeface="Calibri" pitchFamily="34" charset="0"/>
                <a:ea typeface="Calibri" pitchFamily="34" charset="-122"/>
                <a:cs typeface="Calibri" pitchFamily="34" charset="-120"/>
              </a:rPr>
              <a:t>Gratuit au lancement, diversifié ensuite</a:t>
            </a:r>
            <a:endParaRPr lang="en-US" sz="3000" dirty="0"/>
          </a:p>
        </p:txBody>
      </p:sp>
      <p:sp>
        <p:nvSpPr>
          <p:cNvPr id="4" name="Shape 2"/>
          <p:cNvSpPr/>
          <p:nvPr/>
        </p:nvSpPr>
        <p:spPr>
          <a:xfrm>
            <a:off x="548640" y="1691640"/>
            <a:ext cx="3383280" cy="3931920"/>
          </a:xfrm>
          <a:prstGeom prst="roundRect">
            <a:avLst>
              <a:gd name="adj" fmla="val 3243"/>
            </a:avLst>
          </a:prstGeom>
          <a:solidFill>
            <a:srgbClr val="EDF8F0"/>
          </a:solidFill>
          <a:ln w="12700">
            <a:solidFill>
              <a:srgbClr val="E4E7E2"/>
            </a:solidFill>
            <a:prstDash val="solid"/>
          </a:ln>
          <a:effectLst>
            <a:outerShdw sx="100000" sy="100000" kx="0" ky="0" algn="bl" rotWithShape="0" blurRad="127000" dist="38100" dir="5400000">
              <a:srgbClr val="1A1A1A">
                <a:alpha val="10000"/>
              </a:srgbClr>
            </a:outerShdw>
          </a:effectLst>
        </p:spPr>
      </p:sp>
      <p:sp>
        <p:nvSpPr>
          <p:cNvPr id="5" name="Shape 3"/>
          <p:cNvSpPr/>
          <p:nvPr/>
        </p:nvSpPr>
        <p:spPr>
          <a:xfrm>
            <a:off x="868680" y="2011680"/>
            <a:ext cx="777240" cy="777240"/>
          </a:xfrm>
          <a:prstGeom prst="ellipse">
            <a:avLst/>
          </a:prstGeom>
          <a:solidFill>
            <a:srgbClr val="008A48"/>
          </a:solidFill>
          <a:ln/>
          <a:effectLst>
            <a:outerShdw sx="100000" sy="100000" kx="0" ky="0" algn="bl" rotWithShape="0" blurRad="88900" dist="25400" dir="5400000">
              <a:srgbClr val="06402A">
                <a:alpha val="16000"/>
              </a:srgbClr>
            </a:outerShdw>
          </a:effectLst>
        </p:spPr>
      </p:sp>
      <p:pic>
        <p:nvPicPr>
          <p:cNvPr id="6" name="Image 0" descr="img/horn_white.png">    </p:cNvPr>
          <p:cNvPicPr>
            <a:picLocks noChangeAspect="1"/>
          </p:cNvPicPr>
          <p:nvPr/>
        </p:nvPicPr>
        <p:blipFill>
          <a:blip r:embed="rId1"/>
          <a:stretch>
            <a:fillRect/>
          </a:stretch>
        </p:blipFill>
        <p:spPr>
          <a:xfrm>
            <a:off x="1062990" y="2205990"/>
            <a:ext cx="388620" cy="388620"/>
          </a:xfrm>
          <a:prstGeom prst="rect">
            <a:avLst/>
          </a:prstGeom>
        </p:spPr>
      </p:pic>
      <p:sp>
        <p:nvSpPr>
          <p:cNvPr id="7" name="Text 4"/>
          <p:cNvSpPr/>
          <p:nvPr/>
        </p:nvSpPr>
        <p:spPr>
          <a:xfrm>
            <a:off x="548640" y="2926080"/>
            <a:ext cx="3383280" cy="365760"/>
          </a:xfrm>
          <a:prstGeom prst="rect">
            <a:avLst/>
          </a:prstGeom>
          <a:noFill/>
          <a:ln/>
        </p:spPr>
        <p:txBody>
          <a:bodyPr wrap="square" lIns="0" tIns="0" rIns="0" bIns="0" rtlCol="0" anchor="ctr"/>
          <a:lstStyle/>
          <a:p>
            <a:pPr algn="ctr" indent="0" marL="0">
              <a:buNone/>
            </a:pPr>
            <a:r>
              <a:rPr lang="en-US" sz="1600" b="1" dirty="0">
                <a:solidFill>
                  <a:srgbClr val="007040"/>
                </a:solidFill>
                <a:latin typeface="Calibri" pitchFamily="34" charset="0"/>
                <a:ea typeface="Calibri" pitchFamily="34" charset="-122"/>
                <a:cs typeface="Calibri" pitchFamily="34" charset="-120"/>
              </a:rPr>
              <a:t>Au lancement</a:t>
            </a:r>
            <a:endParaRPr lang="en-US" sz="1600" dirty="0"/>
          </a:p>
        </p:txBody>
      </p:sp>
      <p:sp>
        <p:nvSpPr>
          <p:cNvPr id="8" name="Text 5"/>
          <p:cNvSpPr/>
          <p:nvPr/>
        </p:nvSpPr>
        <p:spPr>
          <a:xfrm>
            <a:off x="777240" y="3337560"/>
            <a:ext cx="2926080" cy="1463040"/>
          </a:xfrm>
          <a:prstGeom prst="rect">
            <a:avLst/>
          </a:prstGeom>
          <a:noFill/>
          <a:ln/>
        </p:spPr>
        <p:txBody>
          <a:bodyPr wrap="square" lIns="0" tIns="0" rIns="0" bIns="0" rtlCol="0" anchor="ctr"/>
          <a:lstStyle/>
          <a:p>
            <a:pPr algn="ctr" indent="0" marL="0">
              <a:buNone/>
            </a:pPr>
            <a:r>
              <a:rPr lang="en-US" sz="1300" dirty="0">
                <a:solidFill>
                  <a:srgbClr val="1A1A1A"/>
                </a:solidFill>
                <a:latin typeface="Calibri" pitchFamily="34" charset="0"/>
                <a:ea typeface="Calibri" pitchFamily="34" charset="-122"/>
                <a:cs typeface="Calibri" pitchFamily="34" charset="-120"/>
              </a:rPr>
              <a:t>Régie publicitaire Google AdSense — simple à intégrer pour un service grand public gratuit.</a:t>
            </a:r>
            <a:endParaRPr lang="en-US" sz="1300" dirty="0"/>
          </a:p>
        </p:txBody>
      </p:sp>
      <p:pic>
        <p:nvPicPr>
          <p:cNvPr id="9" name="Image 1" descr="img/arrow_green.png">    </p:cNvPr>
          <p:cNvPicPr>
            <a:picLocks noChangeAspect="1"/>
          </p:cNvPicPr>
          <p:nvPr/>
        </p:nvPicPr>
        <p:blipFill>
          <a:blip r:embed="rId2"/>
          <a:stretch>
            <a:fillRect/>
          </a:stretch>
        </p:blipFill>
        <p:spPr>
          <a:xfrm>
            <a:off x="4069080" y="3429000"/>
            <a:ext cx="502920" cy="502920"/>
          </a:xfrm>
          <a:prstGeom prst="rect">
            <a:avLst/>
          </a:prstGeom>
        </p:spPr>
      </p:pic>
      <p:sp>
        <p:nvSpPr>
          <p:cNvPr id="10" name="Text 6"/>
          <p:cNvSpPr/>
          <p:nvPr/>
        </p:nvSpPr>
        <p:spPr>
          <a:xfrm>
            <a:off x="4709160" y="1691640"/>
            <a:ext cx="6949440" cy="365760"/>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Pistes de diversification</a:t>
            </a:r>
            <a:endParaRPr lang="en-US" sz="1500" dirty="0"/>
          </a:p>
        </p:txBody>
      </p:sp>
      <p:sp>
        <p:nvSpPr>
          <p:cNvPr id="11" name="Shape 7"/>
          <p:cNvSpPr/>
          <p:nvPr/>
        </p:nvSpPr>
        <p:spPr>
          <a:xfrm>
            <a:off x="4709160" y="2148840"/>
            <a:ext cx="6949440" cy="1024128"/>
          </a:xfrm>
          <a:prstGeom prst="roundRect">
            <a:avLst>
              <a:gd name="adj" fmla="val 10714"/>
            </a:avLst>
          </a:prstGeom>
          <a:solidFill>
            <a:srgbClr val="FFFFFF"/>
          </a:solidFill>
          <a:ln w="12700">
            <a:solidFill>
              <a:srgbClr val="E4E7E2"/>
            </a:solidFill>
            <a:prstDash val="solid"/>
          </a:ln>
          <a:effectLst>
            <a:outerShdw sx="100000" sy="100000" kx="0" ky="0" algn="bl" rotWithShape="0" blurRad="127000" dist="38100" dir="5400000">
              <a:srgbClr val="1A1A1A">
                <a:alpha val="10000"/>
              </a:srgbClr>
            </a:outerShdw>
          </a:effectLst>
        </p:spPr>
      </p:sp>
      <p:sp>
        <p:nvSpPr>
          <p:cNvPr id="12" name="Shape 8"/>
          <p:cNvSpPr/>
          <p:nvPr/>
        </p:nvSpPr>
        <p:spPr>
          <a:xfrm>
            <a:off x="4937760" y="2386584"/>
            <a:ext cx="548640" cy="548640"/>
          </a:xfrm>
          <a:prstGeom prst="ellipse">
            <a:avLst/>
          </a:prstGeom>
          <a:solidFill>
            <a:srgbClr val="008A48"/>
          </a:solidFill>
          <a:ln/>
          <a:effectLst>
            <a:outerShdw sx="100000" sy="100000" kx="0" ky="0" algn="bl" rotWithShape="0" blurRad="88900" dist="25400" dir="5400000">
              <a:srgbClr val="06402A">
                <a:alpha val="16000"/>
              </a:srgbClr>
            </a:outerShdw>
          </a:effectLst>
        </p:spPr>
      </p:sp>
      <p:pic>
        <p:nvPicPr>
          <p:cNvPr id="13" name="Image 2" descr="img/crown_white.png">    </p:cNvPr>
          <p:cNvPicPr>
            <a:picLocks noChangeAspect="1"/>
          </p:cNvPicPr>
          <p:nvPr/>
        </p:nvPicPr>
        <p:blipFill>
          <a:blip r:embed="rId3"/>
          <a:stretch>
            <a:fillRect/>
          </a:stretch>
        </p:blipFill>
        <p:spPr>
          <a:xfrm>
            <a:off x="5074920" y="2523744"/>
            <a:ext cx="274320" cy="274320"/>
          </a:xfrm>
          <a:prstGeom prst="rect">
            <a:avLst/>
          </a:prstGeom>
        </p:spPr>
      </p:pic>
      <p:sp>
        <p:nvSpPr>
          <p:cNvPr id="14" name="Text 9"/>
          <p:cNvSpPr/>
          <p:nvPr/>
        </p:nvSpPr>
        <p:spPr>
          <a:xfrm>
            <a:off x="5669280" y="2295144"/>
            <a:ext cx="5760720" cy="365760"/>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Offre premium</a:t>
            </a:r>
            <a:endParaRPr lang="en-US" sz="1500" dirty="0"/>
          </a:p>
        </p:txBody>
      </p:sp>
      <p:sp>
        <p:nvSpPr>
          <p:cNvPr id="15" name="Text 10"/>
          <p:cNvSpPr/>
          <p:nvPr/>
        </p:nvSpPr>
        <p:spPr>
          <a:xfrm>
            <a:off x="5669280" y="2660904"/>
            <a:ext cx="5760720" cy="411480"/>
          </a:xfrm>
          <a:prstGeom prst="rect">
            <a:avLst/>
          </a:prstGeom>
          <a:noFill/>
          <a:ln/>
        </p:spPr>
        <p:txBody>
          <a:bodyPr wrap="square" lIns="0" tIns="0" rIns="0" bIns="0" rtlCol="0" anchor="ctr"/>
          <a:lstStyle/>
          <a:p>
            <a:pPr indent="0" marL="0">
              <a:buNone/>
            </a:pPr>
            <a:r>
              <a:rPr lang="en-US" sz="1200" dirty="0">
                <a:solidFill>
                  <a:srgbClr val="6B6F6A"/>
                </a:solidFill>
                <a:latin typeface="Calibri" pitchFamily="34" charset="0"/>
                <a:ea typeface="Calibri" pitchFamily="34" charset="-122"/>
                <a:cs typeface="Calibri" pitchFamily="34" charset="-120"/>
              </a:rPr>
              <a:t>Statistiques avancées, historique étendu et navigation sans publicité.</a:t>
            </a:r>
            <a:endParaRPr lang="en-US" sz="1200" dirty="0"/>
          </a:p>
        </p:txBody>
      </p:sp>
      <p:sp>
        <p:nvSpPr>
          <p:cNvPr id="16" name="Shape 11"/>
          <p:cNvSpPr/>
          <p:nvPr/>
        </p:nvSpPr>
        <p:spPr>
          <a:xfrm>
            <a:off x="4709160" y="3310128"/>
            <a:ext cx="6949440" cy="1024128"/>
          </a:xfrm>
          <a:prstGeom prst="roundRect">
            <a:avLst>
              <a:gd name="adj" fmla="val 10714"/>
            </a:avLst>
          </a:prstGeom>
          <a:solidFill>
            <a:srgbClr val="FFFFFF"/>
          </a:solidFill>
          <a:ln w="12700">
            <a:solidFill>
              <a:srgbClr val="E4E7E2"/>
            </a:solidFill>
            <a:prstDash val="solid"/>
          </a:ln>
          <a:effectLst>
            <a:outerShdw sx="100000" sy="100000" kx="0" ky="0" algn="bl" rotWithShape="0" blurRad="127000" dist="38100" dir="5400000">
              <a:srgbClr val="1A1A1A">
                <a:alpha val="10000"/>
              </a:srgbClr>
            </a:outerShdw>
          </a:effectLst>
        </p:spPr>
      </p:sp>
      <p:sp>
        <p:nvSpPr>
          <p:cNvPr id="17" name="Shape 12"/>
          <p:cNvSpPr/>
          <p:nvPr/>
        </p:nvSpPr>
        <p:spPr>
          <a:xfrm>
            <a:off x="4937760" y="3547872"/>
            <a:ext cx="548640" cy="548640"/>
          </a:xfrm>
          <a:prstGeom prst="ellipse">
            <a:avLst/>
          </a:prstGeom>
          <a:solidFill>
            <a:srgbClr val="008A48"/>
          </a:solidFill>
          <a:ln/>
          <a:effectLst>
            <a:outerShdw sx="100000" sy="100000" kx="0" ky="0" algn="bl" rotWithShape="0" blurRad="88900" dist="25400" dir="5400000">
              <a:srgbClr val="06402A">
                <a:alpha val="16000"/>
              </a:srgbClr>
            </a:outerShdw>
          </a:effectLst>
        </p:spPr>
      </p:sp>
      <p:pic>
        <p:nvPicPr>
          <p:cNvPr id="18" name="Image 3" descr="img/users_white.png">    </p:cNvPr>
          <p:cNvPicPr>
            <a:picLocks noChangeAspect="1"/>
          </p:cNvPicPr>
          <p:nvPr/>
        </p:nvPicPr>
        <p:blipFill>
          <a:blip r:embed="rId4"/>
          <a:stretch>
            <a:fillRect/>
          </a:stretch>
        </p:blipFill>
        <p:spPr>
          <a:xfrm>
            <a:off x="5074920" y="3685032"/>
            <a:ext cx="274320" cy="274320"/>
          </a:xfrm>
          <a:prstGeom prst="rect">
            <a:avLst/>
          </a:prstGeom>
        </p:spPr>
      </p:pic>
      <p:sp>
        <p:nvSpPr>
          <p:cNvPr id="19" name="Text 13"/>
          <p:cNvSpPr/>
          <p:nvPr/>
        </p:nvSpPr>
        <p:spPr>
          <a:xfrm>
            <a:off x="5669280" y="3456432"/>
            <a:ext cx="5760720" cy="365760"/>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Espace entreprise / RSE</a:t>
            </a:r>
            <a:endParaRPr lang="en-US" sz="1500" dirty="0"/>
          </a:p>
        </p:txBody>
      </p:sp>
      <p:sp>
        <p:nvSpPr>
          <p:cNvPr id="20" name="Text 14"/>
          <p:cNvSpPr/>
          <p:nvPr/>
        </p:nvSpPr>
        <p:spPr>
          <a:xfrm>
            <a:off x="5669280" y="3822192"/>
            <a:ext cx="5760720" cy="411480"/>
          </a:xfrm>
          <a:prstGeom prst="rect">
            <a:avLst/>
          </a:prstGeom>
          <a:noFill/>
          <a:ln/>
        </p:spPr>
        <p:txBody>
          <a:bodyPr wrap="square" lIns="0" tIns="0" rIns="0" bIns="0" rtlCol="0" anchor="ctr"/>
          <a:lstStyle/>
          <a:p>
            <a:pPr indent="0" marL="0">
              <a:buNone/>
            </a:pPr>
            <a:r>
              <a:rPr lang="en-US" sz="1200" dirty="0">
                <a:solidFill>
                  <a:srgbClr val="6B6F6A"/>
                </a:solidFill>
                <a:latin typeface="Calibri" pitchFamily="34" charset="0"/>
                <a:ea typeface="Calibri" pitchFamily="34" charset="-122"/>
                <a:cs typeface="Calibri" pitchFamily="34" charset="-120"/>
              </a:rPr>
              <a:t>Engager des équipes autour de défis collectifs (cible B2B).</a:t>
            </a:r>
            <a:endParaRPr lang="en-US" sz="1200" dirty="0"/>
          </a:p>
        </p:txBody>
      </p:sp>
      <p:sp>
        <p:nvSpPr>
          <p:cNvPr id="21" name="Shape 15"/>
          <p:cNvSpPr/>
          <p:nvPr/>
        </p:nvSpPr>
        <p:spPr>
          <a:xfrm>
            <a:off x="4709160" y="4471416"/>
            <a:ext cx="6949440" cy="1024128"/>
          </a:xfrm>
          <a:prstGeom prst="roundRect">
            <a:avLst>
              <a:gd name="adj" fmla="val 10714"/>
            </a:avLst>
          </a:prstGeom>
          <a:solidFill>
            <a:srgbClr val="FFFFFF"/>
          </a:solidFill>
          <a:ln w="12700">
            <a:solidFill>
              <a:srgbClr val="E4E7E2"/>
            </a:solidFill>
            <a:prstDash val="solid"/>
          </a:ln>
          <a:effectLst>
            <a:outerShdw sx="100000" sy="100000" kx="0" ky="0" algn="bl" rotWithShape="0" blurRad="127000" dist="38100" dir="5400000">
              <a:srgbClr val="1A1A1A">
                <a:alpha val="10000"/>
              </a:srgbClr>
            </a:outerShdw>
          </a:effectLst>
        </p:spPr>
      </p:sp>
      <p:sp>
        <p:nvSpPr>
          <p:cNvPr id="22" name="Shape 16"/>
          <p:cNvSpPr/>
          <p:nvPr/>
        </p:nvSpPr>
        <p:spPr>
          <a:xfrm>
            <a:off x="4937760" y="4709160"/>
            <a:ext cx="548640" cy="548640"/>
          </a:xfrm>
          <a:prstGeom prst="ellipse">
            <a:avLst/>
          </a:prstGeom>
          <a:solidFill>
            <a:srgbClr val="008A48"/>
          </a:solidFill>
          <a:ln/>
          <a:effectLst>
            <a:outerShdw sx="100000" sy="100000" kx="0" ky="0" algn="bl" rotWithShape="0" blurRad="88900" dist="25400" dir="5400000">
              <a:srgbClr val="06402A">
                <a:alpha val="16000"/>
              </a:srgbClr>
            </a:outerShdw>
          </a:effectLst>
        </p:spPr>
      </p:sp>
      <p:pic>
        <p:nvPicPr>
          <p:cNvPr id="23" name="Image 4" descr="img/hands_white.png">    </p:cNvPr>
          <p:cNvPicPr>
            <a:picLocks noChangeAspect="1"/>
          </p:cNvPicPr>
          <p:nvPr/>
        </p:nvPicPr>
        <p:blipFill>
          <a:blip r:embed="rId5"/>
          <a:stretch>
            <a:fillRect/>
          </a:stretch>
        </p:blipFill>
        <p:spPr>
          <a:xfrm>
            <a:off x="5074920" y="4846320"/>
            <a:ext cx="274320" cy="274320"/>
          </a:xfrm>
          <a:prstGeom prst="rect">
            <a:avLst/>
          </a:prstGeom>
        </p:spPr>
      </p:pic>
      <p:sp>
        <p:nvSpPr>
          <p:cNvPr id="24" name="Text 17"/>
          <p:cNvSpPr/>
          <p:nvPr/>
        </p:nvSpPr>
        <p:spPr>
          <a:xfrm>
            <a:off x="5669280" y="4617720"/>
            <a:ext cx="5760720" cy="365760"/>
          </a:xfrm>
          <a:prstGeom prst="rect">
            <a:avLst/>
          </a:prstGeom>
          <a:noFill/>
          <a:ln/>
        </p:spPr>
        <p:txBody>
          <a:bodyPr wrap="square" lIns="0" tIns="0" rIns="0" bIns="0" rtlCol="0" anchor="ctr"/>
          <a:lstStyle/>
          <a:p>
            <a:pPr indent="0" marL="0">
              <a:buNone/>
            </a:pPr>
            <a:r>
              <a:rPr lang="en-US" sz="1500" b="1" dirty="0">
                <a:solidFill>
                  <a:srgbClr val="1A1A1A"/>
                </a:solidFill>
                <a:latin typeface="Calibri" pitchFamily="34" charset="0"/>
                <a:ea typeface="Calibri" pitchFamily="34" charset="-122"/>
                <a:cs typeface="Calibri" pitchFamily="34" charset="-120"/>
              </a:rPr>
              <a:t>Partenariats</a:t>
            </a:r>
            <a:endParaRPr lang="en-US" sz="1500" dirty="0"/>
          </a:p>
        </p:txBody>
      </p:sp>
      <p:sp>
        <p:nvSpPr>
          <p:cNvPr id="25" name="Text 18"/>
          <p:cNvSpPr/>
          <p:nvPr/>
        </p:nvSpPr>
        <p:spPr>
          <a:xfrm>
            <a:off x="5669280" y="4983480"/>
            <a:ext cx="5760720" cy="411480"/>
          </a:xfrm>
          <a:prstGeom prst="rect">
            <a:avLst/>
          </a:prstGeom>
          <a:noFill/>
          <a:ln/>
        </p:spPr>
        <p:txBody>
          <a:bodyPr wrap="square" lIns="0" tIns="0" rIns="0" bIns="0" rtlCol="0" anchor="ctr"/>
          <a:lstStyle/>
          <a:p>
            <a:pPr indent="0" marL="0">
              <a:buNone/>
            </a:pPr>
            <a:r>
              <a:rPr lang="en-US" sz="1200" dirty="0">
                <a:solidFill>
                  <a:srgbClr val="6B6F6A"/>
                </a:solidFill>
                <a:latin typeface="Calibri" pitchFamily="34" charset="0"/>
                <a:ea typeface="Calibri" pitchFamily="34" charset="-122"/>
                <a:cs typeface="Calibri" pitchFamily="34" charset="-120"/>
              </a:rPr>
              <a:t>Avec des acteurs de la transition écologique.</a:t>
            </a:r>
            <a:endParaRPr lang="en-US" sz="1200" dirty="0"/>
          </a:p>
        </p:txBody>
      </p:sp>
      <p:pic>
        <p:nvPicPr>
          <p:cNvPr id="26" name="Image 5" descr="img/leaf_green.png">    </p:cNvPr>
          <p:cNvPicPr>
            <a:picLocks noChangeAspect="1"/>
          </p:cNvPicPr>
          <p:nvPr/>
        </p:nvPicPr>
        <p:blipFill>
          <a:blip r:embed="rId6"/>
          <a:stretch>
            <a:fillRect/>
          </a:stretch>
        </p:blipFill>
        <p:spPr>
          <a:xfrm>
            <a:off x="502920" y="6437376"/>
            <a:ext cx="182880" cy="182880"/>
          </a:xfrm>
          <a:prstGeom prst="rect">
            <a:avLst/>
          </a:prstGeom>
        </p:spPr>
      </p:pic>
      <p:sp>
        <p:nvSpPr>
          <p:cNvPr id="27" name="Text 19"/>
          <p:cNvSpPr/>
          <p:nvPr/>
        </p:nvSpPr>
        <p:spPr>
          <a:xfrm>
            <a:off x="731520" y="6364224"/>
            <a:ext cx="1828800" cy="320040"/>
          </a:xfrm>
          <a:prstGeom prst="rect">
            <a:avLst/>
          </a:prstGeom>
          <a:noFill/>
          <a:ln/>
        </p:spPr>
        <p:txBody>
          <a:bodyPr wrap="square" rtlCol="0" anchor="ctr"/>
          <a:lstStyle/>
          <a:p>
            <a:pPr indent="0" marL="0">
              <a:buNone/>
            </a:pPr>
            <a:r>
              <a:rPr lang="en-US" sz="1100" b="1" dirty="0">
                <a:solidFill>
                  <a:srgbClr val="6B6F6A"/>
                </a:solidFill>
                <a:latin typeface="Calibri" pitchFamily="34" charset="0"/>
                <a:ea typeface="Calibri" pitchFamily="34" charset="-122"/>
                <a:cs typeface="Calibri" pitchFamily="34" charset="-120"/>
              </a:rPr>
              <a:t>EcoTrack</a:t>
            </a:r>
            <a:endParaRPr lang="en-US" sz="1100" dirty="0"/>
          </a:p>
        </p:txBody>
      </p:sp>
      <p:sp>
        <p:nvSpPr>
          <p:cNvPr id="28" name="Text 20"/>
          <p:cNvSpPr/>
          <p:nvPr/>
        </p:nvSpPr>
        <p:spPr>
          <a:xfrm>
            <a:off x="11183112" y="6364224"/>
            <a:ext cx="502920" cy="320040"/>
          </a:xfrm>
          <a:prstGeom prst="rect">
            <a:avLst/>
          </a:prstGeom>
          <a:noFill/>
          <a:ln/>
        </p:spPr>
        <p:txBody>
          <a:bodyPr wrap="square" rtlCol="0" anchor="ctr"/>
          <a:lstStyle/>
          <a:p>
            <a:pPr algn="r" indent="0" marL="0">
              <a:buNone/>
            </a:pPr>
            <a:r>
              <a:rPr lang="en-US" sz="1100" dirty="0">
                <a:solidFill>
                  <a:srgbClr val="6B6F6A"/>
                </a:solidFill>
                <a:latin typeface="Calibri" pitchFamily="34" charset="0"/>
                <a:ea typeface="Calibri" pitchFamily="34" charset="-122"/>
                <a:cs typeface="Calibri"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6402A"/>
        </a:solidFill>
      </p:bgPr>
    </p:bg>
    <p:spTree>
      <p:nvGrpSpPr>
        <p:cNvPr id="1" name=""/>
        <p:cNvGrpSpPr/>
        <p:nvPr/>
      </p:nvGrpSpPr>
      <p:grpSpPr>
        <a:xfrm>
          <a:off x="0" y="0"/>
          <a:ext cx="0" cy="0"/>
          <a:chOff x="0" y="0"/>
          <a:chExt cx="0" cy="0"/>
        </a:xfrm>
      </p:grpSpPr>
      <p:sp>
        <p:nvSpPr>
          <p:cNvPr id="2" name="Shape 0"/>
          <p:cNvSpPr/>
          <p:nvPr/>
        </p:nvSpPr>
        <p:spPr>
          <a:xfrm>
            <a:off x="8961120" y="-2194560"/>
            <a:ext cx="5669280" cy="5669280"/>
          </a:xfrm>
          <a:prstGeom prst="ellipse">
            <a:avLst/>
          </a:prstGeom>
          <a:solidFill>
            <a:srgbClr val="0A4F34">
              <a:alpha val="60000"/>
            </a:srgbClr>
          </a:solidFill>
          <a:ln/>
        </p:spPr>
      </p:sp>
      <p:sp>
        <p:nvSpPr>
          <p:cNvPr id="3" name="Shape 1"/>
          <p:cNvSpPr/>
          <p:nvPr/>
        </p:nvSpPr>
        <p:spPr>
          <a:xfrm>
            <a:off x="-1645920" y="4389120"/>
            <a:ext cx="4023360" cy="4023360"/>
          </a:xfrm>
          <a:prstGeom prst="ellipse">
            <a:avLst/>
          </a:prstGeom>
          <a:solidFill>
            <a:srgbClr val="0A4F34">
              <a:alpha val="50000"/>
            </a:srgbClr>
          </a:solidFill>
          <a:ln/>
        </p:spPr>
      </p:sp>
      <p:sp>
        <p:nvSpPr>
          <p:cNvPr id="4" name="Text 2"/>
          <p:cNvSpPr/>
          <p:nvPr/>
        </p:nvSpPr>
        <p:spPr>
          <a:xfrm>
            <a:off x="777240" y="548640"/>
            <a:ext cx="10058400" cy="320040"/>
          </a:xfrm>
          <a:prstGeom prst="rect">
            <a:avLst/>
          </a:prstGeom>
          <a:noFill/>
          <a:ln/>
        </p:spPr>
        <p:txBody>
          <a:bodyPr wrap="square" lIns="0" tIns="0" rIns="0" bIns="0" rtlCol="0" anchor="ctr"/>
          <a:lstStyle/>
          <a:p>
            <a:pPr indent="0" marL="0">
              <a:buNone/>
            </a:pPr>
            <a:r>
              <a:rPr lang="en-US" sz="1300" b="1" spc="200" kern="0" dirty="0">
                <a:solidFill>
                  <a:srgbClr val="7FD3A6"/>
                </a:solidFill>
                <a:latin typeface="Calibri" pitchFamily="34" charset="0"/>
                <a:ea typeface="Calibri" pitchFamily="34" charset="-122"/>
                <a:cs typeface="Calibri" pitchFamily="34" charset="-120"/>
              </a:rPr>
              <a:t>BILAN &amp; PERSPECTIVES</a:t>
            </a:r>
            <a:endParaRPr lang="en-US" sz="1300" dirty="0"/>
          </a:p>
        </p:txBody>
      </p:sp>
      <p:sp>
        <p:nvSpPr>
          <p:cNvPr id="5" name="Text 3"/>
          <p:cNvSpPr/>
          <p:nvPr/>
        </p:nvSpPr>
        <p:spPr>
          <a:xfrm>
            <a:off x="758952" y="868680"/>
            <a:ext cx="10515600" cy="64008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Un MVP fonctionnel, des bases solides</a:t>
            </a:r>
            <a:endParaRPr lang="en-US" sz="3000" dirty="0"/>
          </a:p>
        </p:txBody>
      </p:sp>
      <p:sp>
        <p:nvSpPr>
          <p:cNvPr id="6" name="Text 4"/>
          <p:cNvSpPr/>
          <p:nvPr/>
        </p:nvSpPr>
        <p:spPr>
          <a:xfrm>
            <a:off x="777240" y="1828800"/>
            <a:ext cx="4572000" cy="320040"/>
          </a:xfrm>
          <a:prstGeom prst="rect">
            <a:avLst/>
          </a:prstGeom>
          <a:noFill/>
          <a:ln/>
        </p:spPr>
        <p:txBody>
          <a:bodyPr wrap="square" lIns="0" tIns="0" rIns="0" bIns="0" rtlCol="0" anchor="ctr"/>
          <a:lstStyle/>
          <a:p>
            <a:pPr indent="0" marL="0">
              <a:buNone/>
            </a:pPr>
            <a:r>
              <a:rPr lang="en-US" sz="1400" b="1" dirty="0">
                <a:solidFill>
                  <a:srgbClr val="7FD3A6"/>
                </a:solidFill>
                <a:latin typeface="Calibri" pitchFamily="34" charset="0"/>
                <a:ea typeface="Calibri" pitchFamily="34" charset="-122"/>
                <a:cs typeface="Calibri" pitchFamily="34" charset="-120"/>
              </a:rPr>
              <a:t>Statut</a:t>
            </a:r>
            <a:endParaRPr lang="en-US" sz="1400" dirty="0"/>
          </a:p>
        </p:txBody>
      </p:sp>
      <p:sp>
        <p:nvSpPr>
          <p:cNvPr id="7" name="Text 5"/>
          <p:cNvSpPr/>
          <p:nvPr/>
        </p:nvSpPr>
        <p:spPr>
          <a:xfrm>
            <a:off x="777240" y="2176272"/>
            <a:ext cx="5120640" cy="1371600"/>
          </a:xfrm>
          <a:prstGeom prst="rect">
            <a:avLst/>
          </a:prstGeom>
          <a:noFill/>
          <a:ln/>
        </p:spPr>
        <p:txBody>
          <a:bodyPr wrap="square" lIns="0" tIns="0" rIns="0" bIns="0" rtlCol="0" anchor="ctr"/>
          <a:lstStyle/>
          <a:p>
            <a:pPr indent="0" marL="0">
              <a:buNone/>
            </a:pPr>
            <a:r>
              <a:rPr lang="en-US" sz="1400" dirty="0">
                <a:solidFill>
                  <a:srgbClr val="E6F3EC"/>
                </a:solidFill>
                <a:latin typeface="Calibri" pitchFamily="34" charset="0"/>
                <a:ea typeface="Calibri" pitchFamily="34" charset="-122"/>
                <a:cs typeface="Calibri" pitchFamily="34" charset="-120"/>
              </a:rPr>
              <a:t>MVP en cours de développement : calculateur, défis personnalisés, authentification, tableau de bord et mode clair/sombre opérationnels.</a:t>
            </a:r>
            <a:endParaRPr lang="en-US" sz="1400" dirty="0"/>
          </a:p>
        </p:txBody>
      </p:sp>
      <p:sp>
        <p:nvSpPr>
          <p:cNvPr id="8" name="Text 6"/>
          <p:cNvSpPr/>
          <p:nvPr/>
        </p:nvSpPr>
        <p:spPr>
          <a:xfrm>
            <a:off x="777240" y="3611880"/>
            <a:ext cx="4572000" cy="320040"/>
          </a:xfrm>
          <a:prstGeom prst="rect">
            <a:avLst/>
          </a:prstGeom>
          <a:noFill/>
          <a:ln/>
        </p:spPr>
        <p:txBody>
          <a:bodyPr wrap="square" lIns="0" tIns="0" rIns="0" bIns="0" rtlCol="0" anchor="ctr"/>
          <a:lstStyle/>
          <a:p>
            <a:pPr indent="0" marL="0">
              <a:buNone/>
            </a:pPr>
            <a:r>
              <a:rPr lang="en-US" sz="1400" b="1" dirty="0">
                <a:solidFill>
                  <a:srgbClr val="7FD3A6"/>
                </a:solidFill>
                <a:latin typeface="Calibri" pitchFamily="34" charset="0"/>
                <a:ea typeface="Calibri" pitchFamily="34" charset="-122"/>
                <a:cs typeface="Calibri" pitchFamily="34" charset="-120"/>
              </a:rPr>
              <a:t>Prochaines étapes</a:t>
            </a:r>
            <a:endParaRPr lang="en-US" sz="1400" dirty="0"/>
          </a:p>
        </p:txBody>
      </p:sp>
      <p:pic>
        <p:nvPicPr>
          <p:cNvPr id="9" name="Image 0" descr="img/leaf_white.png">    </p:cNvPr>
          <p:cNvPicPr>
            <a:picLocks noChangeAspect="1"/>
          </p:cNvPicPr>
          <p:nvPr/>
        </p:nvPicPr>
        <p:blipFill>
          <a:blip r:embed="rId1"/>
          <a:stretch>
            <a:fillRect/>
          </a:stretch>
        </p:blipFill>
        <p:spPr>
          <a:xfrm>
            <a:off x="822960" y="4005072"/>
            <a:ext cx="201168" cy="201168"/>
          </a:xfrm>
          <a:prstGeom prst="rect">
            <a:avLst/>
          </a:prstGeom>
        </p:spPr>
      </p:pic>
      <p:sp>
        <p:nvSpPr>
          <p:cNvPr id="10" name="Text 7"/>
          <p:cNvSpPr/>
          <p:nvPr/>
        </p:nvSpPr>
        <p:spPr>
          <a:xfrm>
            <a:off x="1143000" y="3922776"/>
            <a:ext cx="4846320" cy="4114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Badges &amp; classements</a:t>
            </a:r>
            <a:endParaRPr lang="en-US" sz="1300" dirty="0"/>
          </a:p>
        </p:txBody>
      </p:sp>
      <p:pic>
        <p:nvPicPr>
          <p:cNvPr id="11" name="Image 1" descr="img/leaf_white.png">    </p:cNvPr>
          <p:cNvPicPr>
            <a:picLocks noChangeAspect="1"/>
          </p:cNvPicPr>
          <p:nvPr/>
        </p:nvPicPr>
        <p:blipFill>
          <a:blip r:embed="rId2"/>
          <a:stretch>
            <a:fillRect/>
          </a:stretch>
        </p:blipFill>
        <p:spPr>
          <a:xfrm>
            <a:off x="822960" y="4462272"/>
            <a:ext cx="201168" cy="201168"/>
          </a:xfrm>
          <a:prstGeom prst="rect">
            <a:avLst/>
          </a:prstGeom>
        </p:spPr>
      </p:pic>
      <p:sp>
        <p:nvSpPr>
          <p:cNvPr id="12" name="Text 8"/>
          <p:cNvSpPr/>
          <p:nvPr/>
        </p:nvSpPr>
        <p:spPr>
          <a:xfrm>
            <a:off x="1143000" y="4379976"/>
            <a:ext cx="4846320" cy="4114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Historique &amp; courbes d'évolution</a:t>
            </a:r>
            <a:endParaRPr lang="en-US" sz="1300" dirty="0"/>
          </a:p>
        </p:txBody>
      </p:sp>
      <p:pic>
        <p:nvPicPr>
          <p:cNvPr id="13" name="Image 2" descr="img/leaf_white.png">    </p:cNvPr>
          <p:cNvPicPr>
            <a:picLocks noChangeAspect="1"/>
          </p:cNvPicPr>
          <p:nvPr/>
        </p:nvPicPr>
        <p:blipFill>
          <a:blip r:embed="rId3"/>
          <a:stretch>
            <a:fillRect/>
          </a:stretch>
        </p:blipFill>
        <p:spPr>
          <a:xfrm>
            <a:off x="822960" y="4919472"/>
            <a:ext cx="201168" cy="201168"/>
          </a:xfrm>
          <a:prstGeom prst="rect">
            <a:avLst/>
          </a:prstGeom>
        </p:spPr>
      </p:pic>
      <p:sp>
        <p:nvSpPr>
          <p:cNvPr id="14" name="Text 9"/>
          <p:cNvSpPr/>
          <p:nvPr/>
        </p:nvSpPr>
        <p:spPr>
          <a:xfrm>
            <a:off x="1143000" y="4837176"/>
            <a:ext cx="4846320" cy="4114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Espace entreprise / RSE</a:t>
            </a:r>
            <a:endParaRPr lang="en-US" sz="1300" dirty="0"/>
          </a:p>
        </p:txBody>
      </p:sp>
      <p:pic>
        <p:nvPicPr>
          <p:cNvPr id="15" name="Image 3" descr="img/leaf_white.png">    </p:cNvPr>
          <p:cNvPicPr>
            <a:picLocks noChangeAspect="1"/>
          </p:cNvPicPr>
          <p:nvPr/>
        </p:nvPicPr>
        <p:blipFill>
          <a:blip r:embed="rId4"/>
          <a:stretch>
            <a:fillRect/>
          </a:stretch>
        </p:blipFill>
        <p:spPr>
          <a:xfrm>
            <a:off x="822960" y="5376672"/>
            <a:ext cx="201168" cy="201168"/>
          </a:xfrm>
          <a:prstGeom prst="rect">
            <a:avLst/>
          </a:prstGeom>
        </p:spPr>
      </p:pic>
      <p:sp>
        <p:nvSpPr>
          <p:cNvPr id="16" name="Text 10"/>
          <p:cNvSpPr/>
          <p:nvPr/>
        </p:nvSpPr>
        <p:spPr>
          <a:xfrm>
            <a:off x="1143000" y="5294376"/>
            <a:ext cx="4846320" cy="4114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Application mobile native</a:t>
            </a:r>
            <a:endParaRPr lang="en-US" sz="1300" dirty="0"/>
          </a:p>
        </p:txBody>
      </p:sp>
      <p:sp>
        <p:nvSpPr>
          <p:cNvPr id="17" name="Shape 11"/>
          <p:cNvSpPr/>
          <p:nvPr/>
        </p:nvSpPr>
        <p:spPr>
          <a:xfrm>
            <a:off x="6492240" y="1828800"/>
            <a:ext cx="4937760" cy="2148840"/>
          </a:xfrm>
          <a:prstGeom prst="roundRect">
            <a:avLst>
              <a:gd name="adj" fmla="val 5957"/>
            </a:avLst>
          </a:prstGeom>
          <a:solidFill>
            <a:srgbClr val="0A4F34"/>
          </a:solidFill>
          <a:ln/>
        </p:spPr>
      </p:sp>
      <p:sp>
        <p:nvSpPr>
          <p:cNvPr id="18" name="Text 12"/>
          <p:cNvSpPr/>
          <p:nvPr/>
        </p:nvSpPr>
        <p:spPr>
          <a:xfrm>
            <a:off x="6720840" y="2148840"/>
            <a:ext cx="4572000" cy="822960"/>
          </a:xfrm>
          <a:prstGeom prst="rect">
            <a:avLst/>
          </a:prstGeom>
          <a:noFill/>
          <a:ln/>
        </p:spPr>
        <p:txBody>
          <a:bodyPr wrap="square" lIns="0" tIns="0" rIns="0" bIns="0" rtlCol="0" anchor="ctr"/>
          <a:lstStyle/>
          <a:p>
            <a:pPr indent="0" marL="0">
              <a:buNone/>
            </a:pPr>
            <a:r>
              <a:rPr lang="en-US" sz="2300" b="1" i="1" dirty="0">
                <a:solidFill>
                  <a:srgbClr val="7FD3A6"/>
                </a:solidFill>
                <a:latin typeface="Calibri" pitchFamily="34" charset="0"/>
                <a:ea typeface="Calibri" pitchFamily="34" charset="-122"/>
                <a:cs typeface="Calibri" pitchFamily="34" charset="-120"/>
              </a:rPr>
              <a:t>Mesurez.  Comprenez.  Réduisez.</a:t>
            </a:r>
            <a:endParaRPr lang="en-US" sz="2300" dirty="0"/>
          </a:p>
        </p:txBody>
      </p:sp>
      <p:sp>
        <p:nvSpPr>
          <p:cNvPr id="19" name="Text 13"/>
          <p:cNvSpPr/>
          <p:nvPr/>
        </p:nvSpPr>
        <p:spPr>
          <a:xfrm>
            <a:off x="6720840" y="3017520"/>
            <a:ext cx="4480560" cy="822960"/>
          </a:xfrm>
          <a:prstGeom prst="rect">
            <a:avLst/>
          </a:prstGeom>
          <a:noFill/>
          <a:ln/>
        </p:spPr>
        <p:txBody>
          <a:bodyPr wrap="square" lIns="0" tIns="0" rIns="0" bIns="0" rtlCol="0" anchor="ctr"/>
          <a:lstStyle/>
          <a:p>
            <a:pPr indent="0" marL="0">
              <a:buNone/>
            </a:pPr>
            <a:r>
              <a:rPr lang="en-US" sz="1350" dirty="0">
                <a:solidFill>
                  <a:srgbClr val="E6F3EC"/>
                </a:solidFill>
                <a:latin typeface="Calibri" pitchFamily="34" charset="0"/>
                <a:ea typeface="Calibri" pitchFamily="34" charset="-122"/>
                <a:cs typeface="Calibri" pitchFamily="34" charset="-120"/>
              </a:rPr>
              <a:t>Transformer de bonnes intentions en habitudes durables, un défi à la fois.</a:t>
            </a:r>
            <a:endParaRPr lang="en-US" sz="1350" dirty="0"/>
          </a:p>
        </p:txBody>
      </p:sp>
      <p:pic>
        <p:nvPicPr>
          <p:cNvPr id="20" name="Image 4" descr="img/logo_white.png">    </p:cNvPr>
          <p:cNvPicPr>
            <a:picLocks noChangeAspect="1"/>
          </p:cNvPicPr>
          <p:nvPr/>
        </p:nvPicPr>
        <p:blipFill>
          <a:blip r:embed="rId5"/>
          <a:stretch>
            <a:fillRect/>
          </a:stretch>
        </p:blipFill>
        <p:spPr>
          <a:xfrm>
            <a:off x="6720840" y="4343400"/>
            <a:ext cx="640080" cy="640080"/>
          </a:xfrm>
          <a:prstGeom prst="rect">
            <a:avLst/>
          </a:prstGeom>
        </p:spPr>
      </p:pic>
      <p:sp>
        <p:nvSpPr>
          <p:cNvPr id="21" name="Text 14"/>
          <p:cNvSpPr/>
          <p:nvPr/>
        </p:nvSpPr>
        <p:spPr>
          <a:xfrm>
            <a:off x="7498080" y="4297680"/>
            <a:ext cx="4023360" cy="457200"/>
          </a:xfrm>
          <a:prstGeom prst="rect">
            <a:avLst/>
          </a:prstGeom>
          <a:noFill/>
          <a:ln/>
        </p:spPr>
        <p:txBody>
          <a:bodyPr wrap="square" lIns="0" tIns="0" rIns="0" bIns="0" rtlCol="0" anchor="ctr"/>
          <a:lstStyle/>
          <a:p>
            <a:pPr indent="0" marL="0">
              <a:buNone/>
            </a:pPr>
            <a:r>
              <a:rPr lang="en-US" sz="2100" b="1" dirty="0">
                <a:solidFill>
                  <a:srgbClr val="FFFFFF"/>
                </a:solidFill>
                <a:latin typeface="Calibri" pitchFamily="34" charset="0"/>
                <a:ea typeface="Calibri" pitchFamily="34" charset="-122"/>
                <a:cs typeface="Calibri" pitchFamily="34" charset="-120"/>
              </a:rPr>
              <a:t>Merci de votre attention</a:t>
            </a:r>
            <a:endParaRPr lang="en-US" sz="2100" dirty="0"/>
          </a:p>
        </p:txBody>
      </p:sp>
      <p:sp>
        <p:nvSpPr>
          <p:cNvPr id="22" name="Text 15"/>
          <p:cNvSpPr/>
          <p:nvPr/>
        </p:nvSpPr>
        <p:spPr>
          <a:xfrm>
            <a:off x="7498080" y="4800600"/>
            <a:ext cx="4023360" cy="365760"/>
          </a:xfrm>
          <a:prstGeom prst="rect">
            <a:avLst/>
          </a:prstGeom>
          <a:noFill/>
          <a:ln/>
        </p:spPr>
        <p:txBody>
          <a:bodyPr wrap="square" lIns="0" tIns="0" rIns="0" bIns="0" rtlCol="0" anchor="ctr"/>
          <a:lstStyle/>
          <a:p>
            <a:pPr indent="0" marL="0">
              <a:buNone/>
            </a:pPr>
            <a:r>
              <a:rPr lang="en-US" sz="1500" i="1" dirty="0">
                <a:solidFill>
                  <a:srgbClr val="BFE0CF"/>
                </a:solidFill>
                <a:latin typeface="Calibri" pitchFamily="34" charset="0"/>
                <a:ea typeface="Calibri" pitchFamily="34" charset="-122"/>
                <a:cs typeface="Calibri" pitchFamily="34" charset="-120"/>
              </a:rPr>
              <a:t>Des questions ?</a:t>
            </a:r>
            <a:endParaRPr lang="en-US" sz="1500" dirty="0"/>
          </a:p>
        </p:txBody>
      </p:sp>
      <p:sp>
        <p:nvSpPr>
          <p:cNvPr id="23" name="Text 16"/>
          <p:cNvSpPr/>
          <p:nvPr/>
        </p:nvSpPr>
        <p:spPr>
          <a:xfrm>
            <a:off x="777240" y="6126480"/>
            <a:ext cx="10607040" cy="365760"/>
          </a:xfrm>
          <a:prstGeom prst="rect">
            <a:avLst/>
          </a:prstGeom>
          <a:noFill/>
          <a:ln/>
        </p:spPr>
        <p:txBody>
          <a:bodyPr wrap="square" lIns="0" tIns="0" rIns="0" bIns="0" rtlCol="0" anchor="ctr"/>
          <a:lstStyle/>
          <a:p>
            <a:pPr indent="0" marL="0">
              <a:buNone/>
            </a:pPr>
            <a:r>
              <a:rPr lang="en-US" sz="1200" dirty="0">
                <a:solidFill>
                  <a:srgbClr val="6FA98C"/>
                </a:solidFill>
                <a:latin typeface="Calibri" pitchFamily="34" charset="0"/>
                <a:ea typeface="Calibri" pitchFamily="34" charset="-122"/>
                <a:cs typeface="Calibri" pitchFamily="34" charset="-120"/>
              </a:rPr>
              <a:t>Équipe EcoTrack  ·  Mathieu · Noah · Luca · Nael  —  Projet fil rouge 2025-2026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EcoTrack - Presentation de projet</dc:title>
  <dc:subject>PptxGenJS Presentation</dc:subject>
  <dc:creator>Équipe EcoTrack</dc:creator>
  <cp:lastModifiedBy>Équipe EcoTrack</cp:lastModifiedBy>
  <cp:revision>1</cp:revision>
  <dcterms:created xsi:type="dcterms:W3CDTF">2026-06-25T07:45:42Z</dcterms:created>
  <dcterms:modified xsi:type="dcterms:W3CDTF">2026-06-25T07:45:42Z</dcterms:modified>
</cp:coreProperties>
</file>